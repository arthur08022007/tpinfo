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4" r:id="rId14"/>
    <p:sldId id="268" r:id="rId15"/>
    <p:sldId id="269" r:id="rId16"/>
    <p:sldId id="270" r:id="rId17"/>
    <p:sldId id="271" r:id="rId18"/>
    <p:sldId id="272" r:id="rId19"/>
    <p:sldId id="283" r:id="rId20"/>
    <p:sldId id="273" r:id="rId21"/>
    <p:sldId id="274" r:id="rId22"/>
    <p:sldId id="276" r:id="rId23"/>
    <p:sldId id="281" r:id="rId24"/>
    <p:sldId id="277" r:id="rId25"/>
    <p:sldId id="279" r:id="rId26"/>
    <p:sldId id="282" r:id="rId27"/>
    <p:sldId id="278"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6" d="100"/>
          <a:sy n="76" d="100"/>
        </p:scale>
        <p:origin x="917" y="10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5294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Accueil. Aujourd'hui : un rappel pour compiler sous Windows, puis trois exercices, dans l'ordre 5, 8, 7.</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Annoncer l'ordre tout de suite : 5, puis 8, puis 7. Le 7 est le plus délicat, on le garde pour la fin. Le rappel est court : on ne réinstalle rien.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GCC est déjà installé. On ne refait pas pacman. On revoit seulement : le bon terminal, le bon dossier, la commande de compilation, le lancement.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Faire la manipulation au </a:t>
            </a:r>
            <a:r>
              <a:rPr dirty="0" err="1"/>
              <a:t>projecteur</a:t>
            </a:r>
            <a:r>
              <a:rPr dirty="0"/>
              <a:t> : menu </a:t>
            </a:r>
            <a:r>
              <a:rPr dirty="0" err="1"/>
              <a:t>Démarrer</a:t>
            </a:r>
            <a:r>
              <a:rPr dirty="0"/>
              <a:t>, MSYS2 UCRT64, </a:t>
            </a:r>
            <a:r>
              <a:rPr dirty="0" err="1"/>
              <a:t>gcc</a:t>
            </a:r>
            <a:r>
              <a:rPr dirty="0"/>
              <a:t> --version. Si un </a:t>
            </a:r>
            <a:r>
              <a:rPr dirty="0" err="1"/>
              <a:t>étudiant</a:t>
            </a:r>
            <a:r>
              <a:rPr dirty="0"/>
              <a:t> est sur </a:t>
            </a:r>
            <a:r>
              <a:rPr dirty="0" err="1"/>
              <a:t>cmd</a:t>
            </a:r>
            <a:r>
              <a:rPr dirty="0"/>
              <a:t>, </a:t>
            </a:r>
            <a:r>
              <a:rPr dirty="0" err="1"/>
              <a:t>gcc</a:t>
            </a:r>
            <a:r>
              <a:rPr dirty="0"/>
              <a:t> </a:t>
            </a:r>
            <a:r>
              <a:rPr dirty="0" err="1"/>
              <a:t>n'est</a:t>
            </a:r>
            <a:r>
              <a:rPr dirty="0"/>
              <a:t> </a:t>
            </a:r>
            <a:r>
              <a:rPr dirty="0" err="1"/>
              <a:t>en</a:t>
            </a:r>
            <a:r>
              <a:rPr dirty="0"/>
              <a:t> </a:t>
            </a:r>
            <a:r>
              <a:rPr dirty="0" err="1"/>
              <a:t>général</a:t>
            </a:r>
            <a:r>
              <a:rPr dirty="0"/>
              <a:t> pas dans le PATH, </a:t>
            </a:r>
            <a:r>
              <a:rPr dirty="0" err="1"/>
              <a:t>même</a:t>
            </a:r>
            <a:r>
              <a:rPr dirty="0"/>
              <a:t> </a:t>
            </a:r>
            <a:r>
              <a:rPr dirty="0" err="1"/>
              <a:t>installé</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Montrer cd, ls, pwd une fois. Le piège Windows : le chemin collé depuis l'explorateur. C:\Users\... devient cd /c/Users/... Les antislashs ne passent pas. S'ils sont perdus : clic droit dans l'explorateur, copier le chemin, transformer, coller après cd.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Compiler un petit fichier devant eux, avec une erreur volontaire puis la correction, pour montrer que le message de gcc se lit de haut en bas et donne le numéro de ligne. Insister : on garde -Wall -Wextra, ce n'est pas optionnel.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Laisser cette commande au tableau le temps que tout le monde lance un premier programme, même vide. Vérifier que chacun voit gcc --version et arrive à produire un exécutable avant de commencer Fibonacci.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Leur laisser sortir l'énoncé. On construit l'algorithme ensemble avant d'ouvrir l'éditeur.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Fixer la convention tout de suite : on commence à 1, pas à 0. F1 = 1, F2 = 1, pas F0 = 0. Quelques termes au tableau : 1, 1, 2, 3, 5, 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Faire le geste du décalage au tableau avec n = 6 : (1,1) → 2, (1,2) → 3, (2,3) → 5, (3,5) → 8. C'est tout l'exercice. Ensuite seulement on écrit les cas n = 1 et n = 2, parce que F3 n'existe pas encore.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faire coder après ce slide. Piège : si on affiche F3 pour n = 1 sans le cas particulier, la variable n'a jamais reçu de valeur. L'ordre du décalage compte : d'abord F1 = F2, ensuite F2 = F3. L'inverse écrase F2 trop tôt.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F93 = 12 200 160 415 121 876 738, dernier qui tient dans un unsigned long long (jusqu'à 2^64 − 1). F94 déborde. Si quelqu'un utilise int, lui faire calculer F47 : ça ne tient déjà plus. scanf("%u", &amp;n) et pas %d, puisque n est unsigned.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change d'exercice. Même schéma : énoncé, idée, algorithme, un exemple chiffré, puis ils codent.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format de sortie est celui qu'on corrigera : 2^2 3^1, avec un espace, sans signe ×. 7 s'écrit 7^1, pas seulement 7. 360 = 8×9×5 = 2^3 3^2 5^1, à garder sous le coude si le 12 est trop vite vu.</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Exemple oral : on ne tombera pas sur 6 comme diviseur de 12. Le temps d'arriver à 6, les 2 ont déjà été extraits et il reste 3. On ne tombe pas non plus sur 4 : même raison. Le code peut quand même tester 4, 6, 8, 9… le test échoue, on passe. Inutile d'écrire un test de primalité.</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Bien séparer les deux affichages : un dans le sinon, quand on change de diviseur, et un après la boucle, pour le dernier. Leur faire prévoir le cas « compteur vaut 0 » dans le sinon : on saute des d qui ne divisent pas, il ne faut rien afficher. Exemple : de 2 à 7 pour le nombre 7.</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Dérouler lentement. Au tour où n = 3 et d = 2, on n'affiche pas encore : on constate que 2 ne divise plus, on écrit ce qui a été accumulé, on passe à 3. Le 3 n'est écrit qu'après la boucle. Leur demander ensuite ce que donne 8 : 2^3, un seul affichage, celui d'après la boucle.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Dernier exercice, le plus fin. Deux idées : la récurrence qui évite n!, et l'ordre multiplier puis diviser à cause de la division entière.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Rappel oral très court de ce que compte C(n, m) : le nombre de façons de choisir m éléments parmi n. Puis la formule. Ne pas les laisser partir sur trois factorielles.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 = 0 quand m = 0 ou m = n. Ne pas écrire une boucle « tant que » qui divise par i = 0. unsigned int pour n, m, k. unsigned long long pour coeff. Si m &gt; n et que n et m sont unsigned, n - m ne devient pas négatif : la valeur boucle. D'où le « on suppose m ≤ n », ou un test qui affiche 0.</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F65FD-94AF-3644-DB1F-73444F55A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0C56C-3895-91FC-8182-6866C0C756D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8397DC8-D999-35CC-380B-B2BBB0DD5B7B}"/>
              </a:ext>
            </a:extLst>
          </p:cNvPr>
          <p:cNvSpPr>
            <a:spLocks noGrp="1"/>
          </p:cNvSpPr>
          <p:nvPr>
            <p:ph type="body" sz="quarter" idx="3"/>
          </p:nvPr>
        </p:nvSpPr>
        <p:spPr/>
        <p:txBody>
          <a:bodyPr/>
          <a:lstStyle/>
          <a:p>
            <a:r>
              <a:t>k = 0 quand m = 0 ou m = n. Ne pas écrire une boucle « tant que » qui divise par i = 0. unsigned int pour n, m, k. unsigned long long pour coeff. Si m &gt; n et que n et m sont unsigned, n - m ne devient pas négatif : la valeur boucle. D'où le « on suppose m ≤ n », ou un test qui affiche 0.</a:t>
            </a:r>
          </a:p>
        </p:txBody>
      </p:sp>
      <p:sp>
        <p:nvSpPr>
          <p:cNvPr id="4" name="Slide Number Placeholder 3">
            <a:extLst>
              <a:ext uri="{FF2B5EF4-FFF2-40B4-BE49-F238E27FC236}">
                <a16:creationId xmlns:a16="http://schemas.microsoft.com/office/drawing/2014/main" id="{C72130D0-3FC7-5BC8-A2EB-4AF3AB25AA48}"/>
              </a:ext>
            </a:extLst>
          </p:cNvPr>
          <p:cNvSpPr>
            <a:spLocks noGrp="1"/>
          </p:cNvSpPr>
          <p:nvPr>
            <p:ph type="sldNum" sz="quarter" idx="5"/>
          </p:nvPr>
        </p:nvSpPr>
        <p:spPr/>
      </p:sp>
    </p:spTree>
    <p:extLst>
      <p:ext uri="{BB962C8B-B14F-4D97-AF65-F5344CB8AC3E}">
        <p14:creationId xmlns:p14="http://schemas.microsoft.com/office/powerpoint/2010/main" val="19471555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bug du jour. *= puis /= sur deux lignes, comme dans la correction. La forme coeff = coeff * (n - k + i) / i est correcte aussi, parce que * et / s'évaluent de gauche à droite. Ce qui est faux, c'est de ranger la division dans le *= . coeff est un unsigned long long, sinon C(30, 15) ne tient pas dans un int. printf : C(%u, %u) = %llu, et on imprime m, pas 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de secours pendant qu'ils codent. L'algorithme de l'exercice en cours reste le slide à laisser affiché ; celui-ci sert quand quelqu'un est bloqué sur la compilation.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863840" y="-1645920"/>
            <a:ext cx="6583680" cy="6583680"/>
          </a:xfrm>
          <a:prstGeom prst="ellipse">
            <a:avLst/>
          </a:prstGeom>
          <a:solidFill>
            <a:srgbClr val="0E45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011680" y="4206240"/>
            <a:ext cx="4114800" cy="4114800"/>
          </a:xfrm>
          <a:prstGeom prst="ellipse">
            <a:avLst/>
          </a:prstGeom>
          <a:solidFill>
            <a:srgbClr val="0A34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331720"/>
            <a:ext cx="10515600" cy="914400"/>
          </a:xfrm>
          <a:prstGeom prst="rect">
            <a:avLst/>
          </a:prstGeom>
          <a:noFill/>
        </p:spPr>
        <p:txBody>
          <a:bodyPr wrap="square"/>
          <a:lstStyle/>
          <a:p>
            <a:pPr algn="ctr">
              <a:lnSpc>
                <a:spcPct val="105000"/>
              </a:lnSpc>
              <a:spcBef>
                <a:spcPts val="0"/>
              </a:spcBef>
              <a:spcAft>
                <a:spcPts val="600"/>
              </a:spcAft>
            </a:pPr>
            <a:r>
              <a:rPr lang="fr-FR" sz="4800" b="0" i="0" dirty="0">
                <a:solidFill>
                  <a:srgbClr val="FFFFFF"/>
                </a:solidFill>
                <a:latin typeface="Calibri"/>
              </a:rPr>
              <a:t>INFO200</a:t>
            </a:r>
            <a:r>
              <a:rPr lang="fr-FR" sz="4800" dirty="0">
                <a:solidFill>
                  <a:srgbClr val="FFFFFF"/>
                </a:solidFill>
                <a:latin typeface="Calibri"/>
              </a:rPr>
              <a:t>9</a:t>
            </a:r>
            <a:r>
              <a:rPr lang="fr-FR" sz="4800" b="0" i="0" dirty="0">
                <a:solidFill>
                  <a:srgbClr val="FFFFFF"/>
                </a:solidFill>
                <a:latin typeface="Calibri"/>
              </a:rPr>
              <a:t>-TP3</a:t>
            </a:r>
          </a:p>
        </p:txBody>
      </p:sp>
      <p:sp>
        <p:nvSpPr>
          <p:cNvPr id="6" name="TextBox 5"/>
          <p:cNvSpPr txBox="1"/>
          <p:nvPr/>
        </p:nvSpPr>
        <p:spPr>
          <a:xfrm>
            <a:off x="731520" y="3794760"/>
            <a:ext cx="10515600" cy="457200"/>
          </a:xfrm>
          <a:prstGeom prst="rect">
            <a:avLst/>
          </a:prstGeom>
          <a:noFill/>
        </p:spPr>
        <p:txBody>
          <a:bodyPr wrap="square"/>
          <a:lstStyle/>
          <a:p>
            <a:pPr algn="ctr">
              <a:lnSpc>
                <a:spcPct val="105000"/>
              </a:lnSpc>
              <a:spcBef>
                <a:spcPts val="0"/>
              </a:spcBef>
              <a:spcAft>
                <a:spcPts val="0"/>
              </a:spcAft>
            </a:pPr>
            <a:r>
              <a:rPr lang="fr-FR" sz="2000" b="0" i="0">
                <a:solidFill>
                  <a:srgbClr val="C5D8E0"/>
                </a:solidFill>
                <a:latin typeface="Calibri"/>
              </a:rPr>
              <a:t>13-10-2026</a:t>
            </a:r>
          </a:p>
        </p:txBody>
      </p:sp>
      <p:sp>
        <p:nvSpPr>
          <p:cNvPr id="7" name="TextBox 6"/>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C5D5DC"/>
                </a:solidFill>
                <a:latin typeface="Calibri"/>
              </a:rPr>
              <a:t>1  /  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Programme</a:t>
            </a:r>
          </a:p>
        </p:txBody>
      </p:sp>
      <p:sp>
        <p:nvSpPr>
          <p:cNvPr id="5" name="Rounded Rectangle 4"/>
          <p:cNvSpPr/>
          <p:nvPr/>
        </p:nvSpPr>
        <p:spPr>
          <a:xfrm>
            <a:off x="502920" y="1463040"/>
            <a:ext cx="11183112" cy="1143000"/>
          </a:xfrm>
          <a:prstGeom prst="roundRect">
            <a:avLst>
              <a:gd name="adj" fmla="val 8000"/>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572768"/>
            <a:ext cx="10607040" cy="914400"/>
          </a:xfrm>
          <a:prstGeom prst="rect">
            <a:avLst/>
          </a:prstGeom>
          <a:noFill/>
        </p:spPr>
        <p:txBody>
          <a:bodyPr wrap="square"/>
          <a:lstStyle/>
          <a:p>
            <a:pPr algn="l">
              <a:lnSpc>
                <a:spcPct val="105000"/>
              </a:lnSpc>
              <a:spcBef>
                <a:spcPts val="0"/>
              </a:spcBef>
              <a:spcAft>
                <a:spcPts val="200"/>
              </a:spcAft>
            </a:pPr>
            <a:r>
              <a:rPr lang="fr-FR" sz="1400" b="1" i="0">
                <a:solidFill>
                  <a:srgbClr val="9FC8D6"/>
                </a:solidFill>
                <a:latin typeface="Calibri"/>
              </a:rPr>
              <a:t>Rappel</a:t>
            </a:r>
          </a:p>
          <a:p>
            <a:pPr algn="l">
              <a:lnSpc>
                <a:spcPct val="105000"/>
              </a:lnSpc>
              <a:spcBef>
                <a:spcPts val="0"/>
              </a:spcBef>
              <a:spcAft>
                <a:spcPts val="0"/>
              </a:spcAft>
            </a:pPr>
            <a:r>
              <a:rPr lang="fr-FR" sz="2600" b="0" i="0">
                <a:solidFill>
                  <a:srgbClr val="FFFFFF"/>
                </a:solidFill>
                <a:latin typeface="Calibri"/>
              </a:rPr>
              <a:t>Compiler et exécuter un programme</a:t>
            </a:r>
          </a:p>
          <a:p>
            <a:pPr algn="l">
              <a:lnSpc>
                <a:spcPct val="105000"/>
              </a:lnSpc>
              <a:spcBef>
                <a:spcPts val="200"/>
              </a:spcBef>
              <a:spcAft>
                <a:spcPts val="0"/>
              </a:spcAft>
            </a:pPr>
            <a:r>
              <a:rPr lang="fr-FR" sz="1600" b="0" i="0">
                <a:solidFill>
                  <a:srgbClr val="C5D8E0"/>
                </a:solidFill>
                <a:latin typeface="Calibri"/>
              </a:rPr>
              <a:t>MSYS2 UCRT64  ·  GCC est déjà installé</a:t>
            </a:r>
          </a:p>
        </p:txBody>
      </p:sp>
      <p:sp>
        <p:nvSpPr>
          <p:cNvPr id="7" name="Rounded Rectangle 6"/>
          <p:cNvSpPr/>
          <p:nvPr/>
        </p:nvSpPr>
        <p:spPr>
          <a:xfrm>
            <a:off x="502920" y="2816352"/>
            <a:ext cx="11183112" cy="1078992"/>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13232" y="3035808"/>
            <a:ext cx="658368" cy="640080"/>
          </a:xfrm>
          <a:prstGeom prst="roundRect">
            <a:avLst>
              <a:gd name="adj" fmla="val 20000"/>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fr-FR" sz="2600" b="1" i="0">
                <a:solidFill>
                  <a:srgbClr val="FFFFFF"/>
                </a:solidFill>
                <a:latin typeface="Calibri"/>
              </a:rPr>
              <a:t>5</a:t>
            </a:r>
          </a:p>
        </p:txBody>
      </p:sp>
      <p:sp>
        <p:nvSpPr>
          <p:cNvPr id="9" name="TextBox 8"/>
          <p:cNvSpPr txBox="1"/>
          <p:nvPr/>
        </p:nvSpPr>
        <p:spPr>
          <a:xfrm>
            <a:off x="1600200" y="2962656"/>
            <a:ext cx="9601200" cy="822960"/>
          </a:xfrm>
          <a:prstGeom prst="rect">
            <a:avLst/>
          </a:prstGeom>
          <a:noFill/>
        </p:spPr>
        <p:txBody>
          <a:bodyPr wrap="square"/>
          <a:lstStyle/>
          <a:p>
            <a:pPr algn="l">
              <a:lnSpc>
                <a:spcPct val="105000"/>
              </a:lnSpc>
              <a:spcBef>
                <a:spcPts val="0"/>
              </a:spcBef>
              <a:spcAft>
                <a:spcPts val="0"/>
              </a:spcAft>
            </a:pPr>
            <a:r>
              <a:rPr lang="fr-FR" sz="2400" b="0" i="0">
                <a:solidFill>
                  <a:srgbClr val="1C2830"/>
                </a:solidFill>
                <a:latin typeface="Calibri"/>
              </a:rPr>
              <a:t>Suite de Fibonacci</a:t>
            </a:r>
          </a:p>
          <a:p>
            <a:pPr algn="l">
              <a:lnSpc>
                <a:spcPct val="105000"/>
              </a:lnSpc>
              <a:spcBef>
                <a:spcPts val="200"/>
              </a:spcBef>
              <a:spcAft>
                <a:spcPts val="0"/>
              </a:spcAft>
            </a:pPr>
            <a:r>
              <a:rPr lang="fr-FR" sz="1600" b="0" i="0">
                <a:solidFill>
                  <a:srgbClr val="4E6470"/>
                </a:solidFill>
                <a:latin typeface="Calibri"/>
              </a:rPr>
              <a:t>Le terme d'indice n</a:t>
            </a:r>
          </a:p>
        </p:txBody>
      </p:sp>
      <p:sp>
        <p:nvSpPr>
          <p:cNvPr id="10" name="Rounded Rectangle 9"/>
          <p:cNvSpPr/>
          <p:nvPr/>
        </p:nvSpPr>
        <p:spPr>
          <a:xfrm>
            <a:off x="502920" y="4005072"/>
            <a:ext cx="11183112" cy="1078992"/>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13232" y="4224528"/>
            <a:ext cx="658368" cy="640080"/>
          </a:xfrm>
          <a:prstGeom prst="roundRect">
            <a:avLst>
              <a:gd name="adj" fmla="val 20000"/>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fr-FR" sz="2600" b="1" i="0">
                <a:solidFill>
                  <a:srgbClr val="FFFFFF"/>
                </a:solidFill>
                <a:latin typeface="Calibri"/>
              </a:rPr>
              <a:t>8</a:t>
            </a:r>
          </a:p>
        </p:txBody>
      </p:sp>
      <p:sp>
        <p:nvSpPr>
          <p:cNvPr id="12" name="TextBox 11"/>
          <p:cNvSpPr txBox="1"/>
          <p:nvPr/>
        </p:nvSpPr>
        <p:spPr>
          <a:xfrm>
            <a:off x="1600200" y="4151376"/>
            <a:ext cx="9601200" cy="822960"/>
          </a:xfrm>
          <a:prstGeom prst="rect">
            <a:avLst/>
          </a:prstGeom>
          <a:noFill/>
        </p:spPr>
        <p:txBody>
          <a:bodyPr wrap="square"/>
          <a:lstStyle/>
          <a:p>
            <a:pPr algn="l">
              <a:lnSpc>
                <a:spcPct val="105000"/>
              </a:lnSpc>
              <a:spcBef>
                <a:spcPts val="0"/>
              </a:spcBef>
              <a:spcAft>
                <a:spcPts val="0"/>
              </a:spcAft>
            </a:pPr>
            <a:r>
              <a:rPr lang="fr-FR" sz="2400" b="0" i="0">
                <a:solidFill>
                  <a:srgbClr val="1C2830"/>
                </a:solidFill>
                <a:latin typeface="Calibri"/>
              </a:rPr>
              <a:t>Factorisation</a:t>
            </a:r>
          </a:p>
          <a:p>
            <a:pPr algn="l">
              <a:lnSpc>
                <a:spcPct val="105000"/>
              </a:lnSpc>
              <a:spcBef>
                <a:spcPts val="200"/>
              </a:spcBef>
              <a:spcAft>
                <a:spcPts val="0"/>
              </a:spcAft>
            </a:pPr>
            <a:r>
              <a:rPr lang="fr-FR" sz="1600" b="0" i="0">
                <a:solidFill>
                  <a:srgbClr val="4E6470"/>
                </a:solidFill>
                <a:latin typeface="Calibri"/>
              </a:rPr>
              <a:t>Décomposer un entier en facteurs premiers</a:t>
            </a:r>
          </a:p>
        </p:txBody>
      </p:sp>
      <p:sp>
        <p:nvSpPr>
          <p:cNvPr id="13" name="Rounded Rectangle 12"/>
          <p:cNvSpPr/>
          <p:nvPr/>
        </p:nvSpPr>
        <p:spPr>
          <a:xfrm>
            <a:off x="502920" y="5193792"/>
            <a:ext cx="11183112" cy="1078992"/>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13232" y="5413248"/>
            <a:ext cx="658368" cy="640080"/>
          </a:xfrm>
          <a:prstGeom prst="roundRect">
            <a:avLst>
              <a:gd name="adj" fmla="val 20000"/>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fr-FR" sz="2600" b="1" i="0">
                <a:solidFill>
                  <a:srgbClr val="FFFFFF"/>
                </a:solidFill>
                <a:latin typeface="Calibri"/>
              </a:rPr>
              <a:t>7</a:t>
            </a:r>
          </a:p>
        </p:txBody>
      </p:sp>
      <p:sp>
        <p:nvSpPr>
          <p:cNvPr id="15" name="TextBox 14"/>
          <p:cNvSpPr txBox="1"/>
          <p:nvPr/>
        </p:nvSpPr>
        <p:spPr>
          <a:xfrm>
            <a:off x="1600200" y="5340096"/>
            <a:ext cx="9601200" cy="822960"/>
          </a:xfrm>
          <a:prstGeom prst="rect">
            <a:avLst/>
          </a:prstGeom>
          <a:noFill/>
        </p:spPr>
        <p:txBody>
          <a:bodyPr wrap="square"/>
          <a:lstStyle/>
          <a:p>
            <a:pPr algn="l">
              <a:lnSpc>
                <a:spcPct val="105000"/>
              </a:lnSpc>
              <a:spcBef>
                <a:spcPts val="0"/>
              </a:spcBef>
              <a:spcAft>
                <a:spcPts val="0"/>
              </a:spcAft>
            </a:pPr>
            <a:r>
              <a:rPr lang="fr-FR" sz="2400" b="0" i="0">
                <a:solidFill>
                  <a:srgbClr val="1C2830"/>
                </a:solidFill>
                <a:latin typeface="Calibri"/>
              </a:rPr>
              <a:t>Coefficient binomial</a:t>
            </a:r>
          </a:p>
          <a:p>
            <a:pPr algn="l">
              <a:lnSpc>
                <a:spcPct val="105000"/>
              </a:lnSpc>
              <a:spcBef>
                <a:spcPts val="200"/>
              </a:spcBef>
              <a:spcAft>
                <a:spcPts val="0"/>
              </a:spcAft>
            </a:pPr>
            <a:r>
              <a:rPr lang="fr-FR" sz="1600" b="0" i="0">
                <a:solidFill>
                  <a:srgbClr val="4E6470"/>
                </a:solidFill>
                <a:latin typeface="Calibri"/>
              </a:rPr>
              <a:t>C(n, m), sans calculer les factorielles</a:t>
            </a:r>
          </a:p>
        </p:txBody>
      </p:sp>
      <p:sp>
        <p:nvSpPr>
          <p:cNvPr id="16" name="TextBox 15"/>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2  /  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95360" y="-1371600"/>
            <a:ext cx="5669280" cy="5669280"/>
          </a:xfrm>
          <a:prstGeom prst="ellipse">
            <a:avLst/>
          </a:prstGeom>
          <a:solidFill>
            <a:srgbClr val="0E4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148840"/>
            <a:ext cx="10058400" cy="411480"/>
          </a:xfrm>
          <a:prstGeom prst="rect">
            <a:avLst/>
          </a:prstGeom>
          <a:noFill/>
        </p:spPr>
        <p:txBody>
          <a:bodyPr wrap="square"/>
          <a:lstStyle/>
          <a:p>
            <a:pPr algn="l">
              <a:lnSpc>
                <a:spcPct val="105000"/>
              </a:lnSpc>
              <a:spcBef>
                <a:spcPts val="0"/>
              </a:spcBef>
              <a:spcAft>
                <a:spcPts val="600"/>
              </a:spcAft>
            </a:pPr>
            <a:r>
              <a:rPr lang="fr-FR" sz="1600" b="1" i="0">
                <a:solidFill>
                  <a:srgbClr val="9FC8D6"/>
                </a:solidFill>
                <a:latin typeface="Calibri"/>
              </a:rPr>
              <a:t>RAPPEL</a:t>
            </a:r>
          </a:p>
        </p:txBody>
      </p:sp>
      <p:sp>
        <p:nvSpPr>
          <p:cNvPr id="5" name="TextBox 4"/>
          <p:cNvSpPr txBox="1"/>
          <p:nvPr/>
        </p:nvSpPr>
        <p:spPr>
          <a:xfrm>
            <a:off x="731520" y="2606040"/>
            <a:ext cx="10515600" cy="1188720"/>
          </a:xfrm>
          <a:prstGeom prst="rect">
            <a:avLst/>
          </a:prstGeom>
          <a:noFill/>
        </p:spPr>
        <p:txBody>
          <a:bodyPr wrap="square"/>
          <a:lstStyle/>
          <a:p>
            <a:pPr algn="l">
              <a:lnSpc>
                <a:spcPct val="105000"/>
              </a:lnSpc>
              <a:spcBef>
                <a:spcPts val="0"/>
              </a:spcBef>
              <a:spcAft>
                <a:spcPts val="600"/>
              </a:spcAft>
            </a:pPr>
            <a:r>
              <a:rPr lang="fr-FR" sz="4400" b="0" i="0">
                <a:solidFill>
                  <a:srgbClr val="FFFFFF"/>
                </a:solidFill>
                <a:latin typeface="Calibri"/>
              </a:rPr>
              <a:t>Compiler et exécuter</a:t>
            </a:r>
          </a:p>
        </p:txBody>
      </p:sp>
      <p:sp>
        <p:nvSpPr>
          <p:cNvPr id="6" name="TextBox 5"/>
          <p:cNvSpPr txBox="1"/>
          <p:nvPr/>
        </p:nvSpPr>
        <p:spPr>
          <a:xfrm>
            <a:off x="731520" y="3931920"/>
            <a:ext cx="9144000" cy="731520"/>
          </a:xfrm>
          <a:prstGeom prst="rect">
            <a:avLst/>
          </a:prstGeom>
          <a:noFill/>
        </p:spPr>
        <p:txBody>
          <a:bodyPr wrap="square"/>
          <a:lstStyle/>
          <a:p>
            <a:pPr algn="l">
              <a:lnSpc>
                <a:spcPct val="105000"/>
              </a:lnSpc>
              <a:spcBef>
                <a:spcPts val="0"/>
              </a:spcBef>
              <a:spcAft>
                <a:spcPts val="600"/>
              </a:spcAft>
            </a:pPr>
            <a:r>
              <a:rPr lang="fr-FR" sz="2200" b="0" i="0">
                <a:solidFill>
                  <a:srgbClr val="C5D8E0"/>
                </a:solidFill>
                <a:latin typeface="Calibri"/>
              </a:rPr>
              <a:t>MSYS2 UCRT64</a:t>
            </a:r>
          </a:p>
        </p:txBody>
      </p:sp>
      <p:sp>
        <p:nvSpPr>
          <p:cNvPr id="7" name="TextBox 6"/>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C5D5DC"/>
                </a:solidFill>
                <a:latin typeface="Calibri"/>
              </a:rPr>
              <a:t>3  /  27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Ouvrir le bon terminal</a:t>
            </a:r>
          </a:p>
        </p:txBody>
      </p:sp>
      <p:sp>
        <p:nvSpPr>
          <p:cNvPr id="5" name="TextBox 4"/>
          <p:cNvSpPr txBox="1"/>
          <p:nvPr/>
        </p:nvSpPr>
        <p:spPr>
          <a:xfrm>
            <a:off x="502920" y="1371600"/>
            <a:ext cx="11155680" cy="2286000"/>
          </a:xfrm>
          <a:prstGeom prst="rect">
            <a:avLst/>
          </a:prstGeom>
          <a:noFill/>
        </p:spPr>
        <p:txBody>
          <a:bodyPr wrap="square"/>
          <a:lstStyle/>
          <a:p>
            <a:pPr marL="274320" indent="-219456" algn="l">
              <a:lnSpc>
                <a:spcPct val="105000"/>
              </a:lnSpc>
              <a:spcBef>
                <a:spcPts val="0"/>
              </a:spcBef>
              <a:spcAft>
                <a:spcPts val="1200"/>
              </a:spcAft>
            </a:pPr>
            <a:r>
              <a:rPr lang="fr-FR" sz="2200" b="0" i="0">
                <a:solidFill>
                  <a:srgbClr val="1C2830"/>
                </a:solidFill>
                <a:latin typeface="Calibri"/>
              </a:rPr>
              <a:t>•  Menu Démarrer, écrire MSYS2 UCRT64, et lancer ce terminal.</a:t>
            </a:r>
          </a:p>
          <a:p>
            <a:pPr marL="274320" indent="-219456" algn="l">
              <a:lnSpc>
                <a:spcPct val="105000"/>
              </a:lnSpc>
              <a:spcBef>
                <a:spcPts val="0"/>
              </a:spcBef>
              <a:spcAft>
                <a:spcPts val="1200"/>
              </a:spcAft>
            </a:pPr>
            <a:r>
              <a:rPr lang="fr-FR" sz="2200" b="0" i="0">
                <a:solidFill>
                  <a:srgbClr val="1C2830"/>
                </a:solidFill>
                <a:latin typeface="Calibri"/>
              </a:rPr>
              <a:t>•  Pas l'invite de commandes Windows, pas MSYS2 MSYS, pas MINGW64.</a:t>
            </a:r>
          </a:p>
          <a:p>
            <a:pPr marL="274320" indent="-219456" algn="l">
              <a:lnSpc>
                <a:spcPct val="105000"/>
              </a:lnSpc>
              <a:spcBef>
                <a:spcPts val="0"/>
              </a:spcBef>
              <a:spcAft>
                <a:spcPts val="800"/>
              </a:spcAft>
            </a:pPr>
            <a:r>
              <a:rPr lang="fr-FR" sz="2200" b="0" i="0">
                <a:solidFill>
                  <a:srgbClr val="1C2830"/>
                </a:solidFill>
                <a:latin typeface="Calibri"/>
              </a:rPr>
              <a:t>•  GCC est déjà installé. On le vérifie :</a:t>
            </a:r>
          </a:p>
        </p:txBody>
      </p:sp>
      <p:sp>
        <p:nvSpPr>
          <p:cNvPr id="6" name="Rounded Rectangle 5"/>
          <p:cNvSpPr/>
          <p:nvPr/>
        </p:nvSpPr>
        <p:spPr>
          <a:xfrm>
            <a:off x="822960" y="3154680"/>
            <a:ext cx="5669280" cy="658368"/>
          </a:xfrm>
          <a:prstGeom prst="roundRect">
            <a:avLst>
              <a:gd name="adj" fmla="val 8000"/>
            </a:avLst>
          </a:prstGeom>
          <a:solidFill>
            <a:srgbClr val="E6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3227832"/>
            <a:ext cx="5303520" cy="548640"/>
          </a:xfrm>
          <a:prstGeom prst="rect">
            <a:avLst/>
          </a:prstGeom>
          <a:noFill/>
        </p:spPr>
        <p:txBody>
          <a:bodyPr wrap="square"/>
          <a:lstStyle/>
          <a:p>
            <a:pPr algn="l">
              <a:lnSpc>
                <a:spcPct val="105000"/>
              </a:lnSpc>
              <a:spcBef>
                <a:spcPts val="0"/>
              </a:spcBef>
              <a:spcAft>
                <a:spcPts val="200"/>
              </a:spcAft>
            </a:pPr>
            <a:r>
              <a:rPr lang="fr-FR" sz="2200" b="0" i="0">
                <a:solidFill>
                  <a:srgbClr val="0C384C"/>
                </a:solidFill>
                <a:latin typeface="Consolas"/>
              </a:rPr>
              <a:t>gcc --version</a:t>
            </a:r>
          </a:p>
        </p:txBody>
      </p:sp>
      <p:sp>
        <p:nvSpPr>
          <p:cNvPr id="8" name="Rounded Rectangle 7"/>
          <p:cNvSpPr/>
          <p:nvPr/>
        </p:nvSpPr>
        <p:spPr>
          <a:xfrm>
            <a:off x="502920" y="4114800"/>
            <a:ext cx="11183112" cy="1325880"/>
          </a:xfrm>
          <a:prstGeom prst="roundRect">
            <a:avLst>
              <a:gd name="adj" fmla="val 8000"/>
            </a:avLst>
          </a:prstGeom>
          <a:solidFill>
            <a:srgbClr val="FD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279392"/>
            <a:ext cx="10789920" cy="1051560"/>
          </a:xfrm>
          <a:prstGeom prst="rect">
            <a:avLst/>
          </a:prstGeom>
          <a:noFill/>
        </p:spPr>
        <p:txBody>
          <a:bodyPr wrap="square"/>
          <a:lstStyle/>
          <a:p>
            <a:pPr algn="l">
              <a:lnSpc>
                <a:spcPct val="105000"/>
              </a:lnSpc>
              <a:spcBef>
                <a:spcPts val="0"/>
              </a:spcBef>
              <a:spcAft>
                <a:spcPts val="400"/>
              </a:spcAft>
            </a:pPr>
            <a:r>
              <a:rPr lang="fr-FR" sz="1600" b="1" i="0">
                <a:solidFill>
                  <a:srgbClr val="8C3E12"/>
                </a:solidFill>
                <a:latin typeface="Calibri"/>
              </a:rPr>
              <a:t>Si la commande est inconnue</a:t>
            </a:r>
          </a:p>
          <a:p>
            <a:pPr algn="l">
              <a:lnSpc>
                <a:spcPct val="105000"/>
              </a:lnSpc>
              <a:spcBef>
                <a:spcPts val="0"/>
              </a:spcBef>
              <a:spcAft>
                <a:spcPts val="0"/>
              </a:spcAft>
            </a:pPr>
            <a:r>
              <a:rPr lang="fr-FR" sz="2000" b="0" i="0">
                <a:solidFill>
                  <a:srgbClr val="1C2830"/>
                </a:solidFill>
                <a:latin typeface="Calibri"/>
              </a:rPr>
              <a:t>Le terminal ouvert n'est pas UCRT64. On le ferme et on rouvre MSYS2 UCRT64 depuis le menu Démarrer.</a:t>
            </a:r>
          </a:p>
        </p:txBody>
      </p:sp>
      <p:sp>
        <p:nvSpPr>
          <p:cNvPr id="10" name="TextBox 9"/>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4  /  27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Se placer dans le dossier du fichier</a:t>
            </a:r>
          </a:p>
        </p:txBody>
      </p:sp>
      <p:sp>
        <p:nvSpPr>
          <p:cNvPr id="5" name="TextBox 4"/>
          <p:cNvSpPr txBox="1"/>
          <p:nvPr/>
        </p:nvSpPr>
        <p:spPr>
          <a:xfrm>
            <a:off x="502920" y="1298448"/>
            <a:ext cx="11155680" cy="640080"/>
          </a:xfrm>
          <a:prstGeom prst="rect">
            <a:avLst/>
          </a:prstGeom>
          <a:noFill/>
        </p:spPr>
        <p:txBody>
          <a:bodyPr wrap="square"/>
          <a:lstStyle/>
          <a:p>
            <a:pPr algn="l">
              <a:lnSpc>
                <a:spcPct val="105000"/>
              </a:lnSpc>
              <a:spcBef>
                <a:spcPts val="0"/>
              </a:spcBef>
              <a:spcAft>
                <a:spcPts val="0"/>
              </a:spcAft>
            </a:pPr>
            <a:r>
              <a:rPr lang="fr-FR" sz="2000" b="0" i="0">
                <a:solidFill>
                  <a:srgbClr val="1C2830"/>
                </a:solidFill>
                <a:latin typeface="Calibri"/>
              </a:rPr>
              <a:t>Au lancement, on n'est pas dans Documents. Le terminal doit être dans le dossier du .c.</a:t>
            </a:r>
          </a:p>
        </p:txBody>
      </p:sp>
      <p:sp>
        <p:nvSpPr>
          <p:cNvPr id="6" name="Rounded Rectangle 5"/>
          <p:cNvSpPr/>
          <p:nvPr/>
        </p:nvSpPr>
        <p:spPr>
          <a:xfrm>
            <a:off x="502920" y="2057400"/>
            <a:ext cx="2743200" cy="123444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648" y="2176272"/>
            <a:ext cx="2523744" cy="1005840"/>
          </a:xfrm>
          <a:prstGeom prst="rect">
            <a:avLst/>
          </a:prstGeom>
          <a:noFill/>
        </p:spPr>
        <p:txBody>
          <a:bodyPr wrap="square"/>
          <a:lstStyle/>
          <a:p>
            <a:pPr algn="ctr">
              <a:lnSpc>
                <a:spcPct val="105000"/>
              </a:lnSpc>
              <a:spcBef>
                <a:spcPts val="0"/>
              </a:spcBef>
              <a:spcAft>
                <a:spcPts val="600"/>
              </a:spcAft>
            </a:pPr>
            <a:r>
              <a:rPr lang="fr-FR" sz="2000" b="1" i="0">
                <a:solidFill>
                  <a:srgbClr val="0C384C"/>
                </a:solidFill>
                <a:latin typeface="Consolas"/>
              </a:rPr>
              <a:t>cd nom</a:t>
            </a:r>
          </a:p>
          <a:p>
            <a:pPr algn="ctr">
              <a:lnSpc>
                <a:spcPct val="105000"/>
              </a:lnSpc>
              <a:spcBef>
                <a:spcPts val="0"/>
              </a:spcBef>
              <a:spcAft>
                <a:spcPts val="0"/>
              </a:spcAft>
            </a:pPr>
            <a:r>
              <a:rPr lang="fr-FR" sz="1500" b="0" i="0">
                <a:solidFill>
                  <a:srgbClr val="4E6470"/>
                </a:solidFill>
                <a:latin typeface="Calibri"/>
              </a:rPr>
              <a:t>Entre dans un dossier</a:t>
            </a:r>
          </a:p>
        </p:txBody>
      </p:sp>
      <p:sp>
        <p:nvSpPr>
          <p:cNvPr id="8" name="Rounded Rectangle 7"/>
          <p:cNvSpPr/>
          <p:nvPr/>
        </p:nvSpPr>
        <p:spPr>
          <a:xfrm>
            <a:off x="3383280" y="2057400"/>
            <a:ext cx="2743200" cy="123444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93008" y="2176272"/>
            <a:ext cx="2523744" cy="1005840"/>
          </a:xfrm>
          <a:prstGeom prst="rect">
            <a:avLst/>
          </a:prstGeom>
          <a:noFill/>
        </p:spPr>
        <p:txBody>
          <a:bodyPr wrap="square"/>
          <a:lstStyle/>
          <a:p>
            <a:pPr algn="ctr">
              <a:lnSpc>
                <a:spcPct val="105000"/>
              </a:lnSpc>
              <a:spcBef>
                <a:spcPts val="0"/>
              </a:spcBef>
              <a:spcAft>
                <a:spcPts val="600"/>
              </a:spcAft>
            </a:pPr>
            <a:r>
              <a:rPr lang="fr-FR" sz="2000" b="1" i="0">
                <a:solidFill>
                  <a:srgbClr val="0C384C"/>
                </a:solidFill>
                <a:latin typeface="Consolas"/>
              </a:rPr>
              <a:t>cd ..</a:t>
            </a:r>
          </a:p>
          <a:p>
            <a:pPr algn="ctr">
              <a:lnSpc>
                <a:spcPct val="105000"/>
              </a:lnSpc>
              <a:spcBef>
                <a:spcPts val="0"/>
              </a:spcBef>
              <a:spcAft>
                <a:spcPts val="0"/>
              </a:spcAft>
            </a:pPr>
            <a:r>
              <a:rPr lang="fr-FR" sz="1500" b="0" i="0">
                <a:solidFill>
                  <a:srgbClr val="4E6470"/>
                </a:solidFill>
                <a:latin typeface="Calibri"/>
              </a:rPr>
              <a:t>Remonte d'un cran</a:t>
            </a:r>
          </a:p>
        </p:txBody>
      </p:sp>
      <p:sp>
        <p:nvSpPr>
          <p:cNvPr id="10" name="Rounded Rectangle 9"/>
          <p:cNvSpPr/>
          <p:nvPr/>
        </p:nvSpPr>
        <p:spPr>
          <a:xfrm>
            <a:off x="6263640" y="2057400"/>
            <a:ext cx="2743200" cy="123444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73368" y="2176272"/>
            <a:ext cx="2523744" cy="1005840"/>
          </a:xfrm>
          <a:prstGeom prst="rect">
            <a:avLst/>
          </a:prstGeom>
          <a:noFill/>
        </p:spPr>
        <p:txBody>
          <a:bodyPr wrap="square"/>
          <a:lstStyle/>
          <a:p>
            <a:pPr algn="ctr">
              <a:lnSpc>
                <a:spcPct val="105000"/>
              </a:lnSpc>
              <a:spcBef>
                <a:spcPts val="0"/>
              </a:spcBef>
              <a:spcAft>
                <a:spcPts val="600"/>
              </a:spcAft>
            </a:pPr>
            <a:r>
              <a:rPr lang="fr-FR" sz="2000" b="1" i="0">
                <a:solidFill>
                  <a:srgbClr val="0C384C"/>
                </a:solidFill>
                <a:latin typeface="Consolas"/>
              </a:rPr>
              <a:t>pwd</a:t>
            </a:r>
          </a:p>
          <a:p>
            <a:pPr algn="ctr">
              <a:lnSpc>
                <a:spcPct val="105000"/>
              </a:lnSpc>
              <a:spcBef>
                <a:spcPts val="0"/>
              </a:spcBef>
              <a:spcAft>
                <a:spcPts val="0"/>
              </a:spcAft>
            </a:pPr>
            <a:r>
              <a:rPr lang="fr-FR" sz="1500" b="0" i="0">
                <a:solidFill>
                  <a:srgbClr val="4E6470"/>
                </a:solidFill>
                <a:latin typeface="Calibri"/>
              </a:rPr>
              <a:t>Affiche où l'on est</a:t>
            </a:r>
          </a:p>
        </p:txBody>
      </p:sp>
      <p:sp>
        <p:nvSpPr>
          <p:cNvPr id="12" name="Rounded Rectangle 11"/>
          <p:cNvSpPr/>
          <p:nvPr/>
        </p:nvSpPr>
        <p:spPr>
          <a:xfrm>
            <a:off x="9144000" y="2057400"/>
            <a:ext cx="2743200" cy="123444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53728" y="2176272"/>
            <a:ext cx="2523744" cy="1005840"/>
          </a:xfrm>
          <a:prstGeom prst="rect">
            <a:avLst/>
          </a:prstGeom>
          <a:noFill/>
        </p:spPr>
        <p:txBody>
          <a:bodyPr wrap="square"/>
          <a:lstStyle/>
          <a:p>
            <a:pPr algn="ctr">
              <a:lnSpc>
                <a:spcPct val="105000"/>
              </a:lnSpc>
              <a:spcBef>
                <a:spcPts val="0"/>
              </a:spcBef>
              <a:spcAft>
                <a:spcPts val="600"/>
              </a:spcAft>
            </a:pPr>
            <a:r>
              <a:rPr lang="fr-FR" sz="2000" b="1" i="0">
                <a:solidFill>
                  <a:srgbClr val="0C384C"/>
                </a:solidFill>
                <a:latin typeface="Consolas"/>
              </a:rPr>
              <a:t>ls</a:t>
            </a:r>
          </a:p>
          <a:p>
            <a:pPr algn="ctr">
              <a:lnSpc>
                <a:spcPct val="105000"/>
              </a:lnSpc>
              <a:spcBef>
                <a:spcPts val="0"/>
              </a:spcBef>
              <a:spcAft>
                <a:spcPts val="0"/>
              </a:spcAft>
            </a:pPr>
            <a:r>
              <a:rPr lang="fr-FR" sz="1500" b="0" i="0">
                <a:solidFill>
                  <a:srgbClr val="4E6470"/>
                </a:solidFill>
                <a:latin typeface="Calibri"/>
              </a:rPr>
              <a:t>Liste les fichiers</a:t>
            </a:r>
          </a:p>
        </p:txBody>
      </p:sp>
      <p:sp>
        <p:nvSpPr>
          <p:cNvPr id="14" name="TextBox 13"/>
          <p:cNvSpPr txBox="1"/>
          <p:nvPr/>
        </p:nvSpPr>
        <p:spPr>
          <a:xfrm>
            <a:off x="502920" y="3474720"/>
            <a:ext cx="11155680" cy="365760"/>
          </a:xfrm>
          <a:prstGeom prst="rect">
            <a:avLst/>
          </a:prstGeom>
          <a:noFill/>
        </p:spPr>
        <p:txBody>
          <a:bodyPr wrap="square"/>
          <a:lstStyle/>
          <a:p>
            <a:pPr algn="l">
              <a:lnSpc>
                <a:spcPct val="105000"/>
              </a:lnSpc>
              <a:spcBef>
                <a:spcPts val="0"/>
              </a:spcBef>
              <a:spcAft>
                <a:spcPts val="0"/>
              </a:spcAft>
            </a:pPr>
            <a:r>
              <a:rPr lang="fr-FR" sz="2000" b="0" i="0">
                <a:solidFill>
                  <a:srgbClr val="1C2830"/>
                </a:solidFill>
                <a:latin typeface="Calibri"/>
              </a:rPr>
              <a:t>Un chemin copié depuis l'explorateur Windows se transforme.</a:t>
            </a:r>
          </a:p>
        </p:txBody>
      </p:sp>
      <p:sp>
        <p:nvSpPr>
          <p:cNvPr id="15" name="Rounded Rectangle 14"/>
          <p:cNvSpPr/>
          <p:nvPr/>
        </p:nvSpPr>
        <p:spPr>
          <a:xfrm>
            <a:off x="502920" y="3977639"/>
            <a:ext cx="5212080" cy="123444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096512"/>
            <a:ext cx="4892040" cy="1005840"/>
          </a:xfrm>
          <a:prstGeom prst="rect">
            <a:avLst/>
          </a:prstGeom>
          <a:noFill/>
        </p:spPr>
        <p:txBody>
          <a:bodyPr wrap="square"/>
          <a:lstStyle/>
          <a:p>
            <a:pPr algn="l">
              <a:lnSpc>
                <a:spcPct val="105000"/>
              </a:lnSpc>
              <a:spcBef>
                <a:spcPts val="0"/>
              </a:spcBef>
              <a:spcAft>
                <a:spcPts val="400"/>
              </a:spcAft>
            </a:pPr>
            <a:r>
              <a:rPr lang="fr-FR" sz="1300" b="1" i="0">
                <a:solidFill>
                  <a:srgbClr val="4E6470"/>
                </a:solidFill>
                <a:latin typeface="Calibri"/>
              </a:rPr>
              <a:t>Explorateur</a:t>
            </a:r>
          </a:p>
          <a:p>
            <a:pPr algn="l">
              <a:lnSpc>
                <a:spcPct val="105000"/>
              </a:lnSpc>
              <a:spcBef>
                <a:spcPts val="0"/>
              </a:spcBef>
              <a:spcAft>
                <a:spcPts val="0"/>
              </a:spcAft>
            </a:pPr>
            <a:r>
              <a:rPr lang="fr-FR" sz="1600" b="0" i="0">
                <a:solidFill>
                  <a:srgbClr val="1C2830"/>
                </a:solidFill>
                <a:latin typeface="Consolas"/>
              </a:rPr>
              <a:t>C:\Users\Alice\Desktop\TP3</a:t>
            </a:r>
          </a:p>
        </p:txBody>
      </p:sp>
      <p:sp>
        <p:nvSpPr>
          <p:cNvPr id="17" name="TextBox 16"/>
          <p:cNvSpPr txBox="1"/>
          <p:nvPr/>
        </p:nvSpPr>
        <p:spPr>
          <a:xfrm>
            <a:off x="5715000" y="4297680"/>
            <a:ext cx="731520" cy="548640"/>
          </a:xfrm>
          <a:prstGeom prst="rect">
            <a:avLst/>
          </a:prstGeom>
          <a:noFill/>
        </p:spPr>
        <p:txBody>
          <a:bodyPr wrap="square"/>
          <a:lstStyle/>
          <a:p>
            <a:pPr algn="ctr">
              <a:lnSpc>
                <a:spcPct val="105000"/>
              </a:lnSpc>
              <a:spcBef>
                <a:spcPts val="0"/>
              </a:spcBef>
              <a:spcAft>
                <a:spcPts val="0"/>
              </a:spcAft>
            </a:pPr>
            <a:r>
              <a:rPr lang="fr-FR" sz="2800" b="1" i="0">
                <a:solidFill>
                  <a:srgbClr val="0C384C"/>
                </a:solidFill>
                <a:latin typeface="Calibri"/>
              </a:rPr>
              <a:t>→</a:t>
            </a:r>
          </a:p>
        </p:txBody>
      </p:sp>
      <p:sp>
        <p:nvSpPr>
          <p:cNvPr id="18" name="Rounded Rectangle 17"/>
          <p:cNvSpPr/>
          <p:nvPr/>
        </p:nvSpPr>
        <p:spPr>
          <a:xfrm>
            <a:off x="6446520" y="3977639"/>
            <a:ext cx="5239512" cy="1234440"/>
          </a:xfrm>
          <a:prstGeom prst="roundRect">
            <a:avLst>
              <a:gd name="adj" fmla="val 8000"/>
            </a:avLst>
          </a:prstGeom>
          <a:solidFill>
            <a:srgbClr val="E6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29400" y="4096512"/>
            <a:ext cx="4892040" cy="1005840"/>
          </a:xfrm>
          <a:prstGeom prst="rect">
            <a:avLst/>
          </a:prstGeom>
          <a:noFill/>
        </p:spPr>
        <p:txBody>
          <a:bodyPr wrap="square"/>
          <a:lstStyle/>
          <a:p>
            <a:pPr algn="l">
              <a:lnSpc>
                <a:spcPct val="105000"/>
              </a:lnSpc>
              <a:spcBef>
                <a:spcPts val="0"/>
              </a:spcBef>
              <a:spcAft>
                <a:spcPts val="400"/>
              </a:spcAft>
            </a:pPr>
            <a:r>
              <a:rPr lang="fr-FR" sz="1300" b="1" i="0">
                <a:solidFill>
                  <a:srgbClr val="4E6470"/>
                </a:solidFill>
                <a:latin typeface="Calibri"/>
              </a:rPr>
              <a:t>UCRT64</a:t>
            </a:r>
          </a:p>
          <a:p>
            <a:pPr algn="l">
              <a:lnSpc>
                <a:spcPct val="105000"/>
              </a:lnSpc>
              <a:spcBef>
                <a:spcPts val="0"/>
              </a:spcBef>
              <a:spcAft>
                <a:spcPts val="0"/>
              </a:spcAft>
            </a:pPr>
            <a:r>
              <a:rPr lang="fr-FR" sz="1600" b="0" i="0">
                <a:solidFill>
                  <a:srgbClr val="0C384C"/>
                </a:solidFill>
                <a:latin typeface="Consolas"/>
              </a:rPr>
              <a:t>cd /c/Users/Alice/Desktop/TP3</a:t>
            </a:r>
          </a:p>
        </p:txBody>
      </p:sp>
      <p:sp>
        <p:nvSpPr>
          <p:cNvPr id="20" name="TextBox 19"/>
          <p:cNvSpPr txBox="1"/>
          <p:nvPr/>
        </p:nvSpPr>
        <p:spPr>
          <a:xfrm>
            <a:off x="502920" y="5394960"/>
            <a:ext cx="11155680" cy="960120"/>
          </a:xfrm>
          <a:prstGeom prst="rect">
            <a:avLst/>
          </a:prstGeom>
          <a:noFill/>
        </p:spPr>
        <p:txBody>
          <a:bodyPr wrap="square"/>
          <a:lstStyle/>
          <a:p>
            <a:pPr marL="274320" indent="-219456" algn="l">
              <a:lnSpc>
                <a:spcPct val="105000"/>
              </a:lnSpc>
              <a:spcBef>
                <a:spcPts val="0"/>
              </a:spcBef>
              <a:spcAft>
                <a:spcPts val="400"/>
              </a:spcAft>
            </a:pPr>
            <a:r>
              <a:rPr lang="fr-FR" sz="2000" b="0" i="0">
                <a:solidFill>
                  <a:srgbClr val="1C2830"/>
                </a:solidFill>
                <a:latin typeface="Calibri"/>
              </a:rPr>
              <a:t>Les \ deviennent des /, et C: devient /c.</a:t>
            </a:r>
          </a:p>
          <a:p>
            <a:pPr marL="274320" indent="-219456" algn="l">
              <a:lnSpc>
                <a:spcPct val="105000"/>
              </a:lnSpc>
              <a:spcBef>
                <a:spcPts val="0"/>
              </a:spcBef>
              <a:spcAft>
                <a:spcPts val="0"/>
              </a:spcAft>
            </a:pPr>
            <a:r>
              <a:rPr lang="fr-FR" sz="2000" b="0" i="0">
                <a:solidFill>
                  <a:srgbClr val="1C2830"/>
                </a:solidFill>
                <a:latin typeface="Calibri"/>
              </a:rPr>
              <a:t>S'il y a des espaces dans le chemin, on le met entre guillemets.</a:t>
            </a:r>
          </a:p>
        </p:txBody>
      </p:sp>
      <p:sp>
        <p:nvSpPr>
          <p:cNvPr id="21" name="TextBox 20"/>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5  /  27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Compiler</a:t>
            </a:r>
          </a:p>
        </p:txBody>
      </p:sp>
      <p:sp>
        <p:nvSpPr>
          <p:cNvPr id="5" name="TextBox 4"/>
          <p:cNvSpPr txBox="1"/>
          <p:nvPr/>
        </p:nvSpPr>
        <p:spPr>
          <a:xfrm>
            <a:off x="502920" y="1353312"/>
            <a:ext cx="11155680" cy="411480"/>
          </a:xfrm>
          <a:prstGeom prst="rect">
            <a:avLst/>
          </a:prstGeom>
          <a:noFill/>
        </p:spPr>
        <p:txBody>
          <a:bodyPr wrap="square"/>
          <a:lstStyle/>
          <a:p>
            <a:pPr algn="l">
              <a:lnSpc>
                <a:spcPct val="105000"/>
              </a:lnSpc>
              <a:spcBef>
                <a:spcPts val="0"/>
              </a:spcBef>
              <a:spcAft>
                <a:spcPts val="0"/>
              </a:spcAft>
            </a:pPr>
            <a:r>
              <a:rPr lang="fr-FR" sz="2000" b="0" i="0">
                <a:solidFill>
                  <a:srgbClr val="1C2830"/>
                </a:solidFill>
                <a:latin typeface="Calibri"/>
              </a:rPr>
              <a:t>Le fichier .c est dans le dossier courant (ls doit l'afficher).</a:t>
            </a:r>
          </a:p>
        </p:txBody>
      </p:sp>
      <p:sp>
        <p:nvSpPr>
          <p:cNvPr id="6" name="Rounded Rectangle 5"/>
          <p:cNvSpPr/>
          <p:nvPr/>
        </p:nvSpPr>
        <p:spPr>
          <a:xfrm>
            <a:off x="502920" y="1920240"/>
            <a:ext cx="11183112" cy="777240"/>
          </a:xfrm>
          <a:prstGeom prst="roundRect">
            <a:avLst>
              <a:gd name="adj" fmla="val 8000"/>
            </a:avLst>
          </a:prstGeom>
          <a:solidFill>
            <a:srgbClr val="E6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993392"/>
            <a:ext cx="10817352" cy="667512"/>
          </a:xfrm>
          <a:prstGeom prst="rect">
            <a:avLst/>
          </a:prstGeom>
          <a:noFill/>
        </p:spPr>
        <p:txBody>
          <a:bodyPr wrap="square"/>
          <a:lstStyle/>
          <a:p>
            <a:pPr algn="l">
              <a:lnSpc>
                <a:spcPct val="105000"/>
              </a:lnSpc>
              <a:spcBef>
                <a:spcPts val="0"/>
              </a:spcBef>
              <a:spcAft>
                <a:spcPts val="200"/>
              </a:spcAft>
            </a:pPr>
            <a:r>
              <a:rPr lang="fr-FR" sz="2600" b="0" i="0">
                <a:solidFill>
                  <a:srgbClr val="0C384C"/>
                </a:solidFill>
                <a:latin typeface="Consolas"/>
              </a:rPr>
              <a:t>gcc -Wall -Wextra fibo.c -o fibo</a:t>
            </a:r>
          </a:p>
        </p:txBody>
      </p:sp>
      <p:sp>
        <p:nvSpPr>
          <p:cNvPr id="8" name="TextBox 7"/>
          <p:cNvSpPr txBox="1"/>
          <p:nvPr/>
        </p:nvSpPr>
        <p:spPr>
          <a:xfrm>
            <a:off x="502920" y="2926080"/>
            <a:ext cx="11155680" cy="2194560"/>
          </a:xfrm>
          <a:prstGeom prst="rect">
            <a:avLst/>
          </a:prstGeom>
          <a:noFill/>
        </p:spPr>
        <p:txBody>
          <a:bodyPr wrap="square"/>
          <a:lstStyle/>
          <a:p>
            <a:pPr marL="274320" indent="-219456" algn="l">
              <a:lnSpc>
                <a:spcPct val="105000"/>
              </a:lnSpc>
              <a:spcBef>
                <a:spcPts val="0"/>
              </a:spcBef>
              <a:spcAft>
                <a:spcPts val="1000"/>
              </a:spcAft>
            </a:pPr>
            <a:r>
              <a:rPr lang="fr-FR" sz="2200" b="0" i="0">
                <a:solidFill>
                  <a:srgbClr val="1C2830"/>
                </a:solidFill>
                <a:latin typeface="Calibri"/>
              </a:rPr>
              <a:t>•  -o choisit le nom de l'exécutable.</a:t>
            </a:r>
          </a:p>
          <a:p>
            <a:pPr marL="274320" indent="-219456" algn="l">
              <a:lnSpc>
                <a:spcPct val="105000"/>
              </a:lnSpc>
              <a:spcBef>
                <a:spcPts val="0"/>
              </a:spcBef>
              <a:spcAft>
                <a:spcPts val="1000"/>
              </a:spcAft>
            </a:pPr>
            <a:r>
              <a:rPr lang="fr-FR" sz="2200" b="0" i="0">
                <a:solidFill>
                  <a:srgbClr val="1C2830"/>
                </a:solidFill>
                <a:latin typeface="Calibri"/>
              </a:rPr>
              <a:t>•  -Wall et -Wextra affichent les avertissements. On les laisse à chaque compilation.</a:t>
            </a:r>
          </a:p>
          <a:p>
            <a:pPr marL="274320" indent="-219456" algn="l">
              <a:lnSpc>
                <a:spcPct val="105000"/>
              </a:lnSpc>
              <a:spcBef>
                <a:spcPts val="0"/>
              </a:spcBef>
              <a:spcAft>
                <a:spcPts val="1000"/>
              </a:spcAft>
            </a:pPr>
            <a:r>
              <a:rPr lang="fr-FR" sz="2200" b="0" i="0">
                <a:solidFill>
                  <a:srgbClr val="1C2830"/>
                </a:solidFill>
                <a:latin typeface="Calibri"/>
              </a:rPr>
              <a:t>•  Une erreur arrête la compilation : pas d'exécutable. On corrige le .c, puis on relance la même commande.</a:t>
            </a:r>
          </a:p>
          <a:p>
            <a:pPr marL="274320" indent="-219456" algn="l">
              <a:lnSpc>
                <a:spcPct val="105000"/>
              </a:lnSpc>
              <a:spcBef>
                <a:spcPts val="0"/>
              </a:spcBef>
              <a:spcAft>
                <a:spcPts val="0"/>
              </a:spcAft>
            </a:pPr>
            <a:r>
              <a:rPr lang="fr-FR" sz="2200" b="0" i="0">
                <a:solidFill>
                  <a:srgbClr val="1C2830"/>
                </a:solidFill>
                <a:latin typeface="Calibri"/>
              </a:rPr>
              <a:t>•  « No such file » : le terminal n'est pas dans le bon dossier, ou le nom du fichier est faux.</a:t>
            </a:r>
          </a:p>
        </p:txBody>
      </p:sp>
      <p:sp>
        <p:nvSpPr>
          <p:cNvPr id="9" name="TextBox 8"/>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6  /  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Exécuter</a:t>
            </a:r>
          </a:p>
        </p:txBody>
      </p:sp>
      <p:sp>
        <p:nvSpPr>
          <p:cNvPr id="5" name="Rounded Rectangle 4"/>
          <p:cNvSpPr/>
          <p:nvPr/>
        </p:nvSpPr>
        <p:spPr>
          <a:xfrm>
            <a:off x="502920" y="1417320"/>
            <a:ext cx="4937760" cy="731520"/>
          </a:xfrm>
          <a:prstGeom prst="roundRect">
            <a:avLst>
              <a:gd name="adj" fmla="val 8000"/>
            </a:avLst>
          </a:prstGeom>
          <a:solidFill>
            <a:srgbClr val="E6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490472"/>
            <a:ext cx="4572000" cy="621792"/>
          </a:xfrm>
          <a:prstGeom prst="rect">
            <a:avLst/>
          </a:prstGeom>
          <a:noFill/>
        </p:spPr>
        <p:txBody>
          <a:bodyPr wrap="square"/>
          <a:lstStyle/>
          <a:p>
            <a:pPr algn="l">
              <a:lnSpc>
                <a:spcPct val="105000"/>
              </a:lnSpc>
              <a:spcBef>
                <a:spcPts val="0"/>
              </a:spcBef>
              <a:spcAft>
                <a:spcPts val="200"/>
              </a:spcAft>
            </a:pPr>
            <a:r>
              <a:rPr lang="fr-FR" sz="2800" b="0" i="0">
                <a:solidFill>
                  <a:srgbClr val="0C384C"/>
                </a:solidFill>
                <a:latin typeface="Consolas"/>
              </a:rPr>
              <a:t>./fibo</a:t>
            </a:r>
          </a:p>
        </p:txBody>
      </p:sp>
      <p:sp>
        <p:nvSpPr>
          <p:cNvPr id="7" name="TextBox 6"/>
          <p:cNvSpPr txBox="1"/>
          <p:nvPr/>
        </p:nvSpPr>
        <p:spPr>
          <a:xfrm>
            <a:off x="5669280" y="1417320"/>
            <a:ext cx="5943600" cy="822960"/>
          </a:xfrm>
          <a:prstGeom prst="rect">
            <a:avLst/>
          </a:prstGeom>
          <a:noFill/>
        </p:spPr>
        <p:txBody>
          <a:bodyPr wrap="square"/>
          <a:lstStyle/>
          <a:p>
            <a:pPr algn="l">
              <a:lnSpc>
                <a:spcPct val="105000"/>
              </a:lnSpc>
              <a:spcBef>
                <a:spcPts val="0"/>
              </a:spcBef>
              <a:spcAft>
                <a:spcPts val="0"/>
              </a:spcAft>
            </a:pPr>
            <a:r>
              <a:rPr lang="fr-FR" sz="1800" b="0" i="0">
                <a:solidFill>
                  <a:srgbClr val="1C2830"/>
                </a:solidFill>
                <a:latin typeface="Calibri"/>
              </a:rPr>
              <a:t>./ désigne le dossier courant. Sans lui, le terminal cherche une commande installée, pas le programme.</a:t>
            </a:r>
          </a:p>
        </p:txBody>
      </p:sp>
      <p:sp>
        <p:nvSpPr>
          <p:cNvPr id="8" name="TextBox 7"/>
          <p:cNvSpPr txBox="1"/>
          <p:nvPr/>
        </p:nvSpPr>
        <p:spPr>
          <a:xfrm>
            <a:off x="502920" y="2377440"/>
            <a:ext cx="11155680" cy="365760"/>
          </a:xfrm>
          <a:prstGeom prst="rect">
            <a:avLst/>
          </a:prstGeom>
          <a:noFill/>
        </p:spPr>
        <p:txBody>
          <a:bodyPr wrap="square"/>
          <a:lstStyle/>
          <a:p>
            <a:pPr algn="l">
              <a:lnSpc>
                <a:spcPct val="105000"/>
              </a:lnSpc>
              <a:spcBef>
                <a:spcPts val="0"/>
              </a:spcBef>
              <a:spcAft>
                <a:spcPts val="0"/>
              </a:spcAft>
            </a:pPr>
            <a:r>
              <a:rPr lang="fr-FR" sz="2000" b="1" i="0">
                <a:solidFill>
                  <a:srgbClr val="4E6470"/>
                </a:solidFill>
                <a:latin typeface="Calibri"/>
              </a:rPr>
              <a:t>Les trois étapes, dans cet ordre</a:t>
            </a:r>
          </a:p>
        </p:txBody>
      </p:sp>
      <p:sp>
        <p:nvSpPr>
          <p:cNvPr id="9" name="Rounded Rectangle 8"/>
          <p:cNvSpPr/>
          <p:nvPr/>
        </p:nvSpPr>
        <p:spPr>
          <a:xfrm>
            <a:off x="502920" y="2880360"/>
            <a:ext cx="11183112" cy="1554480"/>
          </a:xfrm>
          <a:prstGeom prst="roundRect">
            <a:avLst>
              <a:gd name="adj" fmla="val 8000"/>
            </a:avLst>
          </a:prstGeom>
          <a:solidFill>
            <a:srgbClr val="E6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2953512"/>
            <a:ext cx="10817352" cy="1444752"/>
          </a:xfrm>
          <a:prstGeom prst="rect">
            <a:avLst/>
          </a:prstGeom>
          <a:noFill/>
        </p:spPr>
        <p:txBody>
          <a:bodyPr wrap="square"/>
          <a:lstStyle/>
          <a:p>
            <a:pPr algn="l">
              <a:lnSpc>
                <a:spcPct val="105000"/>
              </a:lnSpc>
              <a:spcBef>
                <a:spcPts val="0"/>
              </a:spcBef>
              <a:spcAft>
                <a:spcPts val="200"/>
              </a:spcAft>
            </a:pPr>
            <a:r>
              <a:rPr lang="fr-FR" sz="2400" b="0" i="0">
                <a:solidFill>
                  <a:srgbClr val="0C384C"/>
                </a:solidFill>
                <a:latin typeface="Consolas"/>
              </a:rPr>
              <a:t>cd /c/Users/Alice/Desktop/TP3</a:t>
            </a:r>
          </a:p>
          <a:p>
            <a:pPr algn="l">
              <a:lnSpc>
                <a:spcPct val="105000"/>
              </a:lnSpc>
              <a:spcBef>
                <a:spcPts val="0"/>
              </a:spcBef>
              <a:spcAft>
                <a:spcPts val="200"/>
              </a:spcAft>
            </a:pPr>
            <a:r>
              <a:rPr lang="fr-FR" sz="2400" b="0" i="0">
                <a:solidFill>
                  <a:srgbClr val="0C384C"/>
                </a:solidFill>
                <a:latin typeface="Consolas"/>
              </a:rPr>
              <a:t>gcc -Wall -Wextra fibo.c -o fibo</a:t>
            </a:r>
          </a:p>
          <a:p>
            <a:pPr algn="l">
              <a:lnSpc>
                <a:spcPct val="105000"/>
              </a:lnSpc>
              <a:spcBef>
                <a:spcPts val="0"/>
              </a:spcBef>
              <a:spcAft>
                <a:spcPts val="200"/>
              </a:spcAft>
            </a:pPr>
            <a:r>
              <a:rPr lang="fr-FR" sz="2400" b="0" i="0">
                <a:solidFill>
                  <a:srgbClr val="0C384C"/>
                </a:solidFill>
                <a:latin typeface="Consolas"/>
              </a:rPr>
              <a:t>./fibo</a:t>
            </a:r>
          </a:p>
        </p:txBody>
      </p:sp>
      <p:sp>
        <p:nvSpPr>
          <p:cNvPr id="11" name="TextBox 10"/>
          <p:cNvSpPr txBox="1"/>
          <p:nvPr/>
        </p:nvSpPr>
        <p:spPr>
          <a:xfrm>
            <a:off x="502920" y="4617720"/>
            <a:ext cx="11155680" cy="1737360"/>
          </a:xfrm>
          <a:prstGeom prst="rect">
            <a:avLst/>
          </a:prstGeom>
          <a:noFill/>
        </p:spPr>
        <p:txBody>
          <a:bodyPr wrap="square"/>
          <a:lstStyle/>
          <a:p>
            <a:pPr marL="274320" indent="-219456" algn="l">
              <a:lnSpc>
                <a:spcPct val="105000"/>
              </a:lnSpc>
              <a:spcBef>
                <a:spcPts val="0"/>
              </a:spcBef>
              <a:spcAft>
                <a:spcPts val="600"/>
              </a:spcAft>
            </a:pPr>
            <a:r>
              <a:rPr lang="fr-FR" sz="2200" b="0" i="0">
                <a:solidFill>
                  <a:srgbClr val="1C2830"/>
                </a:solidFill>
                <a:latin typeface="Calibri"/>
              </a:rPr>
              <a:t>•  On sauve le .c, on recompile, on relance.</a:t>
            </a:r>
          </a:p>
          <a:p>
            <a:pPr marL="274320" indent="-219456" algn="l">
              <a:lnSpc>
                <a:spcPct val="105000"/>
              </a:lnSpc>
              <a:spcBef>
                <a:spcPts val="0"/>
              </a:spcBef>
              <a:spcAft>
                <a:spcPts val="600"/>
              </a:spcAft>
            </a:pPr>
            <a:r>
              <a:rPr lang="fr-FR" sz="2200" b="0" i="0">
                <a:solidFill>
                  <a:srgbClr val="1C2830"/>
                </a:solidFill>
                <a:latin typeface="Calibri"/>
              </a:rPr>
              <a:t>•  gcc produit fibo.exe. Dans UCRT64, ./fibo le lance.</a:t>
            </a:r>
          </a:p>
          <a:p>
            <a:pPr marL="274320" indent="-219456" algn="l">
              <a:lnSpc>
                <a:spcPct val="105000"/>
              </a:lnSpc>
              <a:spcBef>
                <a:spcPts val="0"/>
              </a:spcBef>
              <a:spcAft>
                <a:spcPts val="0"/>
              </a:spcAft>
            </a:pPr>
            <a:r>
              <a:rPr lang="fr-FR" sz="2200" b="0" i="0">
                <a:solidFill>
                  <a:srgbClr val="1C2830"/>
                </a:solidFill>
                <a:latin typeface="Calibri"/>
              </a:rPr>
              <a:t>•  S'il reste une erreur, l'ancien exécutable n'est pas remplacé.</a:t>
            </a:r>
          </a:p>
        </p:txBody>
      </p:sp>
      <p:sp>
        <p:nvSpPr>
          <p:cNvPr id="12" name="TextBox 11"/>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7  /  27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95360" y="-1371600"/>
            <a:ext cx="5669280" cy="5669280"/>
          </a:xfrm>
          <a:prstGeom prst="ellipse">
            <a:avLst/>
          </a:prstGeom>
          <a:solidFill>
            <a:srgbClr val="0E4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148840"/>
            <a:ext cx="10058400" cy="411480"/>
          </a:xfrm>
          <a:prstGeom prst="rect">
            <a:avLst/>
          </a:prstGeom>
          <a:noFill/>
        </p:spPr>
        <p:txBody>
          <a:bodyPr wrap="square"/>
          <a:lstStyle/>
          <a:p>
            <a:pPr algn="l">
              <a:lnSpc>
                <a:spcPct val="105000"/>
              </a:lnSpc>
              <a:spcBef>
                <a:spcPts val="0"/>
              </a:spcBef>
              <a:spcAft>
                <a:spcPts val="600"/>
              </a:spcAft>
            </a:pPr>
            <a:r>
              <a:rPr lang="fr-FR" sz="1600" b="1" i="0">
                <a:solidFill>
                  <a:srgbClr val="9FC8D6"/>
                </a:solidFill>
                <a:latin typeface="Calibri"/>
              </a:rPr>
              <a:t>EXERCICE 5</a:t>
            </a:r>
          </a:p>
        </p:txBody>
      </p:sp>
      <p:sp>
        <p:nvSpPr>
          <p:cNvPr id="5" name="TextBox 4"/>
          <p:cNvSpPr txBox="1"/>
          <p:nvPr/>
        </p:nvSpPr>
        <p:spPr>
          <a:xfrm>
            <a:off x="731520" y="2606040"/>
            <a:ext cx="10515600" cy="1188720"/>
          </a:xfrm>
          <a:prstGeom prst="rect">
            <a:avLst/>
          </a:prstGeom>
          <a:noFill/>
        </p:spPr>
        <p:txBody>
          <a:bodyPr wrap="square"/>
          <a:lstStyle/>
          <a:p>
            <a:pPr algn="l">
              <a:lnSpc>
                <a:spcPct val="105000"/>
              </a:lnSpc>
              <a:spcBef>
                <a:spcPts val="0"/>
              </a:spcBef>
              <a:spcAft>
                <a:spcPts val="600"/>
              </a:spcAft>
            </a:pPr>
            <a:r>
              <a:rPr lang="fr-FR" sz="4400" b="0" i="0">
                <a:solidFill>
                  <a:srgbClr val="FFFFFF"/>
                </a:solidFill>
                <a:latin typeface="Calibri"/>
              </a:rPr>
              <a:t>Suite de Fibonacci</a:t>
            </a:r>
          </a:p>
        </p:txBody>
      </p:sp>
      <p:sp>
        <p:nvSpPr>
          <p:cNvPr id="6" name="TextBox 5"/>
          <p:cNvSpPr txBox="1"/>
          <p:nvPr/>
        </p:nvSpPr>
        <p:spPr>
          <a:xfrm>
            <a:off x="731520" y="3931920"/>
            <a:ext cx="9144000" cy="731520"/>
          </a:xfrm>
          <a:prstGeom prst="rect">
            <a:avLst/>
          </a:prstGeom>
          <a:noFill/>
        </p:spPr>
        <p:txBody>
          <a:bodyPr wrap="square"/>
          <a:lstStyle/>
          <a:p>
            <a:pPr algn="l">
              <a:lnSpc>
                <a:spcPct val="105000"/>
              </a:lnSpc>
              <a:spcBef>
                <a:spcPts val="0"/>
              </a:spcBef>
              <a:spcAft>
                <a:spcPts val="600"/>
              </a:spcAft>
            </a:pPr>
            <a:r>
              <a:rPr lang="fr-FR" sz="2200" b="0" i="0">
                <a:solidFill>
                  <a:srgbClr val="C5D8E0"/>
                </a:solidFill>
                <a:latin typeface="Calibri"/>
              </a:rPr>
              <a:t>Calculer le terme d'indice n</a:t>
            </a:r>
          </a:p>
        </p:txBody>
      </p:sp>
      <p:sp>
        <p:nvSpPr>
          <p:cNvPr id="7" name="TextBox 6"/>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C5D5DC"/>
                </a:solidFill>
                <a:latin typeface="Calibri"/>
              </a:rPr>
              <a:t>8  /  27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Exercice 5  —  Suite de Fibonacci</a:t>
            </a:r>
          </a:p>
        </p:txBody>
      </p:sp>
      <p:sp>
        <p:nvSpPr>
          <p:cNvPr id="5" name="TextBox 4"/>
          <p:cNvSpPr txBox="1"/>
          <p:nvPr/>
        </p:nvSpPr>
        <p:spPr>
          <a:xfrm>
            <a:off x="502920" y="1417320"/>
            <a:ext cx="11155680" cy="731520"/>
          </a:xfrm>
          <a:prstGeom prst="rect">
            <a:avLst/>
          </a:prstGeom>
          <a:noFill/>
        </p:spPr>
        <p:txBody>
          <a:bodyPr wrap="square"/>
          <a:lstStyle/>
          <a:p>
            <a:pPr algn="l">
              <a:lnSpc>
                <a:spcPct val="105000"/>
              </a:lnSpc>
              <a:spcBef>
                <a:spcPts val="0"/>
              </a:spcBef>
              <a:spcAft>
                <a:spcPts val="0"/>
              </a:spcAft>
            </a:pPr>
            <a:r>
              <a:rPr lang="fr-FR" sz="2200" b="0" i="0">
                <a:solidFill>
                  <a:srgbClr val="1C2830"/>
                </a:solidFill>
                <a:latin typeface="Calibri"/>
              </a:rPr>
              <a:t>La suite est définie par</a:t>
            </a:r>
          </a:p>
        </p:txBody>
      </p:sp>
      <p:sp>
        <p:nvSpPr>
          <p:cNvPr id="6" name="Rounded Rectangle 5"/>
          <p:cNvSpPr/>
          <p:nvPr/>
        </p:nvSpPr>
        <p:spPr>
          <a:xfrm>
            <a:off x="502920" y="2194560"/>
            <a:ext cx="11183112" cy="123444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331720"/>
            <a:ext cx="10881360" cy="1005840"/>
          </a:xfrm>
          <a:prstGeom prst="rect">
            <a:avLst/>
          </a:prstGeom>
          <a:noFill/>
        </p:spPr>
        <p:txBody>
          <a:bodyPr wrap="square"/>
          <a:lstStyle/>
          <a:p>
            <a:pPr algn="ctr">
              <a:lnSpc>
                <a:spcPct val="105000"/>
              </a:lnSpc>
              <a:spcBef>
                <a:spcPts val="0"/>
              </a:spcBef>
              <a:spcAft>
                <a:spcPts val="0"/>
              </a:spcAft>
            </a:pPr>
            <a:r>
              <a:rPr lang="fr-FR" sz="2800" b="0" i="0">
                <a:solidFill>
                  <a:srgbClr val="0C384C"/>
                </a:solidFill>
                <a:latin typeface="Calibri"/>
              </a:rPr>
              <a:t>F₁  =  1        F₂  =  1        Fₙ  =  Fₙ₋₁  +  Fₙ₋₂    pour n &gt; 2</a:t>
            </a:r>
          </a:p>
        </p:txBody>
      </p:sp>
      <p:sp>
        <p:nvSpPr>
          <p:cNvPr id="8" name="TextBox 7"/>
          <p:cNvSpPr txBox="1"/>
          <p:nvPr/>
        </p:nvSpPr>
        <p:spPr>
          <a:xfrm>
            <a:off x="502920" y="3703320"/>
            <a:ext cx="11155680" cy="1463040"/>
          </a:xfrm>
          <a:prstGeom prst="rect">
            <a:avLst/>
          </a:prstGeom>
          <a:noFill/>
        </p:spPr>
        <p:txBody>
          <a:bodyPr wrap="square"/>
          <a:lstStyle/>
          <a:p>
            <a:pPr algn="l">
              <a:lnSpc>
                <a:spcPct val="105000"/>
              </a:lnSpc>
              <a:spcBef>
                <a:spcPts val="0"/>
              </a:spcBef>
              <a:spcAft>
                <a:spcPts val="1400"/>
              </a:spcAft>
            </a:pPr>
            <a:r>
              <a:rPr lang="fr-FR" sz="2400" b="0" i="0">
                <a:solidFill>
                  <a:srgbClr val="1C2830"/>
                </a:solidFill>
                <a:latin typeface="Calibri"/>
              </a:rPr>
              <a:t>Écrire un programme qui lit un indice n, avec n ≥ 1, et affiche Fₙ.</a:t>
            </a:r>
          </a:p>
          <a:p>
            <a:pPr algn="l">
              <a:lnSpc>
                <a:spcPct val="105000"/>
              </a:lnSpc>
              <a:spcBef>
                <a:spcPts val="0"/>
              </a:spcBef>
              <a:spcAft>
                <a:spcPts val="0"/>
              </a:spcAft>
            </a:pPr>
            <a:r>
              <a:rPr lang="fr-FR" sz="2200" b="0" i="0">
                <a:solidFill>
                  <a:srgbClr val="4E6470"/>
                </a:solidFill>
                <a:latin typeface="Calibri"/>
              </a:rPr>
              <a:t>Exemples :   F₁ = 1     F₂ = 1     F₆ = 8     F₁₀ = 55</a:t>
            </a:r>
          </a:p>
        </p:txBody>
      </p:sp>
      <p:sp>
        <p:nvSpPr>
          <p:cNvPr id="9" name="TextBox 8"/>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9  /  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Deux termes suffisent</a:t>
            </a:r>
          </a:p>
        </p:txBody>
      </p:sp>
      <p:sp>
        <p:nvSpPr>
          <p:cNvPr id="5" name="TextBox 4"/>
          <p:cNvSpPr txBox="1"/>
          <p:nvPr/>
        </p:nvSpPr>
        <p:spPr>
          <a:xfrm>
            <a:off x="502920" y="1280160"/>
            <a:ext cx="11155680" cy="502920"/>
          </a:xfrm>
          <a:prstGeom prst="rect">
            <a:avLst/>
          </a:prstGeom>
          <a:noFill/>
        </p:spPr>
        <p:txBody>
          <a:bodyPr wrap="square"/>
          <a:lstStyle/>
          <a:p>
            <a:pPr algn="l">
              <a:lnSpc>
                <a:spcPct val="105000"/>
              </a:lnSpc>
              <a:spcBef>
                <a:spcPts val="0"/>
              </a:spcBef>
              <a:spcAft>
                <a:spcPts val="0"/>
              </a:spcAft>
            </a:pPr>
            <a:r>
              <a:rPr lang="fr-FR" sz="2200" b="0" i="0">
                <a:solidFill>
                  <a:srgbClr val="1C2830"/>
                </a:solidFill>
                <a:latin typeface="Calibri"/>
              </a:rPr>
              <a:t>Chaque terme est la somme des deux précédents. On ne garde qu'eux.</a:t>
            </a:r>
          </a:p>
        </p:txBody>
      </p:sp>
      <p:sp>
        <p:nvSpPr>
          <p:cNvPr id="6" name="Rounded Rectangle 5"/>
          <p:cNvSpPr/>
          <p:nvPr/>
        </p:nvSpPr>
        <p:spPr>
          <a:xfrm>
            <a:off x="640080" y="2057400"/>
            <a:ext cx="1965960" cy="1051560"/>
          </a:xfrm>
          <a:prstGeom prst="roundRect">
            <a:avLst>
              <a:gd name="adj" fmla="val 12000"/>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fr-FR" sz="3200" b="1" i="0">
                <a:solidFill>
                  <a:srgbClr val="FFFFFF"/>
                </a:solidFill>
                <a:latin typeface="Calibri"/>
              </a:rPr>
              <a:t>1</a:t>
            </a:r>
          </a:p>
        </p:txBody>
      </p:sp>
      <p:sp>
        <p:nvSpPr>
          <p:cNvPr id="7" name="TextBox 6"/>
          <p:cNvSpPr txBox="1"/>
          <p:nvPr/>
        </p:nvSpPr>
        <p:spPr>
          <a:xfrm>
            <a:off x="640080" y="3136391"/>
            <a:ext cx="1965960" cy="347472"/>
          </a:xfrm>
          <a:prstGeom prst="rect">
            <a:avLst/>
          </a:prstGeom>
          <a:noFill/>
        </p:spPr>
        <p:txBody>
          <a:bodyPr wrap="square"/>
          <a:lstStyle/>
          <a:p>
            <a:pPr algn="ctr">
              <a:lnSpc>
                <a:spcPct val="105000"/>
              </a:lnSpc>
              <a:spcBef>
                <a:spcPts val="0"/>
              </a:spcBef>
              <a:spcAft>
                <a:spcPts val="0"/>
              </a:spcAft>
            </a:pPr>
            <a:r>
              <a:rPr lang="fr-FR" sz="1600" b="0" i="0">
                <a:solidFill>
                  <a:srgbClr val="4E6470"/>
                </a:solidFill>
                <a:latin typeface="Calibri"/>
              </a:rPr>
              <a:t>F1</a:t>
            </a:r>
          </a:p>
        </p:txBody>
      </p:sp>
      <p:sp>
        <p:nvSpPr>
          <p:cNvPr id="8" name="TextBox 7"/>
          <p:cNvSpPr txBox="1"/>
          <p:nvPr/>
        </p:nvSpPr>
        <p:spPr>
          <a:xfrm>
            <a:off x="2651760" y="2240280"/>
            <a:ext cx="640080" cy="731520"/>
          </a:xfrm>
          <a:prstGeom prst="rect">
            <a:avLst/>
          </a:prstGeom>
          <a:noFill/>
        </p:spPr>
        <p:txBody>
          <a:bodyPr wrap="square"/>
          <a:lstStyle/>
          <a:p>
            <a:pPr algn="ctr">
              <a:lnSpc>
                <a:spcPct val="105000"/>
              </a:lnSpc>
              <a:spcBef>
                <a:spcPts val="0"/>
              </a:spcBef>
              <a:spcAft>
                <a:spcPts val="0"/>
              </a:spcAft>
            </a:pPr>
            <a:r>
              <a:rPr lang="fr-FR" sz="3600" b="1" i="0">
                <a:solidFill>
                  <a:srgbClr val="0C384C"/>
                </a:solidFill>
                <a:latin typeface="Calibri"/>
              </a:rPr>
              <a:t>+</a:t>
            </a:r>
          </a:p>
        </p:txBody>
      </p:sp>
      <p:sp>
        <p:nvSpPr>
          <p:cNvPr id="9" name="Rounded Rectangle 8"/>
          <p:cNvSpPr/>
          <p:nvPr/>
        </p:nvSpPr>
        <p:spPr>
          <a:xfrm>
            <a:off x="3291840" y="2057400"/>
            <a:ext cx="1965960" cy="1051560"/>
          </a:xfrm>
          <a:prstGeom prst="roundRect">
            <a:avLst>
              <a:gd name="adj" fmla="val 12000"/>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fr-FR" sz="3200" b="1" i="0">
                <a:solidFill>
                  <a:srgbClr val="FFFFFF"/>
                </a:solidFill>
                <a:latin typeface="Calibri"/>
              </a:rPr>
              <a:t>1</a:t>
            </a:r>
          </a:p>
        </p:txBody>
      </p:sp>
      <p:sp>
        <p:nvSpPr>
          <p:cNvPr id="10" name="TextBox 9"/>
          <p:cNvSpPr txBox="1"/>
          <p:nvPr/>
        </p:nvSpPr>
        <p:spPr>
          <a:xfrm>
            <a:off x="3291840" y="3136391"/>
            <a:ext cx="1965960" cy="347472"/>
          </a:xfrm>
          <a:prstGeom prst="rect">
            <a:avLst/>
          </a:prstGeom>
          <a:noFill/>
        </p:spPr>
        <p:txBody>
          <a:bodyPr wrap="square"/>
          <a:lstStyle/>
          <a:p>
            <a:pPr algn="ctr">
              <a:lnSpc>
                <a:spcPct val="105000"/>
              </a:lnSpc>
              <a:spcBef>
                <a:spcPts val="0"/>
              </a:spcBef>
              <a:spcAft>
                <a:spcPts val="0"/>
              </a:spcAft>
            </a:pPr>
            <a:r>
              <a:rPr lang="fr-FR" sz="1600" b="0" i="0">
                <a:solidFill>
                  <a:srgbClr val="4E6470"/>
                </a:solidFill>
                <a:latin typeface="Calibri"/>
              </a:rPr>
              <a:t>F2</a:t>
            </a:r>
          </a:p>
        </p:txBody>
      </p:sp>
      <p:sp>
        <p:nvSpPr>
          <p:cNvPr id="11" name="TextBox 10"/>
          <p:cNvSpPr txBox="1"/>
          <p:nvPr/>
        </p:nvSpPr>
        <p:spPr>
          <a:xfrm>
            <a:off x="5303520" y="2240280"/>
            <a:ext cx="640080" cy="731520"/>
          </a:xfrm>
          <a:prstGeom prst="rect">
            <a:avLst/>
          </a:prstGeom>
          <a:noFill/>
        </p:spPr>
        <p:txBody>
          <a:bodyPr wrap="square"/>
          <a:lstStyle/>
          <a:p>
            <a:pPr algn="ctr">
              <a:lnSpc>
                <a:spcPct val="105000"/>
              </a:lnSpc>
              <a:spcBef>
                <a:spcPts val="0"/>
              </a:spcBef>
              <a:spcAft>
                <a:spcPts val="0"/>
              </a:spcAft>
            </a:pPr>
            <a:r>
              <a:rPr lang="fr-FR" sz="3600" b="1" i="0">
                <a:solidFill>
                  <a:srgbClr val="0C384C"/>
                </a:solidFill>
                <a:latin typeface="Calibri"/>
              </a:rPr>
              <a:t>=</a:t>
            </a:r>
          </a:p>
        </p:txBody>
      </p:sp>
      <p:sp>
        <p:nvSpPr>
          <p:cNvPr id="12" name="Rounded Rectangle 11"/>
          <p:cNvSpPr/>
          <p:nvPr/>
        </p:nvSpPr>
        <p:spPr>
          <a:xfrm>
            <a:off x="5989320" y="2057400"/>
            <a:ext cx="1965960" cy="1051560"/>
          </a:xfrm>
          <a:prstGeom prst="roundRect">
            <a:avLst>
              <a:gd name="adj" fmla="val 12000"/>
            </a:avLst>
          </a:prstGeom>
          <a:solidFill>
            <a:srgbClr val="14526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fr-FR" sz="3200" b="1" i="0">
                <a:solidFill>
                  <a:srgbClr val="FFFFFF"/>
                </a:solidFill>
                <a:latin typeface="Calibri"/>
              </a:rPr>
              <a:t>2</a:t>
            </a:r>
          </a:p>
        </p:txBody>
      </p:sp>
      <p:sp>
        <p:nvSpPr>
          <p:cNvPr id="13" name="TextBox 12"/>
          <p:cNvSpPr txBox="1"/>
          <p:nvPr/>
        </p:nvSpPr>
        <p:spPr>
          <a:xfrm>
            <a:off x="5989320" y="3136391"/>
            <a:ext cx="1965960" cy="347472"/>
          </a:xfrm>
          <a:prstGeom prst="rect">
            <a:avLst/>
          </a:prstGeom>
          <a:noFill/>
        </p:spPr>
        <p:txBody>
          <a:bodyPr wrap="square"/>
          <a:lstStyle/>
          <a:p>
            <a:pPr algn="ctr">
              <a:lnSpc>
                <a:spcPct val="105000"/>
              </a:lnSpc>
              <a:spcBef>
                <a:spcPts val="0"/>
              </a:spcBef>
              <a:spcAft>
                <a:spcPts val="0"/>
              </a:spcAft>
            </a:pPr>
            <a:r>
              <a:rPr lang="fr-FR" sz="1600" b="0" i="0">
                <a:solidFill>
                  <a:srgbClr val="4E6470"/>
                </a:solidFill>
                <a:latin typeface="Calibri"/>
              </a:rPr>
              <a:t>F3</a:t>
            </a:r>
          </a:p>
        </p:txBody>
      </p:sp>
      <p:sp>
        <p:nvSpPr>
          <p:cNvPr id="14" name="TextBox 13"/>
          <p:cNvSpPr txBox="1"/>
          <p:nvPr/>
        </p:nvSpPr>
        <p:spPr>
          <a:xfrm>
            <a:off x="502920" y="3703320"/>
            <a:ext cx="11155680" cy="411480"/>
          </a:xfrm>
          <a:prstGeom prst="rect">
            <a:avLst/>
          </a:prstGeom>
          <a:noFill/>
        </p:spPr>
        <p:txBody>
          <a:bodyPr wrap="square"/>
          <a:lstStyle/>
          <a:p>
            <a:pPr algn="l">
              <a:lnSpc>
                <a:spcPct val="105000"/>
              </a:lnSpc>
              <a:spcBef>
                <a:spcPts val="0"/>
              </a:spcBef>
              <a:spcAft>
                <a:spcPts val="0"/>
              </a:spcAft>
            </a:pPr>
            <a:r>
              <a:rPr lang="fr-FR" sz="2200" b="0" i="0">
                <a:solidFill>
                  <a:srgbClr val="1C2830"/>
                </a:solidFill>
                <a:latin typeface="Calibri"/>
              </a:rPr>
              <a:t>On décale : F1 prend la valeur de F2, F2 prend la valeur de F3.</a:t>
            </a:r>
          </a:p>
        </p:txBody>
      </p:sp>
      <p:sp>
        <p:nvSpPr>
          <p:cNvPr id="15" name="Rounded Rectangle 14"/>
          <p:cNvSpPr/>
          <p:nvPr/>
        </p:nvSpPr>
        <p:spPr>
          <a:xfrm>
            <a:off x="640080" y="4251960"/>
            <a:ext cx="1965960" cy="1051560"/>
          </a:xfrm>
          <a:prstGeom prst="roundRect">
            <a:avLst>
              <a:gd name="adj" fmla="val 12000"/>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fr-FR" sz="3200" b="1" i="0">
                <a:solidFill>
                  <a:srgbClr val="FFFFFF"/>
                </a:solidFill>
                <a:latin typeface="Calibri"/>
              </a:rPr>
              <a:t>1</a:t>
            </a:r>
          </a:p>
        </p:txBody>
      </p:sp>
      <p:sp>
        <p:nvSpPr>
          <p:cNvPr id="16" name="TextBox 15"/>
          <p:cNvSpPr txBox="1"/>
          <p:nvPr/>
        </p:nvSpPr>
        <p:spPr>
          <a:xfrm>
            <a:off x="640080" y="5330952"/>
            <a:ext cx="1965960" cy="347472"/>
          </a:xfrm>
          <a:prstGeom prst="rect">
            <a:avLst/>
          </a:prstGeom>
          <a:noFill/>
        </p:spPr>
        <p:txBody>
          <a:bodyPr wrap="square"/>
          <a:lstStyle/>
          <a:p>
            <a:pPr algn="ctr">
              <a:lnSpc>
                <a:spcPct val="105000"/>
              </a:lnSpc>
              <a:spcBef>
                <a:spcPts val="0"/>
              </a:spcBef>
              <a:spcAft>
                <a:spcPts val="0"/>
              </a:spcAft>
            </a:pPr>
            <a:r>
              <a:rPr lang="fr-FR" sz="1600" b="0" i="0">
                <a:solidFill>
                  <a:srgbClr val="4E6470"/>
                </a:solidFill>
                <a:latin typeface="Calibri"/>
              </a:rPr>
              <a:t>nouveau F1</a:t>
            </a:r>
          </a:p>
        </p:txBody>
      </p:sp>
      <p:sp>
        <p:nvSpPr>
          <p:cNvPr id="17" name="Rounded Rectangle 16"/>
          <p:cNvSpPr/>
          <p:nvPr/>
        </p:nvSpPr>
        <p:spPr>
          <a:xfrm>
            <a:off x="3291840" y="4251960"/>
            <a:ext cx="1965960" cy="1051560"/>
          </a:xfrm>
          <a:prstGeom prst="roundRect">
            <a:avLst>
              <a:gd name="adj" fmla="val 12000"/>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fr-FR" sz="3200" b="1" i="0">
                <a:solidFill>
                  <a:srgbClr val="FFFFFF"/>
                </a:solidFill>
                <a:latin typeface="Calibri"/>
              </a:rPr>
              <a:t>2</a:t>
            </a:r>
          </a:p>
        </p:txBody>
      </p:sp>
      <p:sp>
        <p:nvSpPr>
          <p:cNvPr id="18" name="TextBox 17"/>
          <p:cNvSpPr txBox="1"/>
          <p:nvPr/>
        </p:nvSpPr>
        <p:spPr>
          <a:xfrm>
            <a:off x="3291840" y="5330952"/>
            <a:ext cx="1965960" cy="347472"/>
          </a:xfrm>
          <a:prstGeom prst="rect">
            <a:avLst/>
          </a:prstGeom>
          <a:noFill/>
        </p:spPr>
        <p:txBody>
          <a:bodyPr wrap="square"/>
          <a:lstStyle/>
          <a:p>
            <a:pPr algn="ctr">
              <a:lnSpc>
                <a:spcPct val="105000"/>
              </a:lnSpc>
              <a:spcBef>
                <a:spcPts val="0"/>
              </a:spcBef>
              <a:spcAft>
                <a:spcPts val="0"/>
              </a:spcAft>
            </a:pPr>
            <a:r>
              <a:rPr lang="fr-FR" sz="1600" b="0" i="0">
                <a:solidFill>
                  <a:srgbClr val="4E6470"/>
                </a:solidFill>
                <a:latin typeface="Calibri"/>
              </a:rPr>
              <a:t>nouveau F2</a:t>
            </a:r>
          </a:p>
        </p:txBody>
      </p:sp>
      <p:sp>
        <p:nvSpPr>
          <p:cNvPr id="19" name="TextBox 18"/>
          <p:cNvSpPr txBox="1"/>
          <p:nvPr/>
        </p:nvSpPr>
        <p:spPr>
          <a:xfrm>
            <a:off x="5760720" y="4434840"/>
            <a:ext cx="5760720" cy="914400"/>
          </a:xfrm>
          <a:prstGeom prst="rect">
            <a:avLst/>
          </a:prstGeom>
          <a:noFill/>
        </p:spPr>
        <p:txBody>
          <a:bodyPr wrap="square"/>
          <a:lstStyle/>
          <a:p>
            <a:pPr algn="l">
              <a:lnSpc>
                <a:spcPct val="105000"/>
              </a:lnSpc>
              <a:spcBef>
                <a:spcPts val="0"/>
              </a:spcBef>
              <a:spcAft>
                <a:spcPts val="0"/>
              </a:spcAft>
            </a:pPr>
            <a:r>
              <a:rPr lang="fr-FR" sz="2200" b="0" i="0">
                <a:solidFill>
                  <a:srgbClr val="1C2830"/>
                </a:solidFill>
                <a:latin typeface="Calibri"/>
              </a:rPr>
              <a:t>On recommence jusqu'à l'indice demandé.</a:t>
            </a:r>
          </a:p>
        </p:txBody>
      </p:sp>
      <p:sp>
        <p:nvSpPr>
          <p:cNvPr id="20" name="TextBox 19"/>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10  /  27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Algorithme</a:t>
            </a:r>
          </a:p>
        </p:txBody>
      </p:sp>
      <p:sp>
        <p:nvSpPr>
          <p:cNvPr id="5" name="TextBox 4"/>
          <p:cNvSpPr txBox="1"/>
          <p:nvPr/>
        </p:nvSpPr>
        <p:spPr>
          <a:xfrm>
            <a:off x="502920" y="1325880"/>
            <a:ext cx="11155680" cy="4937760"/>
          </a:xfrm>
          <a:prstGeom prst="rect">
            <a:avLst/>
          </a:prstGeom>
          <a:noFill/>
        </p:spPr>
        <p:txBody>
          <a:bodyPr wrap="square"/>
          <a:lstStyle/>
          <a:p>
            <a:pPr marL="274320" indent="-219456" algn="l">
              <a:lnSpc>
                <a:spcPct val="105000"/>
              </a:lnSpc>
              <a:spcBef>
                <a:spcPts val="0"/>
              </a:spcBef>
              <a:spcAft>
                <a:spcPts val="800"/>
              </a:spcAft>
            </a:pPr>
            <a:r>
              <a:rPr lang="fr-FR" sz="2200" b="0" i="0">
                <a:solidFill>
                  <a:srgbClr val="1C2830"/>
                </a:solidFill>
                <a:latin typeface="Calibri"/>
              </a:rPr>
              <a:t>•  On lit l'indice n.</a:t>
            </a:r>
          </a:p>
          <a:p>
            <a:pPr marL="274320" indent="-219456" algn="l">
              <a:lnSpc>
                <a:spcPct val="105000"/>
              </a:lnSpc>
              <a:spcBef>
                <a:spcPts val="0"/>
              </a:spcBef>
              <a:spcAft>
                <a:spcPts val="800"/>
              </a:spcAft>
            </a:pPr>
            <a:r>
              <a:rPr lang="fr-FR" sz="2200" b="0" i="0">
                <a:solidFill>
                  <a:srgbClr val="1C2830"/>
                </a:solidFill>
                <a:latin typeface="Calibri"/>
              </a:rPr>
              <a:t>•  Si n vaut 1 ou 2, on affiche 1 et on s'arrête.</a:t>
            </a:r>
          </a:p>
          <a:p>
            <a:pPr marL="274320" indent="-219456" algn="l">
              <a:lnSpc>
                <a:spcPct val="105000"/>
              </a:lnSpc>
              <a:spcBef>
                <a:spcPts val="0"/>
              </a:spcBef>
              <a:spcAft>
                <a:spcPts val="800"/>
              </a:spcAft>
            </a:pPr>
            <a:r>
              <a:rPr lang="fr-FR" sz="2200" b="0" i="0">
                <a:solidFill>
                  <a:srgbClr val="1C2830"/>
                </a:solidFill>
                <a:latin typeface="Calibri"/>
              </a:rPr>
              <a:t>•  On initialise F1 et F2 à 1.</a:t>
            </a:r>
          </a:p>
          <a:p>
            <a:pPr marL="274320" indent="-219456" algn="l">
              <a:lnSpc>
                <a:spcPct val="105000"/>
              </a:lnSpc>
              <a:spcBef>
                <a:spcPts val="0"/>
              </a:spcBef>
              <a:spcAft>
                <a:spcPts val="400"/>
              </a:spcAft>
            </a:pPr>
            <a:r>
              <a:rPr lang="fr-FR" sz="2200" b="0" i="0">
                <a:solidFill>
                  <a:srgbClr val="1C2830"/>
                </a:solidFill>
                <a:latin typeface="Calibri"/>
              </a:rPr>
              <a:t>•  Pour i allant de 3 à n :</a:t>
            </a:r>
          </a:p>
          <a:p>
            <a:pPr marL="603503" algn="l">
              <a:lnSpc>
                <a:spcPct val="105000"/>
              </a:lnSpc>
              <a:spcBef>
                <a:spcPts val="0"/>
              </a:spcBef>
              <a:spcAft>
                <a:spcPts val="200"/>
              </a:spcAft>
            </a:pPr>
            <a:r>
              <a:rPr lang="fr-FR" sz="2200" b="0" i="0">
                <a:solidFill>
                  <a:srgbClr val="1C2830"/>
                </a:solidFill>
                <a:latin typeface="Calibri"/>
              </a:rPr>
              <a:t>F3 prend la valeur F1 + F2</a:t>
            </a:r>
          </a:p>
          <a:p>
            <a:pPr marL="603503" algn="l">
              <a:lnSpc>
                <a:spcPct val="105000"/>
              </a:lnSpc>
              <a:spcBef>
                <a:spcPts val="0"/>
              </a:spcBef>
              <a:spcAft>
                <a:spcPts val="200"/>
              </a:spcAft>
            </a:pPr>
            <a:r>
              <a:rPr lang="fr-FR" sz="2200" b="0" i="0">
                <a:solidFill>
                  <a:srgbClr val="1C2830"/>
                </a:solidFill>
                <a:latin typeface="Calibri"/>
              </a:rPr>
              <a:t>F1 prend la valeur de F2</a:t>
            </a:r>
          </a:p>
          <a:p>
            <a:pPr marL="603503" algn="l">
              <a:lnSpc>
                <a:spcPct val="105000"/>
              </a:lnSpc>
              <a:spcBef>
                <a:spcPts val="0"/>
              </a:spcBef>
              <a:spcAft>
                <a:spcPts val="800"/>
              </a:spcAft>
            </a:pPr>
            <a:r>
              <a:rPr lang="fr-FR" sz="2200" b="0" i="0">
                <a:solidFill>
                  <a:srgbClr val="1C2830"/>
                </a:solidFill>
                <a:latin typeface="Calibri"/>
              </a:rPr>
              <a:t>F2 prend la valeur de F3</a:t>
            </a:r>
          </a:p>
          <a:p>
            <a:pPr marL="274320" indent="-219456" algn="l">
              <a:lnSpc>
                <a:spcPct val="105000"/>
              </a:lnSpc>
              <a:spcBef>
                <a:spcPts val="0"/>
              </a:spcBef>
              <a:spcAft>
                <a:spcPts val="1400"/>
              </a:spcAft>
            </a:pPr>
            <a:r>
              <a:rPr lang="fr-FR" sz="2200" b="0" i="0">
                <a:solidFill>
                  <a:srgbClr val="1C2830"/>
                </a:solidFill>
                <a:latin typeface="Calibri"/>
              </a:rPr>
              <a:t>•  On affiche F3.</a:t>
            </a:r>
          </a:p>
          <a:p>
            <a:pPr algn="l">
              <a:lnSpc>
                <a:spcPct val="105000"/>
              </a:lnSpc>
              <a:spcBef>
                <a:spcPts val="0"/>
              </a:spcBef>
              <a:spcAft>
                <a:spcPts val="0"/>
              </a:spcAft>
            </a:pPr>
            <a:r>
              <a:rPr lang="fr-FR" sz="1800" b="0" i="1">
                <a:solidFill>
                  <a:srgbClr val="4E6470"/>
                </a:solidFill>
                <a:latin typeface="Calibri"/>
              </a:rPr>
              <a:t>Pour vérifier, on peut afficher F1, F2 et F3 à chaque tour, puis retirer ces affichages.</a:t>
            </a:r>
          </a:p>
        </p:txBody>
      </p:sp>
      <p:sp>
        <p:nvSpPr>
          <p:cNvPr id="6" name="TextBox 5"/>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11  /  27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Exemple  —  n = 6</a:t>
            </a:r>
          </a:p>
        </p:txBody>
      </p:sp>
      <p:sp>
        <p:nvSpPr>
          <p:cNvPr id="5" name="TextBox 4"/>
          <p:cNvSpPr txBox="1"/>
          <p:nvPr/>
        </p:nvSpPr>
        <p:spPr>
          <a:xfrm>
            <a:off x="502920" y="1261872"/>
            <a:ext cx="11155680" cy="347472"/>
          </a:xfrm>
          <a:prstGeom prst="rect">
            <a:avLst/>
          </a:prstGeom>
          <a:noFill/>
        </p:spPr>
        <p:txBody>
          <a:bodyPr wrap="square"/>
          <a:lstStyle/>
          <a:p>
            <a:pPr algn="l">
              <a:lnSpc>
                <a:spcPct val="105000"/>
              </a:lnSpc>
              <a:spcBef>
                <a:spcPts val="0"/>
              </a:spcBef>
              <a:spcAft>
                <a:spcPts val="0"/>
              </a:spcAft>
            </a:pPr>
            <a:r>
              <a:rPr lang="fr-FR" sz="1800" b="0" i="0">
                <a:solidFill>
                  <a:srgbClr val="4E6470"/>
                </a:solidFill>
                <a:latin typeface="Calibri"/>
              </a:rPr>
              <a:t>Au départ, F1 = 1 et F2 = 1. Chaque ligne est l'état après le tour.</a:t>
            </a:r>
          </a:p>
        </p:txBody>
      </p:sp>
      <p:graphicFrame>
        <p:nvGraphicFramePr>
          <p:cNvPr id="6" name="Table 5"/>
          <p:cNvGraphicFramePr>
            <a:graphicFrameLocks noGrp="1"/>
          </p:cNvGraphicFramePr>
          <p:nvPr/>
        </p:nvGraphicFramePr>
        <p:xfrm>
          <a:off x="502920" y="1691640"/>
          <a:ext cx="11183112" cy="233172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466344">
                <a:tc>
                  <a:txBody>
                    <a:bodyPr/>
                    <a:lstStyle/>
                    <a:p>
                      <a:pPr algn="ctr"/>
                      <a:r>
                        <a:rPr lang="fr-FR" sz="1600" b="1" i="0">
                          <a:solidFill>
                            <a:srgbClr val="FFFFFF"/>
                          </a:solidFill>
                          <a:latin typeface="Calibri"/>
                        </a:rPr>
                        <a:t>i</a:t>
                      </a:r>
                    </a:p>
                  </a:txBody>
                  <a:tcPr marL="73152" marR="73152" marT="36576" marB="36576" anchor="ctr">
                    <a:solidFill>
                      <a:srgbClr val="0C384C"/>
                    </a:solidFill>
                  </a:tcPr>
                </a:tc>
                <a:tc>
                  <a:txBody>
                    <a:bodyPr/>
                    <a:lstStyle/>
                    <a:p>
                      <a:pPr algn="ctr"/>
                      <a:r>
                        <a:rPr lang="fr-FR" sz="1600" b="1" i="0">
                          <a:solidFill>
                            <a:srgbClr val="FFFFFF"/>
                          </a:solidFill>
                          <a:latin typeface="Calibri"/>
                        </a:rPr>
                        <a:t>F3  =  F1 + F2</a:t>
                      </a:r>
                    </a:p>
                  </a:txBody>
                  <a:tcPr marL="73152" marR="73152" marT="36576" marB="36576" anchor="ctr">
                    <a:solidFill>
                      <a:srgbClr val="0C384C"/>
                    </a:solidFill>
                  </a:tcPr>
                </a:tc>
                <a:tc>
                  <a:txBody>
                    <a:bodyPr/>
                    <a:lstStyle/>
                    <a:p>
                      <a:pPr algn="ctr"/>
                      <a:r>
                        <a:rPr lang="fr-FR" sz="1600" b="1" i="0">
                          <a:solidFill>
                            <a:srgbClr val="FFFFFF"/>
                          </a:solidFill>
                          <a:latin typeface="Calibri"/>
                        </a:rPr>
                        <a:t>F1 ensuite</a:t>
                      </a:r>
                    </a:p>
                  </a:txBody>
                  <a:tcPr marL="73152" marR="73152" marT="36576" marB="36576" anchor="ctr">
                    <a:solidFill>
                      <a:srgbClr val="0C384C"/>
                    </a:solidFill>
                  </a:tcPr>
                </a:tc>
                <a:tc>
                  <a:txBody>
                    <a:bodyPr/>
                    <a:lstStyle/>
                    <a:p>
                      <a:pPr algn="ctr"/>
                      <a:r>
                        <a:rPr lang="fr-FR" sz="1600" b="1" i="0">
                          <a:solidFill>
                            <a:srgbClr val="FFFFFF"/>
                          </a:solidFill>
                          <a:latin typeface="Calibri"/>
                        </a:rPr>
                        <a:t>F2 ensuite</a:t>
                      </a:r>
                    </a:p>
                  </a:txBody>
                  <a:tcPr marL="73152" marR="73152" marT="36576" marB="36576" anchor="ctr">
                    <a:solidFill>
                      <a:srgbClr val="0C384C"/>
                    </a:solidFill>
                  </a:tcPr>
                </a:tc>
                <a:extLst>
                  <a:ext uri="{0D108BD9-81ED-4DB2-BD59-A6C34878D82A}">
                    <a16:rowId xmlns:a16="http://schemas.microsoft.com/office/drawing/2014/main" val="10000"/>
                  </a:ext>
                </a:extLst>
              </a:tr>
              <a:tr h="466344">
                <a:tc>
                  <a:txBody>
                    <a:bodyPr/>
                    <a:lstStyle/>
                    <a:p>
                      <a:pPr algn="ctr"/>
                      <a:r>
                        <a:rPr lang="fr-FR" sz="1600" b="0" i="0">
                          <a:solidFill>
                            <a:srgbClr val="1C2830"/>
                          </a:solidFill>
                          <a:latin typeface="Calibri"/>
                        </a:rPr>
                        <a:t>3</a:t>
                      </a:r>
                    </a:p>
                  </a:txBody>
                  <a:tcPr marL="73152" marR="73152" marT="36576" marB="36576" anchor="ctr">
                    <a:solidFill>
                      <a:srgbClr val="FFFFFF"/>
                    </a:solidFill>
                  </a:tcPr>
                </a:tc>
                <a:tc>
                  <a:txBody>
                    <a:bodyPr/>
                    <a:lstStyle/>
                    <a:p>
                      <a:pPr algn="ctr"/>
                      <a:r>
                        <a:rPr lang="fr-FR" sz="1600" b="0" i="0">
                          <a:solidFill>
                            <a:srgbClr val="1C2830"/>
                          </a:solidFill>
                          <a:latin typeface="Calibri"/>
                        </a:rPr>
                        <a:t>1 + 1  =  2</a:t>
                      </a:r>
                    </a:p>
                  </a:txBody>
                  <a:tcPr marL="73152" marR="73152" marT="36576" marB="36576" anchor="ctr">
                    <a:solidFill>
                      <a:srgbClr val="FFFFFF"/>
                    </a:solidFill>
                  </a:tcPr>
                </a:tc>
                <a:tc>
                  <a:txBody>
                    <a:bodyPr/>
                    <a:lstStyle/>
                    <a:p>
                      <a:pPr algn="ctr"/>
                      <a:r>
                        <a:rPr lang="fr-FR" sz="1600" b="0" i="0">
                          <a:solidFill>
                            <a:srgbClr val="1C2830"/>
                          </a:solidFill>
                          <a:latin typeface="Calibri"/>
                        </a:rPr>
                        <a:t>1</a:t>
                      </a:r>
                    </a:p>
                  </a:txBody>
                  <a:tcPr marL="73152" marR="73152" marT="36576" marB="36576" anchor="ctr">
                    <a:solidFill>
                      <a:srgbClr val="FFFFFF"/>
                    </a:solidFill>
                  </a:tcPr>
                </a:tc>
                <a:tc>
                  <a:txBody>
                    <a:bodyPr/>
                    <a:lstStyle/>
                    <a:p>
                      <a:pPr algn="ctr"/>
                      <a:r>
                        <a:rPr lang="fr-FR" sz="1600" b="0" i="0">
                          <a:solidFill>
                            <a:srgbClr val="1C2830"/>
                          </a:solidFill>
                          <a:latin typeface="Calibri"/>
                        </a:rPr>
                        <a:t>2</a:t>
                      </a:r>
                    </a:p>
                  </a:txBody>
                  <a:tcPr marL="73152" marR="73152" marT="36576" marB="36576" anchor="ctr">
                    <a:solidFill>
                      <a:srgbClr val="FFFFFF"/>
                    </a:solidFill>
                  </a:tcPr>
                </a:tc>
                <a:extLst>
                  <a:ext uri="{0D108BD9-81ED-4DB2-BD59-A6C34878D82A}">
                    <a16:rowId xmlns:a16="http://schemas.microsoft.com/office/drawing/2014/main" val="10001"/>
                  </a:ext>
                </a:extLst>
              </a:tr>
              <a:tr h="466344">
                <a:tc>
                  <a:txBody>
                    <a:bodyPr/>
                    <a:lstStyle/>
                    <a:p>
                      <a:pPr algn="ctr"/>
                      <a:r>
                        <a:rPr lang="fr-FR" sz="1600" b="0" i="0">
                          <a:solidFill>
                            <a:srgbClr val="1C2830"/>
                          </a:solidFill>
                          <a:latin typeface="Calibri"/>
                        </a:rPr>
                        <a:t>4</a:t>
                      </a:r>
                    </a:p>
                  </a:txBody>
                  <a:tcPr marL="73152" marR="73152" marT="36576" marB="36576" anchor="ctr">
                    <a:solidFill>
                      <a:srgbClr val="F4F8FA"/>
                    </a:solidFill>
                  </a:tcPr>
                </a:tc>
                <a:tc>
                  <a:txBody>
                    <a:bodyPr/>
                    <a:lstStyle/>
                    <a:p>
                      <a:pPr algn="ctr"/>
                      <a:r>
                        <a:rPr lang="fr-FR" sz="1600" b="0" i="0">
                          <a:solidFill>
                            <a:srgbClr val="1C2830"/>
                          </a:solidFill>
                          <a:latin typeface="Calibri"/>
                        </a:rPr>
                        <a:t>1 + 2  =  3</a:t>
                      </a:r>
                    </a:p>
                  </a:txBody>
                  <a:tcPr marL="73152" marR="73152" marT="36576" marB="36576" anchor="ctr">
                    <a:solidFill>
                      <a:srgbClr val="F4F8FA"/>
                    </a:solidFill>
                  </a:tcPr>
                </a:tc>
                <a:tc>
                  <a:txBody>
                    <a:bodyPr/>
                    <a:lstStyle/>
                    <a:p>
                      <a:pPr algn="ctr"/>
                      <a:r>
                        <a:rPr lang="fr-FR" sz="1600" b="0" i="0">
                          <a:solidFill>
                            <a:srgbClr val="1C2830"/>
                          </a:solidFill>
                          <a:latin typeface="Calibri"/>
                        </a:rPr>
                        <a:t>2</a:t>
                      </a:r>
                    </a:p>
                  </a:txBody>
                  <a:tcPr marL="73152" marR="73152" marT="36576" marB="36576" anchor="ctr">
                    <a:solidFill>
                      <a:srgbClr val="F4F8FA"/>
                    </a:solidFill>
                  </a:tcPr>
                </a:tc>
                <a:tc>
                  <a:txBody>
                    <a:bodyPr/>
                    <a:lstStyle/>
                    <a:p>
                      <a:pPr algn="ctr"/>
                      <a:r>
                        <a:rPr lang="fr-FR" sz="1600" b="0" i="0">
                          <a:solidFill>
                            <a:srgbClr val="1C2830"/>
                          </a:solidFill>
                          <a:latin typeface="Calibri"/>
                        </a:rPr>
                        <a:t>3</a:t>
                      </a:r>
                    </a:p>
                  </a:txBody>
                  <a:tcPr marL="73152" marR="73152" marT="36576" marB="36576" anchor="ctr">
                    <a:solidFill>
                      <a:srgbClr val="F4F8FA"/>
                    </a:solidFill>
                  </a:tcPr>
                </a:tc>
                <a:extLst>
                  <a:ext uri="{0D108BD9-81ED-4DB2-BD59-A6C34878D82A}">
                    <a16:rowId xmlns:a16="http://schemas.microsoft.com/office/drawing/2014/main" val="10002"/>
                  </a:ext>
                </a:extLst>
              </a:tr>
              <a:tr h="466344">
                <a:tc>
                  <a:txBody>
                    <a:bodyPr/>
                    <a:lstStyle/>
                    <a:p>
                      <a:pPr algn="ctr"/>
                      <a:r>
                        <a:rPr lang="fr-FR" sz="1600" b="0" i="0">
                          <a:solidFill>
                            <a:srgbClr val="1C2830"/>
                          </a:solidFill>
                          <a:latin typeface="Calibri"/>
                        </a:rPr>
                        <a:t>5</a:t>
                      </a:r>
                    </a:p>
                  </a:txBody>
                  <a:tcPr marL="73152" marR="73152" marT="36576" marB="36576" anchor="ctr">
                    <a:solidFill>
                      <a:srgbClr val="FFFFFF"/>
                    </a:solidFill>
                  </a:tcPr>
                </a:tc>
                <a:tc>
                  <a:txBody>
                    <a:bodyPr/>
                    <a:lstStyle/>
                    <a:p>
                      <a:pPr algn="ctr"/>
                      <a:r>
                        <a:rPr lang="fr-FR" sz="1600" b="0" i="0">
                          <a:solidFill>
                            <a:srgbClr val="1C2830"/>
                          </a:solidFill>
                          <a:latin typeface="Calibri"/>
                        </a:rPr>
                        <a:t>2 + 3  =  5</a:t>
                      </a:r>
                    </a:p>
                  </a:txBody>
                  <a:tcPr marL="73152" marR="73152" marT="36576" marB="36576" anchor="ctr">
                    <a:solidFill>
                      <a:srgbClr val="FFFFFF"/>
                    </a:solidFill>
                  </a:tcPr>
                </a:tc>
                <a:tc>
                  <a:txBody>
                    <a:bodyPr/>
                    <a:lstStyle/>
                    <a:p>
                      <a:pPr algn="ctr"/>
                      <a:r>
                        <a:rPr lang="fr-FR" sz="1600" b="0" i="0">
                          <a:solidFill>
                            <a:srgbClr val="1C2830"/>
                          </a:solidFill>
                          <a:latin typeface="Calibri"/>
                        </a:rPr>
                        <a:t>3</a:t>
                      </a:r>
                    </a:p>
                  </a:txBody>
                  <a:tcPr marL="73152" marR="73152" marT="36576" marB="36576" anchor="ctr">
                    <a:solidFill>
                      <a:srgbClr val="FFFFFF"/>
                    </a:solidFill>
                  </a:tcPr>
                </a:tc>
                <a:tc>
                  <a:txBody>
                    <a:bodyPr/>
                    <a:lstStyle/>
                    <a:p>
                      <a:pPr algn="ctr"/>
                      <a:r>
                        <a:rPr lang="fr-FR" sz="1600" b="0" i="0">
                          <a:solidFill>
                            <a:srgbClr val="1C2830"/>
                          </a:solidFill>
                          <a:latin typeface="Calibri"/>
                        </a:rPr>
                        <a:t>5</a:t>
                      </a:r>
                    </a:p>
                  </a:txBody>
                  <a:tcPr marL="73152" marR="73152" marT="36576" marB="36576" anchor="ctr">
                    <a:solidFill>
                      <a:srgbClr val="FFFFFF"/>
                    </a:solidFill>
                  </a:tcPr>
                </a:tc>
                <a:extLst>
                  <a:ext uri="{0D108BD9-81ED-4DB2-BD59-A6C34878D82A}">
                    <a16:rowId xmlns:a16="http://schemas.microsoft.com/office/drawing/2014/main" val="10003"/>
                  </a:ext>
                </a:extLst>
              </a:tr>
              <a:tr h="466344">
                <a:tc>
                  <a:txBody>
                    <a:bodyPr/>
                    <a:lstStyle/>
                    <a:p>
                      <a:pPr algn="ctr"/>
                      <a:r>
                        <a:rPr lang="fr-FR" sz="1600" b="0" i="0">
                          <a:solidFill>
                            <a:srgbClr val="1C2830"/>
                          </a:solidFill>
                          <a:latin typeface="Calibri"/>
                        </a:rPr>
                        <a:t>6</a:t>
                      </a:r>
                    </a:p>
                  </a:txBody>
                  <a:tcPr marL="73152" marR="73152" marT="36576" marB="36576" anchor="ctr">
                    <a:solidFill>
                      <a:srgbClr val="F4F8FA"/>
                    </a:solidFill>
                  </a:tcPr>
                </a:tc>
                <a:tc>
                  <a:txBody>
                    <a:bodyPr/>
                    <a:lstStyle/>
                    <a:p>
                      <a:pPr algn="ctr"/>
                      <a:r>
                        <a:rPr lang="fr-FR" sz="1600" b="0" i="0">
                          <a:solidFill>
                            <a:srgbClr val="1C2830"/>
                          </a:solidFill>
                          <a:latin typeface="Calibri"/>
                        </a:rPr>
                        <a:t>3 + 5  =  8</a:t>
                      </a:r>
                    </a:p>
                  </a:txBody>
                  <a:tcPr marL="73152" marR="73152" marT="36576" marB="36576" anchor="ctr">
                    <a:solidFill>
                      <a:srgbClr val="F4F8FA"/>
                    </a:solidFill>
                  </a:tcPr>
                </a:tc>
                <a:tc>
                  <a:txBody>
                    <a:bodyPr/>
                    <a:lstStyle/>
                    <a:p>
                      <a:pPr algn="ctr"/>
                      <a:r>
                        <a:rPr lang="fr-FR" sz="1600" b="0" i="0">
                          <a:solidFill>
                            <a:srgbClr val="1C2830"/>
                          </a:solidFill>
                          <a:latin typeface="Calibri"/>
                        </a:rPr>
                        <a:t>5</a:t>
                      </a:r>
                    </a:p>
                  </a:txBody>
                  <a:tcPr marL="73152" marR="73152" marT="36576" marB="36576" anchor="ctr">
                    <a:solidFill>
                      <a:srgbClr val="F4F8FA"/>
                    </a:solidFill>
                  </a:tcPr>
                </a:tc>
                <a:tc>
                  <a:txBody>
                    <a:bodyPr/>
                    <a:lstStyle/>
                    <a:p>
                      <a:pPr algn="ctr"/>
                      <a:r>
                        <a:rPr lang="fr-FR" sz="1600" b="0" i="0">
                          <a:solidFill>
                            <a:srgbClr val="1C2830"/>
                          </a:solidFill>
                          <a:latin typeface="Calibri"/>
                        </a:rPr>
                        <a:t>8</a:t>
                      </a:r>
                    </a:p>
                  </a:txBody>
                  <a:tcPr marL="73152" marR="73152" marT="36576" marB="36576" anchor="ctr">
                    <a:solidFill>
                      <a:srgbClr val="F4F8F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4160520"/>
            <a:ext cx="11155680" cy="365760"/>
          </a:xfrm>
          <a:prstGeom prst="rect">
            <a:avLst/>
          </a:prstGeom>
          <a:noFill/>
        </p:spPr>
        <p:txBody>
          <a:bodyPr wrap="square"/>
          <a:lstStyle/>
          <a:p>
            <a:pPr algn="l">
              <a:lnSpc>
                <a:spcPct val="105000"/>
              </a:lnSpc>
              <a:spcBef>
                <a:spcPts val="0"/>
              </a:spcBef>
              <a:spcAft>
                <a:spcPts val="0"/>
              </a:spcAft>
            </a:pPr>
            <a:r>
              <a:rPr lang="fr-FR" sz="2200" b="1" i="0">
                <a:solidFill>
                  <a:srgbClr val="0C384C"/>
                </a:solidFill>
                <a:latin typeface="Calibri"/>
              </a:rPr>
              <a:t>On affiche 8.</a:t>
            </a:r>
          </a:p>
        </p:txBody>
      </p:sp>
      <p:sp>
        <p:nvSpPr>
          <p:cNvPr id="8" name="Rounded Rectangle 7"/>
          <p:cNvSpPr/>
          <p:nvPr/>
        </p:nvSpPr>
        <p:spPr>
          <a:xfrm>
            <a:off x="502920" y="4663440"/>
            <a:ext cx="11183112" cy="1554480"/>
          </a:xfrm>
          <a:prstGeom prst="roundRect">
            <a:avLst>
              <a:gd name="adj" fmla="val 8000"/>
            </a:avLst>
          </a:prstGeom>
          <a:solidFill>
            <a:srgbClr val="E6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773168"/>
            <a:ext cx="10789920" cy="1353312"/>
          </a:xfrm>
          <a:prstGeom prst="rect">
            <a:avLst/>
          </a:prstGeom>
          <a:noFill/>
        </p:spPr>
        <p:txBody>
          <a:bodyPr wrap="square"/>
          <a:lstStyle/>
          <a:p>
            <a:pPr algn="l">
              <a:lnSpc>
                <a:spcPct val="105000"/>
              </a:lnSpc>
              <a:spcBef>
                <a:spcPts val="0"/>
              </a:spcBef>
              <a:spcAft>
                <a:spcPts val="400"/>
              </a:spcAft>
            </a:pPr>
            <a:r>
              <a:rPr lang="fr-FR" sz="1400" b="1" i="0">
                <a:solidFill>
                  <a:srgbClr val="4E6470"/>
                </a:solidFill>
                <a:latin typeface="Calibri"/>
              </a:rPr>
              <a:t>Dans le programme</a:t>
            </a:r>
          </a:p>
          <a:p>
            <a:pPr algn="l">
              <a:lnSpc>
                <a:spcPct val="105000"/>
              </a:lnSpc>
              <a:spcBef>
                <a:spcPts val="0"/>
              </a:spcBef>
              <a:spcAft>
                <a:spcPts val="200"/>
              </a:spcAft>
            </a:pPr>
            <a:r>
              <a:rPr lang="fr-FR" sz="1800" b="0" i="0">
                <a:solidFill>
                  <a:srgbClr val="1C2830"/>
                </a:solidFill>
                <a:latin typeface="Calibri"/>
              </a:rPr>
              <a:t>unsigned long long pour F1, F2 et F3.   unsigned int pour n.</a:t>
            </a:r>
          </a:p>
          <a:p>
            <a:pPr algn="l">
              <a:lnSpc>
                <a:spcPct val="105000"/>
              </a:lnSpc>
              <a:spcBef>
                <a:spcPts val="0"/>
              </a:spcBef>
              <a:spcAft>
                <a:spcPts val="200"/>
              </a:spcAft>
            </a:pPr>
            <a:r>
              <a:rPr lang="fr-FR" sz="1800" b="0" i="0">
                <a:solidFill>
                  <a:srgbClr val="1C2830"/>
                </a:solidFill>
                <a:latin typeface="Calibri"/>
              </a:rPr>
              <a:t>Lecture avec %u, affichage d'un terme avec %llu.</a:t>
            </a:r>
          </a:p>
          <a:p>
            <a:pPr algn="l">
              <a:lnSpc>
                <a:spcPct val="105000"/>
              </a:lnSpc>
              <a:spcBef>
                <a:spcPts val="0"/>
              </a:spcBef>
              <a:spcAft>
                <a:spcPts val="0"/>
              </a:spcAft>
            </a:pPr>
            <a:r>
              <a:rPr lang="fr-FR" sz="1800" b="0" i="0">
                <a:solidFill>
                  <a:srgbClr val="0C384C"/>
                </a:solidFill>
                <a:latin typeface="Calibri"/>
              </a:rPr>
              <a:t>Un int 32 bits déborde à F₄₇. Avec unsigned long long, le dernier terme correct est F₉₃.</a:t>
            </a:r>
          </a:p>
        </p:txBody>
      </p:sp>
      <p:sp>
        <p:nvSpPr>
          <p:cNvPr id="10" name="TextBox 9"/>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12  /  27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lIns="0" tIns="0" rIns="0" bIns="0" anchor="ctr"/>
          <a:lstStyle/>
          <a:p>
            <a:pPr algn="l">
              <a:lnSpc>
                <a:spcPct val="100000"/>
              </a:lnSpc>
              <a:spcBef>
                <a:spcPts val="0"/>
              </a:spcBef>
              <a:spcAft>
                <a:spcPts val="0"/>
              </a:spcAft>
            </a:pPr>
            <a:r>
              <a:rPr lang="fr-FR" sz="3200" b="0" i="0">
                <a:solidFill>
                  <a:srgbClr val="FFFFFF"/>
                </a:solidFill>
                <a:latin typeface="Calibri"/>
              </a:rPr>
              <a:t>Réponse  —  fibo.c</a:t>
            </a:r>
          </a:p>
        </p:txBody>
      </p:sp>
      <p:sp>
        <p:nvSpPr>
          <p:cNvPr id="5" name="Rounded Rectangle 4"/>
          <p:cNvSpPr/>
          <p:nvPr/>
        </p:nvSpPr>
        <p:spPr>
          <a:xfrm>
            <a:off x="502920" y="1200000"/>
            <a:ext cx="11183112" cy="5200000"/>
          </a:xfrm>
          <a:prstGeom prst="roundRect">
            <a:avLst>
              <a:gd name="adj" fmla="val 8000"/>
            </a:avLst>
          </a:prstGeom>
          <a:solidFill>
            <a:srgbClr val="F4F8F9"/>
          </a:solidFill>
          <a:ln w="12700">
            <a:solidFill>
              <a:srgbClr val="D5E2E8"/>
            </a:solidFill>
          </a:ln>
        </p:spPr>
        <p:txBody>
          <a:bodyPr rtlCol="0" anchor="ctr"/>
          <a:lstStyle/>
          <a:p>
            <a:pPr algn="ctr"/>
            <a:endParaRPr/>
          </a:p>
        </p:txBody>
      </p:sp>
      <p:sp>
        <p:nvSpPr>
          <p:cNvPr id="6" name="TextBox 5"/>
          <p:cNvSpPr txBox="1"/>
          <p:nvPr/>
        </p:nvSpPr>
        <p:spPr>
          <a:xfrm>
            <a:off x="662920" y="1320000"/>
            <a:ext cx="10561320" cy="5000000"/>
          </a:xfrm>
          <a:prstGeom prst="rect">
            <a:avLst/>
          </a:prstGeom>
          <a:noFill/>
        </p:spPr>
        <p:txBody>
          <a:bodyPr wrap="square" lIns="0" tIns="0" rIns="0" bIns="0" anchor="t"/>
          <a:lstStyle/>
          <a:p>
            <a:pPr algn="l">
              <a:lnSpc>
                <a:spcPts val="1150"/>
              </a:lnSpc>
              <a:spcBef>
                <a:spcPts val="0"/>
              </a:spcBef>
              <a:spcAft>
                <a:spcPts val="0"/>
              </a:spcAft>
            </a:pPr>
            <a:r>
              <a:rPr lang="fr-FR" sz="1000" b="0" i="0">
                <a:solidFill>
                  <a:srgbClr val="0C384C"/>
                </a:solidFill>
                <a:latin typeface="Consolas"/>
              </a:rPr>
              <a:t>#include &lt;stdio.h&gt;</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int main (){</a:t>
            </a:r>
          </a:p>
          <a:p>
            <a:pPr algn="l">
              <a:lnSpc>
                <a:spcPts val="1150"/>
              </a:lnSpc>
              <a:spcBef>
                <a:spcPts val="0"/>
              </a:spcBef>
              <a:spcAft>
                <a:spcPts val="0"/>
              </a:spcAft>
            </a:pPr>
            <a:r>
              <a:rPr lang="fr-FR" sz="1000" b="0" i="0">
                <a:solidFill>
                  <a:srgbClr val="0C384C"/>
                </a:solidFill>
                <a:latin typeface="Consolas"/>
              </a:rPr>
              <a:t>    unsigned long long int F1=1;</a:t>
            </a:r>
          </a:p>
          <a:p>
            <a:pPr algn="l">
              <a:lnSpc>
                <a:spcPts val="1150"/>
              </a:lnSpc>
              <a:spcBef>
                <a:spcPts val="0"/>
              </a:spcBef>
              <a:spcAft>
                <a:spcPts val="0"/>
              </a:spcAft>
            </a:pPr>
            <a:r>
              <a:rPr lang="fr-FR" sz="1000" b="0" i="0">
                <a:solidFill>
                  <a:srgbClr val="0C384C"/>
                </a:solidFill>
                <a:latin typeface="Consolas"/>
              </a:rPr>
              <a:t>    unsigned long long int F2=1;</a:t>
            </a:r>
          </a:p>
          <a:p>
            <a:pPr algn="l">
              <a:lnSpc>
                <a:spcPts val="1150"/>
              </a:lnSpc>
              <a:spcBef>
                <a:spcPts val="0"/>
              </a:spcBef>
              <a:spcAft>
                <a:spcPts val="0"/>
              </a:spcAft>
            </a:pPr>
            <a:r>
              <a:rPr lang="fr-FR" sz="1000" b="0" i="0">
                <a:solidFill>
                  <a:srgbClr val="0C384C"/>
                </a:solidFill>
                <a:latin typeface="Consolas"/>
              </a:rPr>
              <a:t>    unsigned long long int F3; //ainsi le programme fonctionne jusque F93 soit 12 200 160 415 121 876 738</a:t>
            </a:r>
          </a:p>
          <a:p>
            <a:pPr algn="l">
              <a:lnSpc>
                <a:spcPts val="1150"/>
              </a:lnSpc>
              <a:spcBef>
                <a:spcPts val="0"/>
              </a:spcBef>
              <a:spcAft>
                <a:spcPts val="0"/>
              </a:spcAft>
            </a:pPr>
            <a:r>
              <a:rPr lang="fr-FR" sz="1000" b="0" i="0">
                <a:solidFill>
                  <a:srgbClr val="0C384C"/>
                </a:solidFill>
                <a:latin typeface="Consolas"/>
              </a:rPr>
              <a:t>    unsigned int indice;</a:t>
            </a:r>
          </a:p>
          <a:p>
            <a:pPr algn="l">
              <a:lnSpc>
                <a:spcPts val="1150"/>
              </a:lnSpc>
              <a:spcBef>
                <a:spcPts val="0"/>
              </a:spcBef>
              <a:spcAft>
                <a:spcPts val="0"/>
              </a:spcAft>
            </a:pPr>
            <a:r>
              <a:rPr lang="fr-FR" sz="1000" b="0" i="0">
                <a:solidFill>
                  <a:srgbClr val="0C384C"/>
                </a:solidFill>
                <a:latin typeface="Consolas"/>
              </a:rPr>
              <a:t>    printf("Entrez l'indice du nombre recherché\n");</a:t>
            </a:r>
          </a:p>
          <a:p>
            <a:pPr algn="l">
              <a:lnSpc>
                <a:spcPts val="1150"/>
              </a:lnSpc>
              <a:spcBef>
                <a:spcPts val="0"/>
              </a:spcBef>
              <a:spcAft>
                <a:spcPts val="0"/>
              </a:spcAft>
            </a:pPr>
            <a:r>
              <a:rPr lang="fr-FR" sz="1000" b="0" i="0">
                <a:solidFill>
                  <a:srgbClr val="0C384C"/>
                </a:solidFill>
                <a:latin typeface="Consolas"/>
              </a:rPr>
              <a:t>    scanf("%d",&amp;indice);</a:t>
            </a:r>
          </a:p>
          <a:p>
            <a:pPr algn="l">
              <a:lnSpc>
                <a:spcPts val="1150"/>
              </a:lnSpc>
              <a:spcBef>
                <a:spcPts val="0"/>
              </a:spcBef>
              <a:spcAft>
                <a:spcPts val="0"/>
              </a:spcAft>
            </a:pPr>
            <a:r>
              <a:rPr lang="fr-FR" sz="1000" b="0" i="0">
                <a:solidFill>
                  <a:srgbClr val="0C384C"/>
                </a:solidFill>
                <a:latin typeface="Consolas"/>
              </a:rPr>
              <a:t>    if (indice==1){</a:t>
            </a:r>
          </a:p>
          <a:p>
            <a:pPr algn="l">
              <a:lnSpc>
                <a:spcPts val="1150"/>
              </a:lnSpc>
              <a:spcBef>
                <a:spcPts val="0"/>
              </a:spcBef>
              <a:spcAft>
                <a:spcPts val="0"/>
              </a:spcAft>
            </a:pPr>
            <a:r>
              <a:rPr lang="fr-FR" sz="1000" b="0" i="0">
                <a:solidFill>
                  <a:srgbClr val="0C384C"/>
                </a:solidFill>
                <a:latin typeface="Consolas"/>
              </a:rPr>
              <a:t>        printf("Le premier nombre de la suite est 1\n");</a:t>
            </a:r>
          </a:p>
          <a:p>
            <a:pPr algn="l">
              <a:lnSpc>
                <a:spcPts val="1150"/>
              </a:lnSpc>
              <a:spcBef>
                <a:spcPts val="0"/>
              </a:spcBef>
              <a:spcAft>
                <a:spcPts val="0"/>
              </a:spcAft>
            </a:pPr>
            <a:r>
              <a:rPr lang="fr-FR" sz="1000" b="0" i="0">
                <a:solidFill>
                  <a:srgbClr val="0C384C"/>
                </a:solidFill>
                <a:latin typeface="Consolas"/>
              </a:rPr>
              <a:t>        return 0;</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if (indice==2){</a:t>
            </a:r>
          </a:p>
          <a:p>
            <a:pPr algn="l">
              <a:lnSpc>
                <a:spcPts val="1150"/>
              </a:lnSpc>
              <a:spcBef>
                <a:spcPts val="0"/>
              </a:spcBef>
              <a:spcAft>
                <a:spcPts val="0"/>
              </a:spcAft>
            </a:pPr>
            <a:r>
              <a:rPr lang="fr-FR" sz="1000" b="0" i="0">
                <a:solidFill>
                  <a:srgbClr val="0C384C"/>
                </a:solidFill>
                <a:latin typeface="Consolas"/>
              </a:rPr>
              <a:t>        printf("Le deuxième nombre de la suite est 1 \n");</a:t>
            </a:r>
          </a:p>
          <a:p>
            <a:pPr algn="l">
              <a:lnSpc>
                <a:spcPts val="1150"/>
              </a:lnSpc>
              <a:spcBef>
                <a:spcPts val="0"/>
              </a:spcBef>
              <a:spcAft>
                <a:spcPts val="0"/>
              </a:spcAft>
            </a:pPr>
            <a:r>
              <a:rPr lang="fr-FR" sz="1000" b="0" i="0">
                <a:solidFill>
                  <a:srgbClr val="0C384C"/>
                </a:solidFill>
                <a:latin typeface="Consolas"/>
              </a:rPr>
              <a:t>        return 0;</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for (unsigned int i=3;i&lt;=indice;i++){</a:t>
            </a:r>
          </a:p>
          <a:p>
            <a:pPr algn="l">
              <a:lnSpc>
                <a:spcPts val="1150"/>
              </a:lnSpc>
              <a:spcBef>
                <a:spcPts val="0"/>
              </a:spcBef>
              <a:spcAft>
                <a:spcPts val="0"/>
              </a:spcAft>
            </a:pPr>
            <a:r>
              <a:rPr lang="fr-FR" sz="1000" b="0" i="0">
                <a:solidFill>
                  <a:srgbClr val="0C384C"/>
                </a:solidFill>
                <a:latin typeface="Consolas"/>
              </a:rPr>
              <a:t>        printf("Valeur de F1=%llu\n",F1);</a:t>
            </a:r>
          </a:p>
          <a:p>
            <a:pPr algn="l">
              <a:lnSpc>
                <a:spcPts val="1150"/>
              </a:lnSpc>
              <a:spcBef>
                <a:spcPts val="0"/>
              </a:spcBef>
              <a:spcAft>
                <a:spcPts val="0"/>
              </a:spcAft>
            </a:pPr>
            <a:r>
              <a:rPr lang="fr-FR" sz="1000" b="0" i="0">
                <a:solidFill>
                  <a:srgbClr val="0C384C"/>
                </a:solidFill>
                <a:latin typeface="Consolas"/>
              </a:rPr>
              <a:t>        printf("Valeur de F2=%llu\n\n",F2);</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F3=F2+F1;</a:t>
            </a:r>
          </a:p>
          <a:p>
            <a:pPr algn="l">
              <a:lnSpc>
                <a:spcPts val="1150"/>
              </a:lnSpc>
              <a:spcBef>
                <a:spcPts val="0"/>
              </a:spcBef>
              <a:spcAft>
                <a:spcPts val="0"/>
              </a:spcAft>
            </a:pPr>
            <a:r>
              <a:rPr lang="fr-FR" sz="1000" b="0" i="0">
                <a:solidFill>
                  <a:srgbClr val="0C384C"/>
                </a:solidFill>
                <a:latin typeface="Consolas"/>
              </a:rPr>
              <a:t>        printf("Valeur de F3=%llu\n\n",F3); </a:t>
            </a:r>
          </a:p>
          <a:p>
            <a:pPr algn="l">
              <a:lnSpc>
                <a:spcPts val="1150"/>
              </a:lnSpc>
              <a:spcBef>
                <a:spcPts val="0"/>
              </a:spcBef>
              <a:spcAft>
                <a:spcPts val="0"/>
              </a:spcAft>
            </a:pPr>
            <a:r>
              <a:rPr lang="fr-FR" sz="1000" b="0" i="0">
                <a:solidFill>
                  <a:srgbClr val="0C384C"/>
                </a:solidFill>
                <a:latin typeface="Consolas"/>
              </a:rPr>
              <a:t>        F1=F2;</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F2=F3;</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printf("Le %uème nombre de la suite est %llu\n",indice, F3);</a:t>
            </a:r>
          </a:p>
          <a:p>
            <a:pPr algn="l">
              <a:lnSpc>
                <a:spcPts val="1150"/>
              </a:lnSpc>
              <a:spcBef>
                <a:spcPts val="0"/>
              </a:spcBef>
              <a:spcAft>
                <a:spcPts val="0"/>
              </a:spcAft>
            </a:pPr>
            <a:r>
              <a:rPr lang="fr-FR" sz="1000" b="0" i="0">
                <a:solidFill>
                  <a:srgbClr val="0C384C"/>
                </a:solidFill>
                <a:latin typeface="Consolas"/>
              </a:rPr>
              <a:t>    return 0;</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a:t>
            </a:r>
          </a:p>
        </p:txBody>
      </p:sp>
      <p:sp>
        <p:nvSpPr>
          <p:cNvPr id="7" name="TextBox 6"/>
          <p:cNvSpPr txBox="1"/>
          <p:nvPr/>
        </p:nvSpPr>
        <p:spPr>
          <a:xfrm>
            <a:off x="10058400" y="6480000"/>
            <a:ext cx="1828800" cy="274320"/>
          </a:xfrm>
          <a:prstGeom prst="rect">
            <a:avLst/>
          </a:prstGeom>
          <a:noFill/>
        </p:spPr>
        <p:txBody>
          <a:bodyPr wrap="square" lIns="0" tIns="0" rIns="0" bIns="0" anchor="ctr"/>
          <a:lstStyle/>
          <a:p>
            <a:pPr algn="r">
              <a:lnSpc>
                <a:spcPct val="100000"/>
              </a:lnSpc>
              <a:spcBef>
                <a:spcPts val="0"/>
              </a:spcBef>
              <a:spcAft>
                <a:spcPts val="0"/>
              </a:spcAft>
            </a:pPr>
            <a:r>
              <a:rPr lang="fr-FR" sz="1200" b="0" i="0">
                <a:solidFill>
                  <a:srgbClr val="4E6470"/>
                </a:solidFill>
                <a:latin typeface="Calibri"/>
              </a:rPr>
              <a:t>13  /  27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95360" y="-1371600"/>
            <a:ext cx="5669280" cy="5669280"/>
          </a:xfrm>
          <a:prstGeom prst="ellipse">
            <a:avLst/>
          </a:prstGeom>
          <a:solidFill>
            <a:srgbClr val="0E4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148840"/>
            <a:ext cx="10058400" cy="411480"/>
          </a:xfrm>
          <a:prstGeom prst="rect">
            <a:avLst/>
          </a:prstGeom>
          <a:noFill/>
        </p:spPr>
        <p:txBody>
          <a:bodyPr wrap="square"/>
          <a:lstStyle/>
          <a:p>
            <a:pPr algn="l">
              <a:lnSpc>
                <a:spcPct val="105000"/>
              </a:lnSpc>
              <a:spcBef>
                <a:spcPts val="0"/>
              </a:spcBef>
              <a:spcAft>
                <a:spcPts val="600"/>
              </a:spcAft>
            </a:pPr>
            <a:r>
              <a:rPr lang="fr-FR" sz="1600" b="1" i="0">
                <a:solidFill>
                  <a:srgbClr val="9FC8D6"/>
                </a:solidFill>
                <a:latin typeface="Calibri"/>
              </a:rPr>
              <a:t>EXERCICE 8</a:t>
            </a:r>
          </a:p>
        </p:txBody>
      </p:sp>
      <p:sp>
        <p:nvSpPr>
          <p:cNvPr id="5" name="TextBox 4"/>
          <p:cNvSpPr txBox="1"/>
          <p:nvPr/>
        </p:nvSpPr>
        <p:spPr>
          <a:xfrm>
            <a:off x="731520" y="2606040"/>
            <a:ext cx="10515600" cy="1188720"/>
          </a:xfrm>
          <a:prstGeom prst="rect">
            <a:avLst/>
          </a:prstGeom>
          <a:noFill/>
        </p:spPr>
        <p:txBody>
          <a:bodyPr wrap="square"/>
          <a:lstStyle/>
          <a:p>
            <a:pPr algn="l">
              <a:lnSpc>
                <a:spcPct val="105000"/>
              </a:lnSpc>
              <a:spcBef>
                <a:spcPts val="0"/>
              </a:spcBef>
              <a:spcAft>
                <a:spcPts val="600"/>
              </a:spcAft>
            </a:pPr>
            <a:r>
              <a:rPr lang="fr-FR" sz="4400" b="0" i="0">
                <a:solidFill>
                  <a:srgbClr val="FFFFFF"/>
                </a:solidFill>
                <a:latin typeface="Calibri"/>
              </a:rPr>
              <a:t>Factorisation</a:t>
            </a:r>
          </a:p>
        </p:txBody>
      </p:sp>
      <p:sp>
        <p:nvSpPr>
          <p:cNvPr id="6" name="TextBox 5"/>
          <p:cNvSpPr txBox="1"/>
          <p:nvPr/>
        </p:nvSpPr>
        <p:spPr>
          <a:xfrm>
            <a:off x="731520" y="3931920"/>
            <a:ext cx="9144000" cy="731520"/>
          </a:xfrm>
          <a:prstGeom prst="rect">
            <a:avLst/>
          </a:prstGeom>
          <a:noFill/>
        </p:spPr>
        <p:txBody>
          <a:bodyPr wrap="square"/>
          <a:lstStyle/>
          <a:p>
            <a:pPr algn="l">
              <a:lnSpc>
                <a:spcPct val="105000"/>
              </a:lnSpc>
              <a:spcBef>
                <a:spcPts val="0"/>
              </a:spcBef>
              <a:spcAft>
                <a:spcPts val="600"/>
              </a:spcAft>
            </a:pPr>
            <a:r>
              <a:rPr lang="fr-FR" sz="2200" b="0" i="0">
                <a:solidFill>
                  <a:srgbClr val="C5D8E0"/>
                </a:solidFill>
                <a:latin typeface="Calibri"/>
              </a:rPr>
              <a:t>Diviseurs à partir de 2</a:t>
            </a:r>
          </a:p>
        </p:txBody>
      </p:sp>
      <p:sp>
        <p:nvSpPr>
          <p:cNvPr id="7" name="TextBox 6"/>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C5D5DC"/>
                </a:solidFill>
                <a:latin typeface="Calibri"/>
              </a:rPr>
              <a:t>14  /  27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Exercice 8  —  Factorisation</a:t>
            </a:r>
          </a:p>
        </p:txBody>
      </p:sp>
      <p:sp>
        <p:nvSpPr>
          <p:cNvPr id="5" name="TextBox 4"/>
          <p:cNvSpPr txBox="1"/>
          <p:nvPr/>
        </p:nvSpPr>
        <p:spPr>
          <a:xfrm>
            <a:off x="502920" y="1417320"/>
            <a:ext cx="11155680" cy="1371600"/>
          </a:xfrm>
          <a:prstGeom prst="rect">
            <a:avLst/>
          </a:prstGeom>
          <a:noFill/>
        </p:spPr>
        <p:txBody>
          <a:bodyPr wrap="square"/>
          <a:lstStyle/>
          <a:p>
            <a:pPr algn="l">
              <a:lnSpc>
                <a:spcPct val="105000"/>
              </a:lnSpc>
              <a:spcBef>
                <a:spcPts val="0"/>
              </a:spcBef>
              <a:spcAft>
                <a:spcPts val="1200"/>
              </a:spcAft>
            </a:pPr>
            <a:r>
              <a:rPr lang="fr-FR" sz="2400" b="0" i="0">
                <a:solidFill>
                  <a:srgbClr val="1C2830"/>
                </a:solidFill>
                <a:latin typeface="Calibri"/>
              </a:rPr>
              <a:t>Écrire un programme qui lit un entier n ≥ 2 et affiche sa décomposition en facteurs premiers.</a:t>
            </a:r>
          </a:p>
          <a:p>
            <a:pPr algn="l">
              <a:lnSpc>
                <a:spcPct val="105000"/>
              </a:lnSpc>
              <a:spcBef>
                <a:spcPts val="0"/>
              </a:spcBef>
              <a:spcAft>
                <a:spcPts val="0"/>
              </a:spcAft>
            </a:pPr>
            <a:r>
              <a:rPr lang="fr-FR" sz="2200" b="0" i="0">
                <a:solidFill>
                  <a:srgbClr val="1C2830"/>
                </a:solidFill>
                <a:latin typeface="Calibri"/>
              </a:rPr>
              <a:t>Chaque facteur est écrit p^a. Les facteurs sont séparés par un espace.</a:t>
            </a:r>
          </a:p>
        </p:txBody>
      </p:sp>
      <p:sp>
        <p:nvSpPr>
          <p:cNvPr id="6" name="Rounded Rectangle 5"/>
          <p:cNvSpPr/>
          <p:nvPr/>
        </p:nvSpPr>
        <p:spPr>
          <a:xfrm>
            <a:off x="502920" y="3200400"/>
            <a:ext cx="3611880" cy="196596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3383280"/>
            <a:ext cx="3337560" cy="1645920"/>
          </a:xfrm>
          <a:prstGeom prst="rect">
            <a:avLst/>
          </a:prstGeom>
          <a:noFill/>
        </p:spPr>
        <p:txBody>
          <a:bodyPr wrap="square"/>
          <a:lstStyle/>
          <a:p>
            <a:pPr algn="ctr">
              <a:lnSpc>
                <a:spcPct val="105000"/>
              </a:lnSpc>
              <a:spcBef>
                <a:spcPts val="0"/>
              </a:spcBef>
              <a:spcAft>
                <a:spcPts val="800"/>
              </a:spcAft>
            </a:pPr>
            <a:r>
              <a:rPr lang="fr-FR" sz="2000" b="0" i="0">
                <a:solidFill>
                  <a:srgbClr val="4E6470"/>
                </a:solidFill>
                <a:latin typeface="Calibri"/>
              </a:rPr>
              <a:t>12</a:t>
            </a:r>
          </a:p>
          <a:p>
            <a:pPr algn="ctr">
              <a:lnSpc>
                <a:spcPct val="105000"/>
              </a:lnSpc>
              <a:spcBef>
                <a:spcPts val="0"/>
              </a:spcBef>
              <a:spcAft>
                <a:spcPts val="0"/>
              </a:spcAft>
            </a:pPr>
            <a:r>
              <a:rPr lang="fr-FR" sz="2600" b="1" i="0">
                <a:solidFill>
                  <a:srgbClr val="0C384C"/>
                </a:solidFill>
                <a:latin typeface="Consolas"/>
              </a:rPr>
              <a:t>2^2 3^1</a:t>
            </a:r>
          </a:p>
        </p:txBody>
      </p:sp>
      <p:sp>
        <p:nvSpPr>
          <p:cNvPr id="8" name="Rounded Rectangle 7"/>
          <p:cNvSpPr/>
          <p:nvPr/>
        </p:nvSpPr>
        <p:spPr>
          <a:xfrm>
            <a:off x="4297680" y="3200400"/>
            <a:ext cx="3611880" cy="196596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4840" y="3383280"/>
            <a:ext cx="3337560" cy="1645920"/>
          </a:xfrm>
          <a:prstGeom prst="rect">
            <a:avLst/>
          </a:prstGeom>
          <a:noFill/>
        </p:spPr>
        <p:txBody>
          <a:bodyPr wrap="square"/>
          <a:lstStyle/>
          <a:p>
            <a:pPr algn="ctr">
              <a:lnSpc>
                <a:spcPct val="105000"/>
              </a:lnSpc>
              <a:spcBef>
                <a:spcPts val="0"/>
              </a:spcBef>
              <a:spcAft>
                <a:spcPts val="800"/>
              </a:spcAft>
            </a:pPr>
            <a:r>
              <a:rPr lang="fr-FR" sz="2000" b="0" i="0">
                <a:solidFill>
                  <a:srgbClr val="4E6470"/>
                </a:solidFill>
                <a:latin typeface="Calibri"/>
              </a:rPr>
              <a:t>7</a:t>
            </a:r>
          </a:p>
          <a:p>
            <a:pPr algn="ctr">
              <a:lnSpc>
                <a:spcPct val="105000"/>
              </a:lnSpc>
              <a:spcBef>
                <a:spcPts val="0"/>
              </a:spcBef>
              <a:spcAft>
                <a:spcPts val="0"/>
              </a:spcAft>
            </a:pPr>
            <a:r>
              <a:rPr lang="fr-FR" sz="2600" b="1" i="0">
                <a:solidFill>
                  <a:srgbClr val="0C384C"/>
                </a:solidFill>
                <a:latin typeface="Consolas"/>
              </a:rPr>
              <a:t>7^1</a:t>
            </a:r>
          </a:p>
        </p:txBody>
      </p:sp>
      <p:sp>
        <p:nvSpPr>
          <p:cNvPr id="10" name="Rounded Rectangle 9"/>
          <p:cNvSpPr/>
          <p:nvPr/>
        </p:nvSpPr>
        <p:spPr>
          <a:xfrm>
            <a:off x="8092440" y="3200400"/>
            <a:ext cx="3611880" cy="196596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0" y="3383280"/>
            <a:ext cx="3337560" cy="1645920"/>
          </a:xfrm>
          <a:prstGeom prst="rect">
            <a:avLst/>
          </a:prstGeom>
          <a:noFill/>
        </p:spPr>
        <p:txBody>
          <a:bodyPr wrap="square"/>
          <a:lstStyle/>
          <a:p>
            <a:pPr algn="ctr">
              <a:lnSpc>
                <a:spcPct val="105000"/>
              </a:lnSpc>
              <a:spcBef>
                <a:spcPts val="0"/>
              </a:spcBef>
              <a:spcAft>
                <a:spcPts val="800"/>
              </a:spcAft>
            </a:pPr>
            <a:r>
              <a:rPr lang="fr-FR" sz="2000" b="0" i="0">
                <a:solidFill>
                  <a:srgbClr val="4E6470"/>
                </a:solidFill>
                <a:latin typeface="Calibri"/>
              </a:rPr>
              <a:t>360</a:t>
            </a:r>
          </a:p>
          <a:p>
            <a:pPr algn="ctr">
              <a:lnSpc>
                <a:spcPct val="105000"/>
              </a:lnSpc>
              <a:spcBef>
                <a:spcPts val="0"/>
              </a:spcBef>
              <a:spcAft>
                <a:spcPts val="0"/>
              </a:spcAft>
            </a:pPr>
            <a:r>
              <a:rPr lang="fr-FR" sz="2600" b="1" i="0">
                <a:solidFill>
                  <a:srgbClr val="0C384C"/>
                </a:solidFill>
                <a:latin typeface="Consolas"/>
              </a:rPr>
              <a:t>2^3 3^2 5^1</a:t>
            </a:r>
          </a:p>
        </p:txBody>
      </p:sp>
      <p:sp>
        <p:nvSpPr>
          <p:cNvPr id="12" name="TextBox 11"/>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15  /  27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L'idée</a:t>
            </a:r>
          </a:p>
        </p:txBody>
      </p:sp>
      <p:sp>
        <p:nvSpPr>
          <p:cNvPr id="5" name="TextBox 4"/>
          <p:cNvSpPr txBox="1"/>
          <p:nvPr/>
        </p:nvSpPr>
        <p:spPr>
          <a:xfrm>
            <a:off x="502920" y="1353312"/>
            <a:ext cx="11155680" cy="2103120"/>
          </a:xfrm>
          <a:prstGeom prst="rect">
            <a:avLst/>
          </a:prstGeom>
          <a:noFill/>
        </p:spPr>
        <p:txBody>
          <a:bodyPr wrap="square"/>
          <a:lstStyle/>
          <a:p>
            <a:pPr marL="274320" indent="-219456" algn="l">
              <a:lnSpc>
                <a:spcPct val="105000"/>
              </a:lnSpc>
              <a:spcBef>
                <a:spcPts val="0"/>
              </a:spcBef>
              <a:spcAft>
                <a:spcPts val="1200"/>
              </a:spcAft>
            </a:pPr>
            <a:r>
              <a:rPr lang="fr-FR" sz="2400" b="0" i="0">
                <a:solidFill>
                  <a:srgbClr val="1C2830"/>
                </a:solidFill>
                <a:latin typeface="Calibri"/>
              </a:rPr>
              <a:t>•  On cherche un diviseur d, en partant de 2.</a:t>
            </a:r>
          </a:p>
          <a:p>
            <a:pPr marL="274320" indent="-219456" algn="l">
              <a:lnSpc>
                <a:spcPct val="105000"/>
              </a:lnSpc>
              <a:spcBef>
                <a:spcPts val="0"/>
              </a:spcBef>
              <a:spcAft>
                <a:spcPts val="1200"/>
              </a:spcAft>
            </a:pPr>
            <a:r>
              <a:rPr lang="fr-FR" sz="2400" b="0" i="0">
                <a:solidFill>
                  <a:srgbClr val="1C2830"/>
                </a:solidFill>
                <a:latin typeface="Calibri"/>
              </a:rPr>
              <a:t>•  Tant que d divise n, on divise n par d et on compte combien de fois.</a:t>
            </a:r>
          </a:p>
          <a:p>
            <a:pPr marL="274320" indent="-219456" algn="l">
              <a:lnSpc>
                <a:spcPct val="105000"/>
              </a:lnSpc>
              <a:spcBef>
                <a:spcPts val="0"/>
              </a:spcBef>
              <a:spcAft>
                <a:spcPts val="0"/>
              </a:spcAft>
            </a:pPr>
            <a:r>
              <a:rPr lang="fr-FR" sz="2400" b="0" i="0">
                <a:solidFill>
                  <a:srgbClr val="1C2830"/>
                </a:solidFill>
                <a:latin typeface="Calibri"/>
              </a:rPr>
              <a:t>•  Quand d ne divise plus, on note ce qu'on a trouvé et on passe à d + 1.</a:t>
            </a:r>
          </a:p>
        </p:txBody>
      </p:sp>
      <p:sp>
        <p:nvSpPr>
          <p:cNvPr id="6" name="Rounded Rectangle 5"/>
          <p:cNvSpPr/>
          <p:nvPr/>
        </p:nvSpPr>
        <p:spPr>
          <a:xfrm>
            <a:off x="502920" y="3977639"/>
            <a:ext cx="11183112" cy="201168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4160520"/>
            <a:ext cx="10698480" cy="1691640"/>
          </a:xfrm>
          <a:prstGeom prst="rect">
            <a:avLst/>
          </a:prstGeom>
          <a:noFill/>
        </p:spPr>
        <p:txBody>
          <a:bodyPr wrap="square"/>
          <a:lstStyle/>
          <a:p>
            <a:pPr algn="l">
              <a:lnSpc>
                <a:spcPct val="105000"/>
              </a:lnSpc>
              <a:spcBef>
                <a:spcPts val="0"/>
              </a:spcBef>
              <a:spcAft>
                <a:spcPts val="800"/>
              </a:spcAft>
            </a:pPr>
            <a:r>
              <a:rPr lang="fr-FR" sz="2000" b="1" i="0">
                <a:solidFill>
                  <a:srgbClr val="0C384C"/>
                </a:solidFill>
                <a:latin typeface="Calibri"/>
              </a:rPr>
              <a:t>Pas besoin de tester si d est premier</a:t>
            </a:r>
          </a:p>
          <a:p>
            <a:pPr algn="l">
              <a:lnSpc>
                <a:spcPct val="105000"/>
              </a:lnSpc>
              <a:spcBef>
                <a:spcPts val="0"/>
              </a:spcBef>
              <a:spcAft>
                <a:spcPts val="0"/>
              </a:spcAft>
            </a:pPr>
            <a:r>
              <a:rPr lang="fr-FR" sz="2000" b="0" i="0">
                <a:solidFill>
                  <a:srgbClr val="1C2830"/>
                </a:solidFill>
                <a:latin typeface="Calibri"/>
              </a:rPr>
              <a:t>Un nombre composé ne sera jamais retenu comme diviseur. S'il divisait encore n, un de ses facteurs premiers, plus petit, diviserait n aussi. Or ces facteurs ont déjà été retirés.</a:t>
            </a:r>
          </a:p>
        </p:txBody>
      </p:sp>
      <p:sp>
        <p:nvSpPr>
          <p:cNvPr id="8" name="TextBox 7"/>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16  /  27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Algorithme</a:t>
            </a:r>
          </a:p>
        </p:txBody>
      </p:sp>
      <p:sp>
        <p:nvSpPr>
          <p:cNvPr id="5" name="TextBox 4"/>
          <p:cNvSpPr txBox="1"/>
          <p:nvPr/>
        </p:nvSpPr>
        <p:spPr>
          <a:xfrm>
            <a:off x="502920" y="1298448"/>
            <a:ext cx="11155680" cy="5029200"/>
          </a:xfrm>
          <a:prstGeom prst="rect">
            <a:avLst/>
          </a:prstGeom>
          <a:noFill/>
        </p:spPr>
        <p:txBody>
          <a:bodyPr wrap="square"/>
          <a:lstStyle/>
          <a:p>
            <a:pPr marL="274320" indent="-219456" algn="l">
              <a:lnSpc>
                <a:spcPct val="105000"/>
              </a:lnSpc>
              <a:spcBef>
                <a:spcPts val="0"/>
              </a:spcBef>
              <a:spcAft>
                <a:spcPts val="800"/>
              </a:spcAft>
            </a:pPr>
            <a:r>
              <a:rPr lang="fr-FR" sz="2200" b="0" i="0">
                <a:solidFill>
                  <a:srgbClr val="1C2830"/>
                </a:solidFill>
                <a:latin typeface="Calibri"/>
              </a:rPr>
              <a:t>•  On lit n. On pose d = 2 et compteur = 0.</a:t>
            </a:r>
          </a:p>
          <a:p>
            <a:pPr marL="274320" indent="-219456" algn="l">
              <a:lnSpc>
                <a:spcPct val="105000"/>
              </a:lnSpc>
              <a:spcBef>
                <a:spcPts val="0"/>
              </a:spcBef>
              <a:spcAft>
                <a:spcPts val="400"/>
              </a:spcAft>
            </a:pPr>
            <a:r>
              <a:rPr lang="fr-FR" sz="2200" b="0" i="0">
                <a:solidFill>
                  <a:srgbClr val="1C2830"/>
                </a:solidFill>
                <a:latin typeface="Calibri"/>
              </a:rPr>
              <a:t>•  Tant que n &gt; 1 :</a:t>
            </a:r>
          </a:p>
          <a:p>
            <a:pPr marL="603503" algn="l">
              <a:lnSpc>
                <a:spcPct val="105000"/>
              </a:lnSpc>
              <a:spcBef>
                <a:spcPts val="0"/>
              </a:spcBef>
              <a:spcAft>
                <a:spcPts val="200"/>
              </a:spcAft>
            </a:pPr>
            <a:r>
              <a:rPr lang="fr-FR" sz="2200" b="0" i="0">
                <a:solidFill>
                  <a:srgbClr val="1C2830"/>
                </a:solidFill>
                <a:latin typeface="Calibri"/>
              </a:rPr>
              <a:t>Si n est divisible par d :</a:t>
            </a:r>
          </a:p>
          <a:p>
            <a:pPr marL="932688" algn="l">
              <a:lnSpc>
                <a:spcPct val="105000"/>
              </a:lnSpc>
              <a:spcBef>
                <a:spcPts val="0"/>
              </a:spcBef>
              <a:spcAft>
                <a:spcPts val="600"/>
              </a:spcAft>
            </a:pPr>
            <a:r>
              <a:rPr lang="fr-FR" sz="2200" b="0" i="0">
                <a:solidFill>
                  <a:srgbClr val="1C2830"/>
                </a:solidFill>
                <a:latin typeface="Calibri"/>
              </a:rPr>
              <a:t>compteur augmente de 1, et n est divisé par d</a:t>
            </a:r>
          </a:p>
          <a:p>
            <a:pPr marL="603503" algn="l">
              <a:lnSpc>
                <a:spcPct val="105000"/>
              </a:lnSpc>
              <a:spcBef>
                <a:spcPts val="0"/>
              </a:spcBef>
              <a:spcAft>
                <a:spcPts val="200"/>
              </a:spcAft>
            </a:pPr>
            <a:r>
              <a:rPr lang="fr-FR" sz="2200" b="0" i="0">
                <a:solidFill>
                  <a:srgbClr val="1C2830"/>
                </a:solidFill>
                <a:latin typeface="Calibri"/>
              </a:rPr>
              <a:t>Sinon :</a:t>
            </a:r>
          </a:p>
          <a:p>
            <a:pPr marL="932688" algn="l">
              <a:lnSpc>
                <a:spcPct val="105000"/>
              </a:lnSpc>
              <a:spcBef>
                <a:spcPts val="0"/>
              </a:spcBef>
              <a:spcAft>
                <a:spcPts val="200"/>
              </a:spcAft>
            </a:pPr>
            <a:r>
              <a:rPr lang="fr-FR" sz="2200" b="0" i="0">
                <a:solidFill>
                  <a:srgbClr val="1C2830"/>
                </a:solidFill>
                <a:latin typeface="Calibri"/>
              </a:rPr>
              <a:t>si compteur n'est pas nul, on affiche d^compteur puis compteur revient à 0</a:t>
            </a:r>
          </a:p>
          <a:p>
            <a:pPr marL="932688" algn="l">
              <a:lnSpc>
                <a:spcPct val="105000"/>
              </a:lnSpc>
              <a:spcBef>
                <a:spcPts val="0"/>
              </a:spcBef>
              <a:spcAft>
                <a:spcPts val="800"/>
              </a:spcAft>
            </a:pPr>
            <a:r>
              <a:rPr lang="fr-FR" sz="2200" b="0" i="0">
                <a:solidFill>
                  <a:srgbClr val="1C2830"/>
                </a:solidFill>
                <a:latin typeface="Calibri"/>
              </a:rPr>
              <a:t>d augmente de 1</a:t>
            </a:r>
          </a:p>
          <a:p>
            <a:pPr marL="274320" indent="-219456" algn="l">
              <a:lnSpc>
                <a:spcPct val="105000"/>
              </a:lnSpc>
              <a:spcBef>
                <a:spcPts val="0"/>
              </a:spcBef>
              <a:spcAft>
                <a:spcPts val="1200"/>
              </a:spcAft>
            </a:pPr>
            <a:r>
              <a:rPr lang="fr-FR" sz="2200" b="0" i="0">
                <a:solidFill>
                  <a:srgbClr val="1C2830"/>
                </a:solidFill>
                <a:latin typeface="Calibri"/>
              </a:rPr>
              <a:t>•  Après la boucle, si compteur n'est pas nul, on affiche le dernier facteur.</a:t>
            </a:r>
          </a:p>
          <a:p>
            <a:pPr algn="l">
              <a:lnSpc>
                <a:spcPct val="105000"/>
              </a:lnSpc>
              <a:spcBef>
                <a:spcPts val="0"/>
              </a:spcBef>
              <a:spcAft>
                <a:spcPts val="0"/>
              </a:spcAft>
            </a:pPr>
            <a:r>
              <a:rPr lang="fr-FR" sz="1800" b="0" i="1">
                <a:solidFill>
                  <a:srgbClr val="4E6470"/>
                </a:solidFill>
                <a:latin typeface="Calibri"/>
              </a:rPr>
              <a:t>Ce dernier affichage est le facteur encore en cours quand n devient 1. Sans lui, 12 s'affiche « 2^2 » et le 3 disparaît.</a:t>
            </a:r>
          </a:p>
        </p:txBody>
      </p:sp>
      <p:sp>
        <p:nvSpPr>
          <p:cNvPr id="6" name="TextBox 5"/>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17  /  27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Exemple  —  n = 12</a:t>
            </a:r>
          </a:p>
        </p:txBody>
      </p:sp>
      <p:graphicFrame>
        <p:nvGraphicFramePr>
          <p:cNvPr id="5" name="Table 4"/>
          <p:cNvGraphicFramePr>
            <a:graphicFrameLocks noGrp="1"/>
          </p:cNvGraphicFramePr>
          <p:nvPr/>
        </p:nvGraphicFramePr>
        <p:xfrm>
          <a:off x="365760" y="1371600"/>
          <a:ext cx="11457431" cy="324612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7342631">
                  <a:extLst>
                    <a:ext uri="{9D8B030D-6E8A-4147-A177-3AD203B41FA5}">
                      <a16:colId xmlns:a16="http://schemas.microsoft.com/office/drawing/2014/main" val="20003"/>
                    </a:ext>
                  </a:extLst>
                </a:gridCol>
              </a:tblGrid>
              <a:tr h="541020">
                <a:tc>
                  <a:txBody>
                    <a:bodyPr/>
                    <a:lstStyle/>
                    <a:p>
                      <a:pPr algn="ctr"/>
                      <a:r>
                        <a:rPr lang="fr-FR" sz="1600" b="1" i="0">
                          <a:solidFill>
                            <a:srgbClr val="FFFFFF"/>
                          </a:solidFill>
                          <a:latin typeface="Calibri"/>
                        </a:rPr>
                        <a:t>n</a:t>
                      </a:r>
                    </a:p>
                  </a:txBody>
                  <a:tcPr marL="73152" marR="73152" marT="36576" marB="36576" anchor="ctr">
                    <a:solidFill>
                      <a:srgbClr val="0C384C"/>
                    </a:solidFill>
                  </a:tcPr>
                </a:tc>
                <a:tc>
                  <a:txBody>
                    <a:bodyPr/>
                    <a:lstStyle/>
                    <a:p>
                      <a:pPr algn="ctr"/>
                      <a:r>
                        <a:rPr lang="fr-FR" sz="1600" b="1" i="0">
                          <a:solidFill>
                            <a:srgbClr val="FFFFFF"/>
                          </a:solidFill>
                          <a:latin typeface="Calibri"/>
                        </a:rPr>
                        <a:t>d</a:t>
                      </a:r>
                    </a:p>
                  </a:txBody>
                  <a:tcPr marL="73152" marR="73152" marT="36576" marB="36576" anchor="ctr">
                    <a:solidFill>
                      <a:srgbClr val="0C384C"/>
                    </a:solidFill>
                  </a:tcPr>
                </a:tc>
                <a:tc>
                  <a:txBody>
                    <a:bodyPr/>
                    <a:lstStyle/>
                    <a:p>
                      <a:pPr algn="ctr"/>
                      <a:r>
                        <a:rPr lang="fr-FR" sz="1600" b="1" i="0">
                          <a:solidFill>
                            <a:srgbClr val="FFFFFF"/>
                          </a:solidFill>
                          <a:latin typeface="Calibri"/>
                        </a:rPr>
                        <a:t>compteur</a:t>
                      </a:r>
                    </a:p>
                  </a:txBody>
                  <a:tcPr marL="73152" marR="73152" marT="36576" marB="36576" anchor="ctr">
                    <a:solidFill>
                      <a:srgbClr val="0C384C"/>
                    </a:solidFill>
                  </a:tcPr>
                </a:tc>
                <a:tc>
                  <a:txBody>
                    <a:bodyPr/>
                    <a:lstStyle/>
                    <a:p>
                      <a:pPr algn="ctr"/>
                      <a:r>
                        <a:rPr lang="fr-FR" sz="1600" b="1" i="0">
                          <a:solidFill>
                            <a:srgbClr val="FFFFFF"/>
                          </a:solidFill>
                          <a:latin typeface="Calibri"/>
                        </a:rPr>
                        <a:t>Décision</a:t>
                      </a:r>
                    </a:p>
                  </a:txBody>
                  <a:tcPr marL="73152" marR="73152" marT="36576" marB="36576" anchor="ctr">
                    <a:solidFill>
                      <a:srgbClr val="0C384C"/>
                    </a:solidFill>
                  </a:tcPr>
                </a:tc>
                <a:extLst>
                  <a:ext uri="{0D108BD9-81ED-4DB2-BD59-A6C34878D82A}">
                    <a16:rowId xmlns:a16="http://schemas.microsoft.com/office/drawing/2014/main" val="10000"/>
                  </a:ext>
                </a:extLst>
              </a:tr>
              <a:tr h="541020">
                <a:tc>
                  <a:txBody>
                    <a:bodyPr/>
                    <a:lstStyle/>
                    <a:p>
                      <a:pPr algn="ctr"/>
                      <a:r>
                        <a:rPr lang="fr-FR" sz="1600" b="0" i="0">
                          <a:solidFill>
                            <a:srgbClr val="1C2830"/>
                          </a:solidFill>
                          <a:latin typeface="Calibri"/>
                        </a:rPr>
                        <a:t>12</a:t>
                      </a:r>
                    </a:p>
                  </a:txBody>
                  <a:tcPr marL="73152" marR="73152" marT="36576" marB="36576" anchor="ctr">
                    <a:solidFill>
                      <a:srgbClr val="FFFFFF"/>
                    </a:solidFill>
                  </a:tcPr>
                </a:tc>
                <a:tc>
                  <a:txBody>
                    <a:bodyPr/>
                    <a:lstStyle/>
                    <a:p>
                      <a:pPr algn="ctr"/>
                      <a:r>
                        <a:rPr lang="fr-FR" sz="1600" b="0" i="0">
                          <a:solidFill>
                            <a:srgbClr val="1C2830"/>
                          </a:solidFill>
                          <a:latin typeface="Calibri"/>
                        </a:rPr>
                        <a:t>2</a:t>
                      </a:r>
                    </a:p>
                  </a:txBody>
                  <a:tcPr marL="73152" marR="73152" marT="36576" marB="36576" anchor="ctr">
                    <a:solidFill>
                      <a:srgbClr val="FFFFFF"/>
                    </a:solidFill>
                  </a:tcPr>
                </a:tc>
                <a:tc>
                  <a:txBody>
                    <a:bodyPr/>
                    <a:lstStyle/>
                    <a:p>
                      <a:pPr algn="ctr"/>
                      <a:r>
                        <a:rPr lang="fr-FR" sz="1600" b="0" i="0">
                          <a:solidFill>
                            <a:srgbClr val="1C2830"/>
                          </a:solidFill>
                          <a:latin typeface="Calibri"/>
                        </a:rPr>
                        <a:t>0</a:t>
                      </a:r>
                    </a:p>
                  </a:txBody>
                  <a:tcPr marL="73152" marR="73152" marT="36576" marB="36576" anchor="ctr">
                    <a:solidFill>
                      <a:srgbClr val="FFFFFF"/>
                    </a:solidFill>
                  </a:tcPr>
                </a:tc>
                <a:tc>
                  <a:txBody>
                    <a:bodyPr/>
                    <a:lstStyle/>
                    <a:p>
                      <a:pPr algn="l"/>
                      <a:r>
                        <a:rPr lang="fr-FR" sz="1600" b="0" i="0">
                          <a:solidFill>
                            <a:srgbClr val="1C2830"/>
                          </a:solidFill>
                          <a:latin typeface="Calibri"/>
                        </a:rPr>
                        <a:t>divisible : compteur = 1, n = 6</a:t>
                      </a:r>
                    </a:p>
                  </a:txBody>
                  <a:tcPr marL="73152" marR="73152" marT="36576" marB="36576" anchor="ctr">
                    <a:solidFill>
                      <a:srgbClr val="FFFFFF"/>
                    </a:solidFill>
                  </a:tcPr>
                </a:tc>
                <a:extLst>
                  <a:ext uri="{0D108BD9-81ED-4DB2-BD59-A6C34878D82A}">
                    <a16:rowId xmlns:a16="http://schemas.microsoft.com/office/drawing/2014/main" val="10001"/>
                  </a:ext>
                </a:extLst>
              </a:tr>
              <a:tr h="541020">
                <a:tc>
                  <a:txBody>
                    <a:bodyPr/>
                    <a:lstStyle/>
                    <a:p>
                      <a:pPr algn="ctr"/>
                      <a:r>
                        <a:rPr lang="fr-FR" sz="1600" b="0" i="0">
                          <a:solidFill>
                            <a:srgbClr val="1C2830"/>
                          </a:solidFill>
                          <a:latin typeface="Calibri"/>
                        </a:rPr>
                        <a:t>6</a:t>
                      </a:r>
                    </a:p>
                  </a:txBody>
                  <a:tcPr marL="73152" marR="73152" marT="36576" marB="36576" anchor="ctr">
                    <a:solidFill>
                      <a:srgbClr val="F4F8FA"/>
                    </a:solidFill>
                  </a:tcPr>
                </a:tc>
                <a:tc>
                  <a:txBody>
                    <a:bodyPr/>
                    <a:lstStyle/>
                    <a:p>
                      <a:pPr algn="ctr"/>
                      <a:r>
                        <a:rPr lang="fr-FR" sz="1600" b="0" i="0">
                          <a:solidFill>
                            <a:srgbClr val="1C2830"/>
                          </a:solidFill>
                          <a:latin typeface="Calibri"/>
                        </a:rPr>
                        <a:t>2</a:t>
                      </a:r>
                    </a:p>
                  </a:txBody>
                  <a:tcPr marL="73152" marR="73152" marT="36576" marB="36576" anchor="ctr">
                    <a:solidFill>
                      <a:srgbClr val="F4F8FA"/>
                    </a:solidFill>
                  </a:tcPr>
                </a:tc>
                <a:tc>
                  <a:txBody>
                    <a:bodyPr/>
                    <a:lstStyle/>
                    <a:p>
                      <a:pPr algn="ctr"/>
                      <a:r>
                        <a:rPr lang="fr-FR" sz="1600" b="0" i="0">
                          <a:solidFill>
                            <a:srgbClr val="1C2830"/>
                          </a:solidFill>
                          <a:latin typeface="Calibri"/>
                        </a:rPr>
                        <a:t>1</a:t>
                      </a:r>
                    </a:p>
                  </a:txBody>
                  <a:tcPr marL="73152" marR="73152" marT="36576" marB="36576" anchor="ctr">
                    <a:solidFill>
                      <a:srgbClr val="F4F8FA"/>
                    </a:solidFill>
                  </a:tcPr>
                </a:tc>
                <a:tc>
                  <a:txBody>
                    <a:bodyPr/>
                    <a:lstStyle/>
                    <a:p>
                      <a:pPr algn="l"/>
                      <a:r>
                        <a:rPr lang="fr-FR" sz="1600" b="0" i="0">
                          <a:solidFill>
                            <a:srgbClr val="1C2830"/>
                          </a:solidFill>
                          <a:latin typeface="Calibri"/>
                        </a:rPr>
                        <a:t>divisible : compteur = 2, n = 3</a:t>
                      </a:r>
                    </a:p>
                  </a:txBody>
                  <a:tcPr marL="73152" marR="73152" marT="36576" marB="36576" anchor="ctr">
                    <a:solidFill>
                      <a:srgbClr val="F4F8FA"/>
                    </a:solidFill>
                  </a:tcPr>
                </a:tc>
                <a:extLst>
                  <a:ext uri="{0D108BD9-81ED-4DB2-BD59-A6C34878D82A}">
                    <a16:rowId xmlns:a16="http://schemas.microsoft.com/office/drawing/2014/main" val="10002"/>
                  </a:ext>
                </a:extLst>
              </a:tr>
              <a:tr h="541020">
                <a:tc>
                  <a:txBody>
                    <a:bodyPr/>
                    <a:lstStyle/>
                    <a:p>
                      <a:pPr algn="ctr"/>
                      <a:r>
                        <a:rPr lang="fr-FR" sz="1600" b="0" i="0">
                          <a:solidFill>
                            <a:srgbClr val="1C2830"/>
                          </a:solidFill>
                          <a:latin typeface="Calibri"/>
                        </a:rPr>
                        <a:t>3</a:t>
                      </a:r>
                    </a:p>
                  </a:txBody>
                  <a:tcPr marL="73152" marR="73152" marT="36576" marB="36576" anchor="ctr">
                    <a:solidFill>
                      <a:srgbClr val="FFFFFF"/>
                    </a:solidFill>
                  </a:tcPr>
                </a:tc>
                <a:tc>
                  <a:txBody>
                    <a:bodyPr/>
                    <a:lstStyle/>
                    <a:p>
                      <a:pPr algn="ctr"/>
                      <a:r>
                        <a:rPr lang="fr-FR" sz="1600" b="0" i="0">
                          <a:solidFill>
                            <a:srgbClr val="1C2830"/>
                          </a:solidFill>
                          <a:latin typeface="Calibri"/>
                        </a:rPr>
                        <a:t>2</a:t>
                      </a:r>
                    </a:p>
                  </a:txBody>
                  <a:tcPr marL="73152" marR="73152" marT="36576" marB="36576" anchor="ctr">
                    <a:solidFill>
                      <a:srgbClr val="FFFFFF"/>
                    </a:solidFill>
                  </a:tcPr>
                </a:tc>
                <a:tc>
                  <a:txBody>
                    <a:bodyPr/>
                    <a:lstStyle/>
                    <a:p>
                      <a:pPr algn="ctr"/>
                      <a:r>
                        <a:rPr lang="fr-FR" sz="1600" b="0" i="0">
                          <a:solidFill>
                            <a:srgbClr val="1C2830"/>
                          </a:solidFill>
                          <a:latin typeface="Calibri"/>
                        </a:rPr>
                        <a:t>2</a:t>
                      </a:r>
                    </a:p>
                  </a:txBody>
                  <a:tcPr marL="73152" marR="73152" marT="36576" marB="36576" anchor="ctr">
                    <a:solidFill>
                      <a:srgbClr val="FFFFFF"/>
                    </a:solidFill>
                  </a:tcPr>
                </a:tc>
                <a:tc>
                  <a:txBody>
                    <a:bodyPr/>
                    <a:lstStyle/>
                    <a:p>
                      <a:pPr algn="l"/>
                      <a:r>
                        <a:rPr lang="fr-FR" sz="1600" b="0" i="0">
                          <a:solidFill>
                            <a:srgbClr val="1C2830"/>
                          </a:solidFill>
                          <a:latin typeface="Calibri"/>
                        </a:rPr>
                        <a:t>non : afficher 2^2, compteur = 0, d = 3</a:t>
                      </a:r>
                    </a:p>
                  </a:txBody>
                  <a:tcPr marL="73152" marR="73152" marT="36576" marB="36576" anchor="ctr">
                    <a:solidFill>
                      <a:srgbClr val="FFFFFF"/>
                    </a:solidFill>
                  </a:tcPr>
                </a:tc>
                <a:extLst>
                  <a:ext uri="{0D108BD9-81ED-4DB2-BD59-A6C34878D82A}">
                    <a16:rowId xmlns:a16="http://schemas.microsoft.com/office/drawing/2014/main" val="10003"/>
                  </a:ext>
                </a:extLst>
              </a:tr>
              <a:tr h="541020">
                <a:tc>
                  <a:txBody>
                    <a:bodyPr/>
                    <a:lstStyle/>
                    <a:p>
                      <a:pPr algn="ctr"/>
                      <a:r>
                        <a:rPr lang="fr-FR" sz="1600" b="0" i="0">
                          <a:solidFill>
                            <a:srgbClr val="1C2830"/>
                          </a:solidFill>
                          <a:latin typeface="Calibri"/>
                        </a:rPr>
                        <a:t>3</a:t>
                      </a:r>
                    </a:p>
                  </a:txBody>
                  <a:tcPr marL="73152" marR="73152" marT="36576" marB="36576" anchor="ctr">
                    <a:solidFill>
                      <a:srgbClr val="F4F8FA"/>
                    </a:solidFill>
                  </a:tcPr>
                </a:tc>
                <a:tc>
                  <a:txBody>
                    <a:bodyPr/>
                    <a:lstStyle/>
                    <a:p>
                      <a:pPr algn="ctr"/>
                      <a:r>
                        <a:rPr lang="fr-FR" sz="1600" b="0" i="0">
                          <a:solidFill>
                            <a:srgbClr val="1C2830"/>
                          </a:solidFill>
                          <a:latin typeface="Calibri"/>
                        </a:rPr>
                        <a:t>3</a:t>
                      </a:r>
                    </a:p>
                  </a:txBody>
                  <a:tcPr marL="73152" marR="73152" marT="36576" marB="36576" anchor="ctr">
                    <a:solidFill>
                      <a:srgbClr val="F4F8FA"/>
                    </a:solidFill>
                  </a:tcPr>
                </a:tc>
                <a:tc>
                  <a:txBody>
                    <a:bodyPr/>
                    <a:lstStyle/>
                    <a:p>
                      <a:pPr algn="ctr"/>
                      <a:r>
                        <a:rPr lang="fr-FR" sz="1600" b="0" i="0">
                          <a:solidFill>
                            <a:srgbClr val="1C2830"/>
                          </a:solidFill>
                          <a:latin typeface="Calibri"/>
                        </a:rPr>
                        <a:t>0</a:t>
                      </a:r>
                    </a:p>
                  </a:txBody>
                  <a:tcPr marL="73152" marR="73152" marT="36576" marB="36576" anchor="ctr">
                    <a:solidFill>
                      <a:srgbClr val="F4F8FA"/>
                    </a:solidFill>
                  </a:tcPr>
                </a:tc>
                <a:tc>
                  <a:txBody>
                    <a:bodyPr/>
                    <a:lstStyle/>
                    <a:p>
                      <a:pPr algn="l"/>
                      <a:r>
                        <a:rPr lang="fr-FR" sz="1600" b="0" i="0">
                          <a:solidFill>
                            <a:srgbClr val="1C2830"/>
                          </a:solidFill>
                          <a:latin typeface="Calibri"/>
                        </a:rPr>
                        <a:t>divisible : compteur = 1, n = 1</a:t>
                      </a:r>
                    </a:p>
                  </a:txBody>
                  <a:tcPr marL="73152" marR="73152" marT="36576" marB="36576" anchor="ctr">
                    <a:solidFill>
                      <a:srgbClr val="F4F8FA"/>
                    </a:solidFill>
                  </a:tcPr>
                </a:tc>
                <a:extLst>
                  <a:ext uri="{0D108BD9-81ED-4DB2-BD59-A6C34878D82A}">
                    <a16:rowId xmlns:a16="http://schemas.microsoft.com/office/drawing/2014/main" val="10004"/>
                  </a:ext>
                </a:extLst>
              </a:tr>
              <a:tr h="541020">
                <a:tc>
                  <a:txBody>
                    <a:bodyPr/>
                    <a:lstStyle/>
                    <a:p>
                      <a:pPr algn="ctr"/>
                      <a:r>
                        <a:rPr lang="fr-FR" sz="1600" b="0" i="0">
                          <a:solidFill>
                            <a:srgbClr val="1C2830"/>
                          </a:solidFill>
                          <a:latin typeface="Calibri"/>
                        </a:rPr>
                        <a:t>1</a:t>
                      </a:r>
                    </a:p>
                  </a:txBody>
                  <a:tcPr marL="73152" marR="73152" marT="36576" marB="36576" anchor="ctr">
                    <a:solidFill>
                      <a:srgbClr val="FFFFFF"/>
                    </a:solidFill>
                  </a:tcPr>
                </a:tc>
                <a:tc>
                  <a:txBody>
                    <a:bodyPr/>
                    <a:lstStyle/>
                    <a:p>
                      <a:pPr algn="ctr"/>
                      <a:r>
                        <a:rPr lang="fr-FR" sz="1600" b="0" i="0">
                          <a:solidFill>
                            <a:srgbClr val="1C2830"/>
                          </a:solidFill>
                          <a:latin typeface="Calibri"/>
                        </a:rPr>
                        <a:t>3</a:t>
                      </a:r>
                    </a:p>
                  </a:txBody>
                  <a:tcPr marL="73152" marR="73152" marT="36576" marB="36576" anchor="ctr">
                    <a:solidFill>
                      <a:srgbClr val="FFFFFF"/>
                    </a:solidFill>
                  </a:tcPr>
                </a:tc>
                <a:tc>
                  <a:txBody>
                    <a:bodyPr/>
                    <a:lstStyle/>
                    <a:p>
                      <a:pPr algn="ctr"/>
                      <a:r>
                        <a:rPr lang="fr-FR" sz="1600" b="0" i="0">
                          <a:solidFill>
                            <a:srgbClr val="1C2830"/>
                          </a:solidFill>
                          <a:latin typeface="Calibri"/>
                        </a:rPr>
                        <a:t>1</a:t>
                      </a:r>
                    </a:p>
                  </a:txBody>
                  <a:tcPr marL="73152" marR="73152" marT="36576" marB="36576" anchor="ctr">
                    <a:solidFill>
                      <a:srgbClr val="FFFFFF"/>
                    </a:solidFill>
                  </a:tcPr>
                </a:tc>
                <a:tc>
                  <a:txBody>
                    <a:bodyPr/>
                    <a:lstStyle/>
                    <a:p>
                      <a:pPr algn="l"/>
                      <a:r>
                        <a:rPr lang="fr-FR" sz="1600" b="0" i="0">
                          <a:solidFill>
                            <a:srgbClr val="1C2830"/>
                          </a:solidFill>
                          <a:latin typeface="Calibri"/>
                        </a:rPr>
                        <a:t>n = 1 : afficher 3^1</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4773168"/>
            <a:ext cx="11155680" cy="530352"/>
          </a:xfrm>
          <a:prstGeom prst="rect">
            <a:avLst/>
          </a:prstGeom>
          <a:noFill/>
        </p:spPr>
        <p:txBody>
          <a:bodyPr wrap="square"/>
          <a:lstStyle/>
          <a:p>
            <a:pPr algn="l">
              <a:lnSpc>
                <a:spcPct val="105000"/>
              </a:lnSpc>
              <a:spcBef>
                <a:spcPts val="0"/>
              </a:spcBef>
              <a:spcAft>
                <a:spcPts val="0"/>
              </a:spcAft>
            </a:pPr>
            <a:r>
              <a:rPr lang="fr-FR" sz="2600" b="1" i="0">
                <a:solidFill>
                  <a:srgbClr val="0C384C"/>
                </a:solidFill>
                <a:latin typeface="Consolas"/>
              </a:rPr>
              <a:t>Affichage :   2^2 3^1</a:t>
            </a:r>
          </a:p>
        </p:txBody>
      </p:sp>
      <p:sp>
        <p:nvSpPr>
          <p:cNvPr id="7" name="TextBox 6"/>
          <p:cNvSpPr txBox="1"/>
          <p:nvPr/>
        </p:nvSpPr>
        <p:spPr>
          <a:xfrm>
            <a:off x="502920" y="5394960"/>
            <a:ext cx="11155680" cy="822960"/>
          </a:xfrm>
          <a:prstGeom prst="rect">
            <a:avLst/>
          </a:prstGeom>
          <a:noFill/>
        </p:spPr>
        <p:txBody>
          <a:bodyPr wrap="square"/>
          <a:lstStyle/>
          <a:p>
            <a:pPr algn="l">
              <a:lnSpc>
                <a:spcPct val="105000"/>
              </a:lnSpc>
              <a:spcBef>
                <a:spcPts val="0"/>
              </a:spcBef>
              <a:spcAft>
                <a:spcPts val="0"/>
              </a:spcAft>
            </a:pPr>
            <a:r>
              <a:rPr lang="fr-FR" sz="1800" b="0" i="0">
                <a:solidFill>
                  <a:srgbClr val="4E6470"/>
                </a:solidFill>
                <a:latin typeface="Calibri"/>
              </a:rPr>
              <a:t>int suffit pour n, d et compteur. Lecture avec %d, affichage avec %d^%d.</a:t>
            </a:r>
          </a:p>
        </p:txBody>
      </p:sp>
      <p:sp>
        <p:nvSpPr>
          <p:cNvPr id="8" name="TextBox 7"/>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18  /  27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lIns="0" tIns="0" rIns="0" bIns="0" anchor="ctr"/>
          <a:lstStyle/>
          <a:p>
            <a:pPr algn="l">
              <a:lnSpc>
                <a:spcPct val="100000"/>
              </a:lnSpc>
              <a:spcBef>
                <a:spcPts val="0"/>
              </a:spcBef>
              <a:spcAft>
                <a:spcPts val="0"/>
              </a:spcAft>
            </a:pPr>
            <a:r>
              <a:rPr lang="fr-FR" sz="3200" b="0" i="0">
                <a:solidFill>
                  <a:srgbClr val="FFFFFF"/>
                </a:solidFill>
                <a:latin typeface="Calibri"/>
              </a:rPr>
              <a:t>Réponse  —  facto.c</a:t>
            </a:r>
          </a:p>
        </p:txBody>
      </p:sp>
      <p:sp>
        <p:nvSpPr>
          <p:cNvPr id="5" name="Rounded Rectangle 4"/>
          <p:cNvSpPr/>
          <p:nvPr/>
        </p:nvSpPr>
        <p:spPr>
          <a:xfrm>
            <a:off x="502920" y="1200000"/>
            <a:ext cx="11183112" cy="5200000"/>
          </a:xfrm>
          <a:prstGeom prst="roundRect">
            <a:avLst>
              <a:gd name="adj" fmla="val 8000"/>
            </a:avLst>
          </a:prstGeom>
          <a:solidFill>
            <a:srgbClr val="F4F8F9"/>
          </a:solidFill>
          <a:ln w="12700">
            <a:solidFill>
              <a:srgbClr val="D5E2E8"/>
            </a:solidFill>
          </a:ln>
        </p:spPr>
        <p:txBody>
          <a:bodyPr rtlCol="0" anchor="ctr"/>
          <a:lstStyle/>
          <a:p>
            <a:pPr algn="ctr"/>
            <a:endParaRPr/>
          </a:p>
        </p:txBody>
      </p:sp>
      <p:sp>
        <p:nvSpPr>
          <p:cNvPr id="6" name="TextBox 5"/>
          <p:cNvSpPr txBox="1"/>
          <p:nvPr/>
        </p:nvSpPr>
        <p:spPr>
          <a:xfrm>
            <a:off x="662920" y="1320000"/>
            <a:ext cx="10561320" cy="5000000"/>
          </a:xfrm>
          <a:prstGeom prst="rect">
            <a:avLst/>
          </a:prstGeom>
          <a:noFill/>
        </p:spPr>
        <p:txBody>
          <a:bodyPr wrap="square" lIns="0" tIns="0" rIns="0" bIns="0" anchor="t"/>
          <a:lstStyle/>
          <a:p>
            <a:pPr algn="l">
              <a:lnSpc>
                <a:spcPts val="1150"/>
              </a:lnSpc>
              <a:spcBef>
                <a:spcPts val="0"/>
              </a:spcBef>
              <a:spcAft>
                <a:spcPts val="0"/>
              </a:spcAft>
            </a:pPr>
            <a:r>
              <a:rPr lang="fr-FR" sz="1000" b="0" i="0">
                <a:solidFill>
                  <a:srgbClr val="0C384C"/>
                </a:solidFill>
                <a:latin typeface="Consolas"/>
              </a:rPr>
              <a:t>#include &lt;stdio.h&gt;</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int main(){</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int nb;</a:t>
            </a:r>
          </a:p>
          <a:p>
            <a:pPr algn="l">
              <a:lnSpc>
                <a:spcPts val="1150"/>
              </a:lnSpc>
              <a:spcBef>
                <a:spcPts val="0"/>
              </a:spcBef>
              <a:spcAft>
                <a:spcPts val="0"/>
              </a:spcAft>
            </a:pPr>
            <a:r>
              <a:rPr lang="fr-FR" sz="1000" b="0" i="0">
                <a:solidFill>
                  <a:srgbClr val="0C384C"/>
                </a:solidFill>
                <a:latin typeface="Consolas"/>
              </a:rPr>
              <a:t>    printf("Entrez un nombre à factoriser\n");</a:t>
            </a:r>
          </a:p>
          <a:p>
            <a:pPr algn="l">
              <a:lnSpc>
                <a:spcPts val="1150"/>
              </a:lnSpc>
              <a:spcBef>
                <a:spcPts val="0"/>
              </a:spcBef>
              <a:spcAft>
                <a:spcPts val="0"/>
              </a:spcAft>
            </a:pPr>
            <a:r>
              <a:rPr lang="fr-FR" sz="1000" b="0" i="0">
                <a:solidFill>
                  <a:srgbClr val="0C384C"/>
                </a:solidFill>
                <a:latin typeface="Consolas"/>
              </a:rPr>
              <a:t>    scanf("%d", &amp;nb);</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int counter = 0;</a:t>
            </a:r>
          </a:p>
          <a:p>
            <a:pPr algn="l">
              <a:lnSpc>
                <a:spcPts val="1150"/>
              </a:lnSpc>
              <a:spcBef>
                <a:spcPts val="0"/>
              </a:spcBef>
              <a:spcAft>
                <a:spcPts val="0"/>
              </a:spcAft>
            </a:pPr>
            <a:r>
              <a:rPr lang="fr-FR" sz="1000" b="0" i="0">
                <a:solidFill>
                  <a:srgbClr val="0C384C"/>
                </a:solidFill>
                <a:latin typeface="Consolas"/>
              </a:rPr>
              <a:t>    int d = 2;</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while(nb &gt; 1){ </a:t>
            </a:r>
          </a:p>
          <a:p>
            <a:pPr algn="l">
              <a:lnSpc>
                <a:spcPts val="1150"/>
              </a:lnSpc>
              <a:spcBef>
                <a:spcPts val="0"/>
              </a:spcBef>
              <a:spcAft>
                <a:spcPts val="0"/>
              </a:spcAft>
            </a:pPr>
            <a:r>
              <a:rPr lang="fr-FR" sz="1000" b="0" i="0">
                <a:solidFill>
                  <a:srgbClr val="0C384C"/>
                </a:solidFill>
                <a:latin typeface="Consolas"/>
              </a:rPr>
              <a:t>        if(nb%d == 0){ // On ne trouvera jamais un diviseur non premier car on incrémente ceux ci, on ne trouvera pas 6 car nb plus diviseur par 2, on ne trouvera pas 8 pour le même raison, ...</a:t>
            </a:r>
          </a:p>
          <a:p>
            <a:pPr algn="l">
              <a:lnSpc>
                <a:spcPts val="1150"/>
              </a:lnSpc>
              <a:spcBef>
                <a:spcPts val="0"/>
              </a:spcBef>
              <a:spcAft>
                <a:spcPts val="0"/>
              </a:spcAft>
            </a:pPr>
            <a:r>
              <a:rPr lang="fr-FR" sz="1000" b="0" i="0">
                <a:solidFill>
                  <a:srgbClr val="0C384C"/>
                </a:solidFill>
                <a:latin typeface="Consolas"/>
              </a:rPr>
              <a:t>            counter++;</a:t>
            </a:r>
          </a:p>
          <a:p>
            <a:pPr algn="l">
              <a:lnSpc>
                <a:spcPts val="1150"/>
              </a:lnSpc>
              <a:spcBef>
                <a:spcPts val="0"/>
              </a:spcBef>
              <a:spcAft>
                <a:spcPts val="0"/>
              </a:spcAft>
            </a:pPr>
            <a:r>
              <a:rPr lang="fr-FR" sz="1000" b="0" i="0">
                <a:solidFill>
                  <a:srgbClr val="0C384C"/>
                </a:solidFill>
                <a:latin typeface="Consolas"/>
              </a:rPr>
              <a:t>            nb /= d;</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else{</a:t>
            </a:r>
          </a:p>
          <a:p>
            <a:pPr algn="l">
              <a:lnSpc>
                <a:spcPts val="1150"/>
              </a:lnSpc>
              <a:spcBef>
                <a:spcPts val="0"/>
              </a:spcBef>
              <a:spcAft>
                <a:spcPts val="0"/>
              </a:spcAft>
            </a:pPr>
            <a:r>
              <a:rPr lang="fr-FR" sz="1000" b="0" i="0">
                <a:solidFill>
                  <a:srgbClr val="0C384C"/>
                </a:solidFill>
                <a:latin typeface="Consolas"/>
              </a:rPr>
              <a:t>            if(counter != 0){</a:t>
            </a:r>
          </a:p>
          <a:p>
            <a:pPr algn="l">
              <a:lnSpc>
                <a:spcPts val="1150"/>
              </a:lnSpc>
              <a:spcBef>
                <a:spcPts val="0"/>
              </a:spcBef>
              <a:spcAft>
                <a:spcPts val="0"/>
              </a:spcAft>
            </a:pPr>
            <a:r>
              <a:rPr lang="fr-FR" sz="1000" b="0" i="0">
                <a:solidFill>
                  <a:srgbClr val="0C384C"/>
                </a:solidFill>
                <a:latin typeface="Consolas"/>
              </a:rPr>
              <a:t>                printf("%d^%d ", d, counter);</a:t>
            </a:r>
          </a:p>
          <a:p>
            <a:pPr algn="l">
              <a:lnSpc>
                <a:spcPts val="1150"/>
              </a:lnSpc>
              <a:spcBef>
                <a:spcPts val="0"/>
              </a:spcBef>
              <a:spcAft>
                <a:spcPts val="0"/>
              </a:spcAft>
            </a:pPr>
            <a:r>
              <a:rPr lang="fr-FR" sz="1000" b="0" i="0">
                <a:solidFill>
                  <a:srgbClr val="0C384C"/>
                </a:solidFill>
                <a:latin typeface="Consolas"/>
              </a:rPr>
              <a:t>                counter = 0;</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d++;</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if(counter != 0){</a:t>
            </a:r>
          </a:p>
          <a:p>
            <a:pPr algn="l">
              <a:lnSpc>
                <a:spcPts val="1150"/>
              </a:lnSpc>
              <a:spcBef>
                <a:spcPts val="0"/>
              </a:spcBef>
              <a:spcAft>
                <a:spcPts val="0"/>
              </a:spcAft>
            </a:pPr>
            <a:r>
              <a:rPr lang="fr-FR" sz="1000" b="0" i="0">
                <a:solidFill>
                  <a:srgbClr val="0C384C"/>
                </a:solidFill>
                <a:latin typeface="Consolas"/>
              </a:rPr>
              <a:t>        printf("%d^%d", d, counter);</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    printf("\n");</a:t>
            </a:r>
          </a:p>
          <a:p>
            <a:pPr algn="l">
              <a:lnSpc>
                <a:spcPts val="1150"/>
              </a:lnSpc>
              <a:spcBef>
                <a:spcPts val="0"/>
              </a:spcBef>
              <a:spcAft>
                <a:spcPts val="0"/>
              </a:spcAft>
            </a:pPr>
            <a:r>
              <a:rPr lang="fr-FR" sz="1000" b="0" i="0">
                <a:solidFill>
                  <a:srgbClr val="0C384C"/>
                </a:solidFill>
                <a:latin typeface="Consolas"/>
              </a:rPr>
              <a:t>    return 0;</a:t>
            </a:r>
          </a:p>
          <a:p>
            <a:pPr algn="l">
              <a:lnSpc>
                <a:spcPts val="1150"/>
              </a:lnSpc>
              <a:spcBef>
                <a:spcPts val="0"/>
              </a:spcBef>
              <a:spcAft>
                <a:spcPts val="0"/>
              </a:spcAft>
            </a:pPr>
            <a:r>
              <a:rPr lang="fr-FR" sz="1000" b="0" i="0">
                <a:solidFill>
                  <a:srgbClr val="0C384C"/>
                </a:solidFill>
                <a:latin typeface="Consolas"/>
              </a:rPr>
              <a:t> </a:t>
            </a:r>
          </a:p>
          <a:p>
            <a:pPr algn="l">
              <a:lnSpc>
                <a:spcPts val="1150"/>
              </a:lnSpc>
              <a:spcBef>
                <a:spcPts val="0"/>
              </a:spcBef>
              <a:spcAft>
                <a:spcPts val="0"/>
              </a:spcAft>
            </a:pPr>
            <a:r>
              <a:rPr lang="fr-FR" sz="1000" b="0" i="0">
                <a:solidFill>
                  <a:srgbClr val="0C384C"/>
                </a:solidFill>
                <a:latin typeface="Consolas"/>
              </a:rPr>
              <a:t>}</a:t>
            </a:r>
          </a:p>
        </p:txBody>
      </p:sp>
      <p:sp>
        <p:nvSpPr>
          <p:cNvPr id="7" name="TextBox 6"/>
          <p:cNvSpPr txBox="1"/>
          <p:nvPr/>
        </p:nvSpPr>
        <p:spPr>
          <a:xfrm>
            <a:off x="10058400" y="6480000"/>
            <a:ext cx="1828800" cy="274320"/>
          </a:xfrm>
          <a:prstGeom prst="rect">
            <a:avLst/>
          </a:prstGeom>
          <a:noFill/>
        </p:spPr>
        <p:txBody>
          <a:bodyPr wrap="square" lIns="0" tIns="0" rIns="0" bIns="0" anchor="ctr"/>
          <a:lstStyle/>
          <a:p>
            <a:pPr algn="r">
              <a:lnSpc>
                <a:spcPct val="100000"/>
              </a:lnSpc>
              <a:spcBef>
                <a:spcPts val="0"/>
              </a:spcBef>
              <a:spcAft>
                <a:spcPts val="0"/>
              </a:spcAft>
            </a:pPr>
            <a:r>
              <a:rPr lang="fr-FR" sz="1200" b="0" i="0">
                <a:solidFill>
                  <a:srgbClr val="4E6470"/>
                </a:solidFill>
                <a:latin typeface="Calibri"/>
              </a:rPr>
              <a:t>19  /  27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595360" y="-1371600"/>
            <a:ext cx="5669280" cy="5669280"/>
          </a:xfrm>
          <a:prstGeom prst="ellipse">
            <a:avLst/>
          </a:prstGeom>
          <a:solidFill>
            <a:srgbClr val="0E40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148840"/>
            <a:ext cx="10058400" cy="411480"/>
          </a:xfrm>
          <a:prstGeom prst="rect">
            <a:avLst/>
          </a:prstGeom>
          <a:noFill/>
        </p:spPr>
        <p:txBody>
          <a:bodyPr wrap="square"/>
          <a:lstStyle/>
          <a:p>
            <a:pPr algn="l">
              <a:lnSpc>
                <a:spcPct val="105000"/>
              </a:lnSpc>
              <a:spcBef>
                <a:spcPts val="0"/>
              </a:spcBef>
              <a:spcAft>
                <a:spcPts val="600"/>
              </a:spcAft>
            </a:pPr>
            <a:r>
              <a:rPr lang="fr-FR" sz="1600" b="1" i="0">
                <a:solidFill>
                  <a:srgbClr val="9FC8D6"/>
                </a:solidFill>
                <a:latin typeface="Calibri"/>
              </a:rPr>
              <a:t>EXERCICE 7</a:t>
            </a:r>
          </a:p>
        </p:txBody>
      </p:sp>
      <p:sp>
        <p:nvSpPr>
          <p:cNvPr id="5" name="TextBox 4"/>
          <p:cNvSpPr txBox="1"/>
          <p:nvPr/>
        </p:nvSpPr>
        <p:spPr>
          <a:xfrm>
            <a:off x="731520" y="2606040"/>
            <a:ext cx="10515600" cy="1188720"/>
          </a:xfrm>
          <a:prstGeom prst="rect">
            <a:avLst/>
          </a:prstGeom>
          <a:noFill/>
        </p:spPr>
        <p:txBody>
          <a:bodyPr wrap="square"/>
          <a:lstStyle/>
          <a:p>
            <a:pPr algn="l">
              <a:lnSpc>
                <a:spcPct val="105000"/>
              </a:lnSpc>
              <a:spcBef>
                <a:spcPts val="0"/>
              </a:spcBef>
              <a:spcAft>
                <a:spcPts val="600"/>
              </a:spcAft>
            </a:pPr>
            <a:r>
              <a:rPr lang="fr-FR" sz="4400" b="0" i="0">
                <a:solidFill>
                  <a:srgbClr val="FFFFFF"/>
                </a:solidFill>
                <a:latin typeface="Calibri"/>
              </a:rPr>
              <a:t>Coefficient binomial</a:t>
            </a:r>
          </a:p>
        </p:txBody>
      </p:sp>
      <p:sp>
        <p:nvSpPr>
          <p:cNvPr id="6" name="TextBox 5"/>
          <p:cNvSpPr txBox="1"/>
          <p:nvPr/>
        </p:nvSpPr>
        <p:spPr>
          <a:xfrm>
            <a:off x="731520" y="3931920"/>
            <a:ext cx="9144000" cy="731520"/>
          </a:xfrm>
          <a:prstGeom prst="rect">
            <a:avLst/>
          </a:prstGeom>
          <a:noFill/>
        </p:spPr>
        <p:txBody>
          <a:bodyPr wrap="square"/>
          <a:lstStyle/>
          <a:p>
            <a:pPr algn="l">
              <a:lnSpc>
                <a:spcPct val="105000"/>
              </a:lnSpc>
              <a:spcBef>
                <a:spcPts val="0"/>
              </a:spcBef>
              <a:spcAft>
                <a:spcPts val="600"/>
              </a:spcAft>
            </a:pPr>
            <a:r>
              <a:rPr lang="fr-FR" sz="2200" b="0" i="0">
                <a:solidFill>
                  <a:srgbClr val="C5D8E0"/>
                </a:solidFill>
                <a:latin typeface="Calibri"/>
              </a:rPr>
              <a:t>Sans passer par les factorielles</a:t>
            </a:r>
          </a:p>
        </p:txBody>
      </p:sp>
      <p:sp>
        <p:nvSpPr>
          <p:cNvPr id="7" name="TextBox 6"/>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C5D5DC"/>
                </a:solidFill>
                <a:latin typeface="Calibri"/>
              </a:rPr>
              <a:t>20  /  27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Exercice 7  —  Coefficient binomial</a:t>
            </a:r>
          </a:p>
        </p:txBody>
      </p:sp>
      <p:sp>
        <p:nvSpPr>
          <p:cNvPr id="5" name="TextBox 4"/>
          <p:cNvSpPr txBox="1"/>
          <p:nvPr/>
        </p:nvSpPr>
        <p:spPr>
          <a:xfrm>
            <a:off x="502920" y="1371600"/>
            <a:ext cx="11155680" cy="640080"/>
          </a:xfrm>
          <a:prstGeom prst="rect">
            <a:avLst/>
          </a:prstGeom>
          <a:noFill/>
        </p:spPr>
        <p:txBody>
          <a:bodyPr wrap="square"/>
          <a:lstStyle/>
          <a:p>
            <a:pPr algn="l">
              <a:lnSpc>
                <a:spcPct val="105000"/>
              </a:lnSpc>
              <a:spcBef>
                <a:spcPts val="0"/>
              </a:spcBef>
              <a:spcAft>
                <a:spcPts val="0"/>
              </a:spcAft>
            </a:pPr>
            <a:r>
              <a:rPr lang="fr-FR" sz="2200" b="0" i="0">
                <a:solidFill>
                  <a:srgbClr val="1C2830"/>
                </a:solidFill>
                <a:latin typeface="Calibri"/>
              </a:rPr>
              <a:t>Pour des entiers n et m avec 0 ≤ m ≤ n, le coefficient binomial vaut</a:t>
            </a:r>
          </a:p>
        </p:txBody>
      </p:sp>
      <p:sp>
        <p:nvSpPr>
          <p:cNvPr id="6" name="Rounded Rectangle 5"/>
          <p:cNvSpPr/>
          <p:nvPr/>
        </p:nvSpPr>
        <p:spPr>
          <a:xfrm>
            <a:off x="502920" y="2103120"/>
            <a:ext cx="11183112" cy="128016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640080" y="2240280"/>
                <a:ext cx="10881360" cy="1005840"/>
              </a:xfrm>
              <a:prstGeom prst="rect">
                <a:avLst/>
              </a:prstGeom>
              <a:noFill/>
            </p:spPr>
            <p:txBody>
              <a:bodyPr wrap="square"/>
              <a:lstStyle/>
              <a:p>
                <a:pPr algn="ctr">
                  <a:lnSpc>
                    <a:spcPct val="105000"/>
                  </a:lnSpc>
                  <a:spcBef>
                    <a:spcPts val="0"/>
                  </a:spcBef>
                  <a:spcAft>
                    <a:spcPts val="0"/>
                  </a:spcAft>
                </a:pPr>
                <a14:m>
                  <m:oMathPara xmlns:m="http://schemas.openxmlformats.org/officeDocument/2006/math">
                    <m:oMath>
                      <m:sSubSup>
                        <m:sSubSupPr>
                          <m:ctrlPr>
                            <a:rPr lang="fr-FR" sz="3000" b="0" i="1" smtClean="0">
                              <a:solidFill>
                                <a:srgbClr val="0C384C"/>
                              </a:solidFill>
                              <a:latin typeface="Cambria Math" panose="02040503050406030204" pitchFamily="18" charset="0"/>
                            </a:rPr>
                          </m:ctrlPr>
                        </m:sSubSupPr>
                        <m:e>
                          <m:r>
                            <a:rPr lang="fr-FR" sz="3000" b="0" i="1" smtClean="0">
                              <a:solidFill>
                                <a:srgbClr val="0C384C"/>
                              </a:solidFill>
                              <a:latin typeface="Cambria Math" panose="02040503050406030204" pitchFamily="18" charset="0"/>
                            </a:rPr>
                            <m:t>𝐶</m:t>
                          </m:r>
                        </m:e>
                        <m:sub>
                          <m:r>
                            <a:rPr lang="fr-FR" sz="3000" b="0" i="1" smtClean="0">
                              <a:solidFill>
                                <a:srgbClr val="0C384C"/>
                              </a:solidFill>
                              <a:latin typeface="Cambria Math" panose="02040503050406030204" pitchFamily="18" charset="0"/>
                            </a:rPr>
                            <m:t>𝑛</m:t>
                          </m:r>
                        </m:sub>
                        <m:sup>
                          <m:r>
                            <a:rPr lang="fr-FR" sz="3000" b="0" i="1" smtClean="0">
                              <a:solidFill>
                                <a:srgbClr val="0C384C"/>
                              </a:solidFill>
                              <a:latin typeface="Cambria Math" panose="02040503050406030204" pitchFamily="18" charset="0"/>
                            </a:rPr>
                            <m:t>𝑚</m:t>
                          </m:r>
                        </m:sup>
                      </m:sSubSup>
                      <m:r>
                        <a:rPr lang="fr-FR" sz="3000" b="0" i="1" smtClean="0">
                          <a:solidFill>
                            <a:srgbClr val="0C384C"/>
                          </a:solidFill>
                          <a:latin typeface="Cambria Math" panose="02040503050406030204" pitchFamily="18" charset="0"/>
                        </a:rPr>
                        <m:t>=</m:t>
                      </m:r>
                      <m:d>
                        <m:dPr>
                          <m:ctrlPr>
                            <a:rPr lang="fr-FR" sz="3000" b="0" i="1" smtClean="0">
                              <a:solidFill>
                                <a:srgbClr val="0C384C"/>
                              </a:solidFill>
                              <a:latin typeface="Cambria Math" panose="02040503050406030204" pitchFamily="18" charset="0"/>
                            </a:rPr>
                          </m:ctrlPr>
                        </m:dPr>
                        <m:e>
                          <m:f>
                            <m:fPr>
                              <m:type m:val="noBar"/>
                              <m:ctrlPr>
                                <a:rPr lang="fr-FR" sz="3000" b="0" i="1" smtClean="0">
                                  <a:solidFill>
                                    <a:srgbClr val="0C384C"/>
                                  </a:solidFill>
                                  <a:latin typeface="Cambria Math" panose="02040503050406030204" pitchFamily="18" charset="0"/>
                                </a:rPr>
                              </m:ctrlPr>
                            </m:fPr>
                            <m:num>
                              <m:r>
                                <a:rPr lang="fr-FR" sz="3000" b="0" i="1" smtClean="0">
                                  <a:solidFill>
                                    <a:srgbClr val="0C384C"/>
                                  </a:solidFill>
                                  <a:latin typeface="Cambria Math" panose="02040503050406030204" pitchFamily="18" charset="0"/>
                                </a:rPr>
                                <m:t>𝑛</m:t>
                              </m:r>
                            </m:num>
                            <m:den>
                              <m:r>
                                <a:rPr lang="fr-FR" sz="3000" b="0" i="1" smtClean="0">
                                  <a:solidFill>
                                    <a:srgbClr val="0C384C"/>
                                  </a:solidFill>
                                  <a:latin typeface="Cambria Math" panose="02040503050406030204" pitchFamily="18" charset="0"/>
                                </a:rPr>
                                <m:t>𝑚</m:t>
                              </m:r>
                            </m:den>
                          </m:f>
                        </m:e>
                      </m:d>
                      <m:r>
                        <a:rPr lang="fr-FR" sz="3000" b="0" i="1" smtClean="0">
                          <a:solidFill>
                            <a:srgbClr val="0C384C"/>
                          </a:solidFill>
                          <a:latin typeface="Cambria Math" panose="02040503050406030204" pitchFamily="18" charset="0"/>
                        </a:rPr>
                        <m:t>=</m:t>
                      </m:r>
                      <m:f>
                        <m:fPr>
                          <m:ctrlPr>
                            <a:rPr lang="fr-FR" sz="3000" b="0" i="1" smtClean="0">
                              <a:solidFill>
                                <a:srgbClr val="0C384C"/>
                              </a:solidFill>
                              <a:latin typeface="Cambria Math" panose="02040503050406030204" pitchFamily="18" charset="0"/>
                            </a:rPr>
                          </m:ctrlPr>
                        </m:fPr>
                        <m:num>
                          <m:r>
                            <a:rPr lang="fr-FR" sz="3000" b="0" i="1" smtClean="0">
                              <a:solidFill>
                                <a:srgbClr val="0C384C"/>
                              </a:solidFill>
                              <a:latin typeface="Cambria Math" panose="02040503050406030204" pitchFamily="18" charset="0"/>
                            </a:rPr>
                            <m:t>𝑛</m:t>
                          </m:r>
                          <m:r>
                            <a:rPr lang="fr-FR" sz="3000" b="0" i="1" smtClean="0">
                              <a:solidFill>
                                <a:srgbClr val="0C384C"/>
                              </a:solidFill>
                              <a:latin typeface="Cambria Math" panose="02040503050406030204" pitchFamily="18" charset="0"/>
                            </a:rPr>
                            <m:t>!</m:t>
                          </m:r>
                        </m:num>
                        <m:den>
                          <m:r>
                            <a:rPr lang="fr-FR" sz="3000" b="0" i="1" smtClean="0">
                              <a:solidFill>
                                <a:srgbClr val="0C384C"/>
                              </a:solidFill>
                              <a:latin typeface="Cambria Math" panose="02040503050406030204" pitchFamily="18" charset="0"/>
                            </a:rPr>
                            <m:t>𝑚</m:t>
                          </m:r>
                          <m:r>
                            <a:rPr lang="fr-FR" sz="3000" b="0" i="1" smtClean="0">
                              <a:solidFill>
                                <a:srgbClr val="0C384C"/>
                              </a:solidFill>
                              <a:latin typeface="Cambria Math" panose="02040503050406030204" pitchFamily="18" charset="0"/>
                            </a:rPr>
                            <m:t>!</m:t>
                          </m:r>
                          <m:d>
                            <m:dPr>
                              <m:ctrlPr>
                                <a:rPr lang="fr-FR" sz="3000" b="0" i="1" smtClean="0">
                                  <a:solidFill>
                                    <a:srgbClr val="0C384C"/>
                                  </a:solidFill>
                                  <a:latin typeface="Cambria Math" panose="02040503050406030204" pitchFamily="18" charset="0"/>
                                </a:rPr>
                              </m:ctrlPr>
                            </m:dPr>
                            <m:e>
                              <m:r>
                                <a:rPr lang="fr-FR" sz="3000" b="0" i="1" smtClean="0">
                                  <a:solidFill>
                                    <a:srgbClr val="0C384C"/>
                                  </a:solidFill>
                                  <a:latin typeface="Cambria Math" panose="02040503050406030204" pitchFamily="18" charset="0"/>
                                </a:rPr>
                                <m:t>𝑛</m:t>
                              </m:r>
                              <m:r>
                                <a:rPr lang="fr-FR" sz="3000" b="0" i="1" smtClean="0">
                                  <a:solidFill>
                                    <a:srgbClr val="0C384C"/>
                                  </a:solidFill>
                                  <a:latin typeface="Cambria Math" panose="02040503050406030204" pitchFamily="18" charset="0"/>
                                </a:rPr>
                                <m:t>−</m:t>
                              </m:r>
                              <m:r>
                                <a:rPr lang="fr-FR" sz="3000" b="0" i="1" smtClean="0">
                                  <a:solidFill>
                                    <a:srgbClr val="0C384C"/>
                                  </a:solidFill>
                                  <a:latin typeface="Cambria Math" panose="02040503050406030204" pitchFamily="18" charset="0"/>
                                </a:rPr>
                                <m:t>𝑚</m:t>
                              </m:r>
                            </m:e>
                          </m:d>
                          <m:r>
                            <a:rPr lang="fr-FR" sz="3000" b="0" i="1" smtClean="0">
                              <a:solidFill>
                                <a:srgbClr val="0C384C"/>
                              </a:solidFill>
                              <a:latin typeface="Cambria Math" panose="02040503050406030204" pitchFamily="18" charset="0"/>
                            </a:rPr>
                            <m:t>!</m:t>
                          </m:r>
                        </m:den>
                      </m:f>
                    </m:oMath>
                  </m:oMathPara>
                </a14:m>
                <a:endParaRPr lang="fr-FR" sz="3000" b="0" i="0" dirty="0">
                  <a:solidFill>
                    <a:srgbClr val="0C384C"/>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640080" y="2240280"/>
                <a:ext cx="10881360" cy="1005840"/>
              </a:xfrm>
              <a:prstGeom prst="rect">
                <a:avLst/>
              </a:prstGeom>
              <a:blipFill>
                <a:blip r:embed="rId3"/>
                <a:stretch>
                  <a:fillRect/>
                </a:stretch>
              </a:blipFill>
            </p:spPr>
            <p:txBody>
              <a:bodyPr/>
              <a:lstStyle/>
              <a:p>
                <a:r>
                  <a:rPr lang="fr-BE">
                    <a:noFill/>
                  </a:rPr>
                  <a:t> </a:t>
                </a:r>
              </a:p>
            </p:txBody>
          </p:sp>
        </mc:Fallback>
      </mc:AlternateContent>
      <p:sp>
        <p:nvSpPr>
          <p:cNvPr id="8" name="TextBox 7"/>
          <p:cNvSpPr txBox="1"/>
          <p:nvPr/>
        </p:nvSpPr>
        <p:spPr>
          <a:xfrm>
            <a:off x="502920" y="3657600"/>
            <a:ext cx="11155680" cy="1188720"/>
          </a:xfrm>
          <a:prstGeom prst="rect">
            <a:avLst/>
          </a:prstGeom>
          <a:noFill/>
        </p:spPr>
        <p:txBody>
          <a:bodyPr wrap="square"/>
          <a:lstStyle/>
          <a:p>
            <a:pPr algn="l">
              <a:lnSpc>
                <a:spcPct val="105000"/>
              </a:lnSpc>
              <a:spcBef>
                <a:spcPts val="0"/>
              </a:spcBef>
              <a:spcAft>
                <a:spcPts val="1200"/>
              </a:spcAft>
            </a:pPr>
            <a:r>
              <a:rPr lang="fr-FR" sz="2400" b="0" i="0">
                <a:solidFill>
                  <a:srgbClr val="1C2830"/>
                </a:solidFill>
                <a:latin typeface="Calibri"/>
              </a:rPr>
              <a:t>Écrire un programme qui lit n et m et affiche C(n, m).</a:t>
            </a:r>
          </a:p>
          <a:p>
            <a:pPr algn="l">
              <a:lnSpc>
                <a:spcPct val="105000"/>
              </a:lnSpc>
              <a:spcBef>
                <a:spcPts val="0"/>
              </a:spcBef>
              <a:spcAft>
                <a:spcPts val="0"/>
              </a:spcAft>
            </a:pPr>
            <a:r>
              <a:rPr lang="fr-FR" sz="2000" b="0" i="0">
                <a:solidFill>
                  <a:srgbClr val="4E6470"/>
                </a:solidFill>
                <a:latin typeface="Calibri"/>
              </a:rPr>
              <a:t>Exemples :   C(5, 2) = 10     C(6, 1) = 6     C(6, 0) = 1     C(6, 6) = 1</a:t>
            </a:r>
          </a:p>
        </p:txBody>
      </p:sp>
      <p:sp>
        <p:nvSpPr>
          <p:cNvPr id="9" name="TextBox 8"/>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21  /  27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lIns="0" tIns="0" rIns="0" bIns="0" anchor="ctr"/>
          <a:lstStyle/>
          <a:p>
            <a:pPr algn="l">
              <a:lnSpc>
                <a:spcPct val="100000"/>
              </a:lnSpc>
              <a:spcBef>
                <a:spcPts val="0"/>
              </a:spcBef>
              <a:spcAft>
                <a:spcPts val="0"/>
              </a:spcAft>
            </a:pPr>
            <a:r>
              <a:rPr lang="fr-FR" sz="3200" b="0" i="0">
                <a:solidFill>
                  <a:srgbClr val="FFFFFF"/>
                </a:solidFill>
                <a:latin typeface="Calibri"/>
              </a:rPr>
              <a:t>Le produit, pour i de 1 à m</a:t>
            </a:r>
          </a:p>
        </p:txBody>
      </p:sp>
      <p:sp>
        <p:nvSpPr>
          <p:cNvPr id="12" name="Rounded Rectangle 11"/>
          <p:cNvSpPr/>
          <p:nvPr/>
        </p:nvSpPr>
        <p:spPr>
          <a:xfrm>
            <a:off x="502920" y="1293543"/>
            <a:ext cx="11183112" cy="3326597"/>
          </a:xfrm>
          <a:prstGeom prst="roundRect">
            <a:avLst>
              <a:gd name="adj" fmla="val 8000"/>
            </a:avLst>
          </a:prstGeom>
          <a:solidFill>
            <a:srgbClr val="F4F8F9"/>
          </a:solidFill>
          <a:ln w="12700">
            <a:solidFill>
              <a:srgbClr val="D5E2E8"/>
            </a:solidFill>
          </a:ln>
        </p:spPr>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731520" y="1284732"/>
                <a:ext cx="10725912" cy="3326597"/>
              </a:xfrm>
              <a:prstGeom prst="rect">
                <a:avLst/>
              </a:prstGeom>
              <a:noFill/>
            </p:spPr>
            <p:txBody>
              <a:bodyPr wrap="square" lIns="0" tIns="0" rIns="0" bIns="0" anchor="ctr"/>
              <a:lstStyle/>
              <a:p>
                <a:pPr algn="ctr">
                  <a:lnSpc>
                    <a:spcPct val="105000"/>
                  </a:lnSpc>
                  <a:spcBef>
                    <a:spcPts val="0"/>
                  </a:spcBef>
                  <a:spcAft>
                    <a:spcPts val="0"/>
                  </a:spcAft>
                </a:pPr>
                <a14:m>
                  <m:oMathPara xmlns:m="http://schemas.openxmlformats.org/officeDocument/2006/math">
                    <m:oMath>
                      <m:d>
                        <m:dPr>
                          <m:ctrlPr>
                            <a:rPr lang="fr-FR" sz="3200" b="0" i="1" smtClean="0">
                              <a:solidFill>
                                <a:srgbClr val="1C2830"/>
                              </a:solidFill>
                              <a:latin typeface="Cambria Math" panose="02040503050406030204" pitchFamily="18" charset="0"/>
                            </a:rPr>
                          </m:ctrlPr>
                        </m:dPr>
                        <m:e>
                          <m:f>
                            <m:fPr>
                              <m:type m:val="noBar"/>
                              <m:ctrlPr>
                                <a:rPr lang="fr-FR" sz="3200" b="0" i="1" smtClean="0">
                                  <a:solidFill>
                                    <a:srgbClr val="1C2830"/>
                                  </a:solidFill>
                                  <a:latin typeface="Cambria Math" panose="02040503050406030204" pitchFamily="18" charset="0"/>
                                </a:rPr>
                              </m:ctrlPr>
                            </m:fPr>
                            <m:num>
                              <m:r>
                                <a:rPr lang="fr-FR" sz="3200" b="0" i="1" smtClean="0">
                                  <a:solidFill>
                                    <a:srgbClr val="1C2830"/>
                                  </a:solidFill>
                                  <a:latin typeface="Cambria Math" panose="02040503050406030204" pitchFamily="18" charset="0"/>
                                </a:rPr>
                                <m:t>𝑛</m:t>
                              </m:r>
                            </m:num>
                            <m:den>
                              <m:r>
                                <a:rPr lang="fr-FR" sz="3200" b="0" i="1" smtClean="0">
                                  <a:solidFill>
                                    <a:srgbClr val="1C2830"/>
                                  </a:solidFill>
                                  <a:latin typeface="Cambria Math" panose="02040503050406030204" pitchFamily="18" charset="0"/>
                                </a:rPr>
                                <m:t>𝑚</m:t>
                              </m:r>
                            </m:den>
                          </m:f>
                        </m:e>
                      </m:d>
                      <m:r>
                        <a:rPr lang="fr-FR" sz="3200" b="0" i="1" smtClean="0">
                          <a:solidFill>
                            <a:srgbClr val="1C2830"/>
                          </a:solidFill>
                          <a:latin typeface="Cambria Math" panose="02040503050406030204" pitchFamily="18" charset="0"/>
                        </a:rPr>
                        <m:t>=</m:t>
                      </m:r>
                      <m:nary>
                        <m:naryPr>
                          <m:chr m:val="∏"/>
                          <m:limLoc m:val="undOvr"/>
                          <m:ctrlPr>
                            <a:rPr lang="fr-FR" sz="3200" b="0" i="1" smtClean="0">
                              <a:solidFill>
                                <a:srgbClr val="1C2830"/>
                              </a:solidFill>
                              <a:latin typeface="Cambria Math" panose="02040503050406030204" pitchFamily="18" charset="0"/>
                            </a:rPr>
                          </m:ctrlPr>
                        </m:naryPr>
                        <m:sub>
                          <m:r>
                            <a:rPr lang="fr-FR" sz="3200" b="0" i="1" smtClean="0">
                              <a:solidFill>
                                <a:srgbClr val="1C2830"/>
                              </a:solidFill>
                              <a:latin typeface="Cambria Math" panose="02040503050406030204" pitchFamily="18" charset="0"/>
                            </a:rPr>
                            <m:t>𝑖</m:t>
                          </m:r>
                          <m:r>
                            <a:rPr lang="fr-FR" sz="3200" b="0" i="1" smtClean="0">
                              <a:solidFill>
                                <a:srgbClr val="1C2830"/>
                              </a:solidFill>
                              <a:latin typeface="Cambria Math" panose="02040503050406030204" pitchFamily="18" charset="0"/>
                            </a:rPr>
                            <m:t>=1</m:t>
                          </m:r>
                        </m:sub>
                        <m:sup>
                          <m:r>
                            <a:rPr lang="fr-FR" sz="3200" b="0" i="1" smtClean="0">
                              <a:solidFill>
                                <a:srgbClr val="1C2830"/>
                              </a:solidFill>
                              <a:latin typeface="Cambria Math" panose="02040503050406030204" pitchFamily="18" charset="0"/>
                            </a:rPr>
                            <m:t>𝑚</m:t>
                          </m:r>
                        </m:sup>
                        <m:e>
                          <m:f>
                            <m:fPr>
                              <m:ctrlPr>
                                <a:rPr lang="fr-FR" sz="3200" b="0" i="1" smtClean="0">
                                  <a:solidFill>
                                    <a:srgbClr val="1C2830"/>
                                  </a:solidFill>
                                  <a:latin typeface="Cambria Math" panose="02040503050406030204" pitchFamily="18" charset="0"/>
                                </a:rPr>
                              </m:ctrlPr>
                            </m:fPr>
                            <m:num>
                              <m:r>
                                <a:rPr lang="fr-FR" sz="3200" b="0" i="1" smtClean="0">
                                  <a:solidFill>
                                    <a:srgbClr val="1C2830"/>
                                  </a:solidFill>
                                  <a:latin typeface="Cambria Math" panose="02040503050406030204" pitchFamily="18" charset="0"/>
                                </a:rPr>
                                <m:t>𝑛</m:t>
                              </m:r>
                              <m:r>
                                <a:rPr lang="fr-FR" sz="3200" b="0" i="1" smtClean="0">
                                  <a:solidFill>
                                    <a:srgbClr val="1C2830"/>
                                  </a:solidFill>
                                  <a:latin typeface="Cambria Math" panose="02040503050406030204" pitchFamily="18" charset="0"/>
                                </a:rPr>
                                <m:t>−</m:t>
                              </m:r>
                              <m:r>
                                <a:rPr lang="fr-FR" sz="3200" b="0" i="1" smtClean="0">
                                  <a:solidFill>
                                    <a:srgbClr val="1C2830"/>
                                  </a:solidFill>
                                  <a:latin typeface="Cambria Math" panose="02040503050406030204" pitchFamily="18" charset="0"/>
                                </a:rPr>
                                <m:t>𝑚</m:t>
                              </m:r>
                              <m:r>
                                <a:rPr lang="fr-FR" sz="3200" b="0" i="1" smtClean="0">
                                  <a:solidFill>
                                    <a:srgbClr val="1C2830"/>
                                  </a:solidFill>
                                  <a:latin typeface="Cambria Math" panose="02040503050406030204" pitchFamily="18" charset="0"/>
                                </a:rPr>
                                <m:t>+</m:t>
                              </m:r>
                              <m:r>
                                <a:rPr lang="fr-FR" sz="3200" b="0" i="1" smtClean="0">
                                  <a:solidFill>
                                    <a:srgbClr val="1C2830"/>
                                  </a:solidFill>
                                  <a:latin typeface="Cambria Math" panose="02040503050406030204" pitchFamily="18" charset="0"/>
                                </a:rPr>
                                <m:t>𝑖</m:t>
                              </m:r>
                            </m:num>
                            <m:den>
                              <m:r>
                                <a:rPr lang="fr-FR" sz="3200" b="0" i="1" smtClean="0">
                                  <a:solidFill>
                                    <a:srgbClr val="1C2830"/>
                                  </a:solidFill>
                                  <a:latin typeface="Cambria Math" panose="02040503050406030204" pitchFamily="18" charset="0"/>
                                </a:rPr>
                                <m:t>𝑖</m:t>
                              </m:r>
                            </m:den>
                          </m:f>
                        </m:e>
                      </m:nary>
                    </m:oMath>
                  </m:oMathPara>
                </a14:m>
                <a:endParaRPr lang="fr-FR" sz="3200" b="0" i="0" dirty="0">
                  <a:solidFill>
                    <a:srgbClr val="1C2830"/>
                  </a:solidFill>
                  <a:latin typeface="Calibri"/>
                </a:endParaRPr>
              </a:p>
              <a:p>
                <a:pPr algn="ctr">
                  <a:lnSpc>
                    <a:spcPct val="105000"/>
                  </a:lnSpc>
                  <a:spcBef>
                    <a:spcPts val="0"/>
                  </a:spcBef>
                  <a:spcAft>
                    <a:spcPts val="0"/>
                  </a:spcAft>
                </a:pPr>
                <a:endParaRPr lang="fr-FR" sz="1800" b="0" i="0" dirty="0">
                  <a:solidFill>
                    <a:srgbClr val="1C2830"/>
                  </a:solidFill>
                  <a:latin typeface="Calibri"/>
                </a:endParaRPr>
              </a:p>
              <a:p>
                <a:pPr algn="ctr">
                  <a:lnSpc>
                    <a:spcPct val="105000"/>
                  </a:lnSpc>
                  <a:spcBef>
                    <a:spcPts val="0"/>
                  </a:spcBef>
                  <a:spcAft>
                    <a:spcPts val="0"/>
                  </a:spcAft>
                </a:pPr>
                <a:r>
                  <a:rPr lang="fr-FR" sz="2400" b="0" i="0" dirty="0">
                    <a:solidFill>
                      <a:srgbClr val="1C2830"/>
                    </a:solidFill>
                    <a:latin typeface="Calibri"/>
                  </a:rPr>
                  <a:t>C(5, 2) = 4/1 × 5/2 = 10</a:t>
                </a:r>
              </a:p>
            </p:txBody>
          </p:sp>
        </mc:Choice>
        <mc:Fallback xmlns="">
          <p:sp>
            <p:nvSpPr>
              <p:cNvPr id="13" name="TextBox 12"/>
              <p:cNvSpPr txBox="1">
                <a:spLocks noRot="1" noChangeAspect="1" noMove="1" noResize="1" noEditPoints="1" noAdjustHandles="1" noChangeArrowheads="1" noChangeShapeType="1" noTextEdit="1"/>
              </p:cNvSpPr>
              <p:nvPr/>
            </p:nvSpPr>
            <p:spPr>
              <a:xfrm>
                <a:off x="731520" y="1284732"/>
                <a:ext cx="10725912" cy="3326597"/>
              </a:xfrm>
              <a:prstGeom prst="rect">
                <a:avLst/>
              </a:prstGeom>
              <a:blipFill>
                <a:blip r:embed="rId3"/>
                <a:stretch>
                  <a:fillRect/>
                </a:stretch>
              </a:blipFill>
            </p:spPr>
            <p:txBody>
              <a:bodyPr/>
              <a:lstStyle/>
              <a:p>
                <a:r>
                  <a:rPr lang="fr-BE">
                    <a:noFill/>
                  </a:rPr>
                  <a:t> </a:t>
                </a:r>
              </a:p>
            </p:txBody>
          </p:sp>
        </mc:Fallback>
      </mc:AlternateContent>
      <p:sp>
        <p:nvSpPr>
          <p:cNvPr id="14" name="Rounded Rectangle 13"/>
          <p:cNvSpPr/>
          <p:nvPr/>
        </p:nvSpPr>
        <p:spPr>
          <a:xfrm>
            <a:off x="502920" y="4740140"/>
            <a:ext cx="11183112" cy="1619860"/>
          </a:xfrm>
          <a:prstGeom prst="roundRect">
            <a:avLst>
              <a:gd name="adj" fmla="val 8000"/>
            </a:avLst>
          </a:prstGeom>
          <a:solidFill>
            <a:srgbClr val="E6F0F4"/>
          </a:solidFill>
          <a:ln>
            <a:noFill/>
          </a:ln>
        </p:spPr>
        <p:txBody>
          <a:bodyPr rtlCol="0" anchor="ctr"/>
          <a:lstStyle/>
          <a:p>
            <a:pPr algn="ctr"/>
            <a:endParaRPr/>
          </a:p>
        </p:txBody>
      </p:sp>
      <p:sp>
        <p:nvSpPr>
          <p:cNvPr id="15" name="TextBox 14"/>
          <p:cNvSpPr txBox="1"/>
          <p:nvPr/>
        </p:nvSpPr>
        <p:spPr>
          <a:xfrm>
            <a:off x="731520" y="4876800"/>
            <a:ext cx="10725912" cy="1403200"/>
          </a:xfrm>
          <a:prstGeom prst="rect">
            <a:avLst/>
          </a:prstGeom>
          <a:noFill/>
        </p:spPr>
        <p:txBody>
          <a:bodyPr wrap="square" lIns="0" tIns="0" rIns="0" bIns="0" anchor="t"/>
          <a:lstStyle/>
          <a:p>
            <a:pPr algn="l">
              <a:lnSpc>
                <a:spcPct val="105000"/>
              </a:lnSpc>
              <a:spcBef>
                <a:spcPts val="0"/>
              </a:spcBef>
              <a:spcAft>
                <a:spcPts val="400"/>
              </a:spcAft>
            </a:pPr>
            <a:r>
              <a:rPr lang="fr-FR" sz="2400" b="0" i="0" dirty="0">
                <a:solidFill>
                  <a:srgbClr val="1C2830"/>
                </a:solidFill>
                <a:latin typeface="Calibri"/>
              </a:rPr>
              <a:t>Dans </a:t>
            </a:r>
            <a:r>
              <a:rPr lang="fr-FR" sz="2400" b="0" i="0" dirty="0" err="1">
                <a:solidFill>
                  <a:srgbClr val="1C2830"/>
                </a:solidFill>
                <a:latin typeface="Calibri"/>
              </a:rPr>
              <a:t>coeff.c</a:t>
            </a:r>
            <a:r>
              <a:rPr lang="fr-FR" sz="2400" b="0" i="0" dirty="0">
                <a:solidFill>
                  <a:srgbClr val="1C2830"/>
                </a:solidFill>
                <a:latin typeface="Calibri"/>
              </a:rPr>
              <a:t>, </a:t>
            </a:r>
            <a:r>
              <a:rPr lang="fr-FR" sz="2400" b="0" i="0" dirty="0" err="1">
                <a:solidFill>
                  <a:srgbClr val="1C2830"/>
                </a:solidFill>
                <a:latin typeface="Calibri"/>
              </a:rPr>
              <a:t>coeff</a:t>
            </a:r>
            <a:r>
              <a:rPr lang="fr-FR" sz="2400" b="0" i="0" dirty="0">
                <a:solidFill>
                  <a:srgbClr val="1C2830"/>
                </a:solidFill>
                <a:latin typeface="Calibri"/>
              </a:rPr>
              <a:t> part de 1. Au tour i, c'est exactement ce facteur :</a:t>
            </a:r>
          </a:p>
          <a:p>
            <a:pPr algn="l">
              <a:lnSpc>
                <a:spcPct val="105000"/>
              </a:lnSpc>
              <a:spcBef>
                <a:spcPts val="0"/>
              </a:spcBef>
              <a:spcAft>
                <a:spcPts val="0"/>
              </a:spcAft>
            </a:pPr>
            <a:r>
              <a:rPr lang="fr-FR" sz="2400" b="0" i="0" dirty="0" err="1">
                <a:solidFill>
                  <a:srgbClr val="0C384C"/>
                </a:solidFill>
                <a:latin typeface="Consolas"/>
              </a:rPr>
              <a:t>coeff</a:t>
            </a:r>
            <a:r>
              <a:rPr lang="fr-FR" sz="2400" b="0" i="0" dirty="0">
                <a:solidFill>
                  <a:srgbClr val="0C384C"/>
                </a:solidFill>
                <a:latin typeface="Consolas"/>
              </a:rPr>
              <a:t> *= (n - m + i);</a:t>
            </a:r>
          </a:p>
          <a:p>
            <a:pPr algn="l">
              <a:lnSpc>
                <a:spcPct val="105000"/>
              </a:lnSpc>
              <a:spcBef>
                <a:spcPts val="0"/>
              </a:spcBef>
              <a:spcAft>
                <a:spcPts val="0"/>
              </a:spcAft>
            </a:pPr>
            <a:r>
              <a:rPr lang="fr-FR" sz="2400" b="0" i="0" dirty="0" err="1">
                <a:solidFill>
                  <a:srgbClr val="0C384C"/>
                </a:solidFill>
                <a:latin typeface="Consolas"/>
              </a:rPr>
              <a:t>coeff</a:t>
            </a:r>
            <a:r>
              <a:rPr lang="fr-FR" sz="2400" b="0" i="0" dirty="0">
                <a:solidFill>
                  <a:srgbClr val="0C384C"/>
                </a:solidFill>
                <a:latin typeface="Consolas"/>
              </a:rPr>
              <a:t> /= i;</a:t>
            </a:r>
          </a:p>
        </p:txBody>
      </p:sp>
      <p:sp>
        <p:nvSpPr>
          <p:cNvPr id="16" name="TextBox 15"/>
          <p:cNvSpPr txBox="1"/>
          <p:nvPr/>
        </p:nvSpPr>
        <p:spPr>
          <a:xfrm>
            <a:off x="10058400" y="6480000"/>
            <a:ext cx="1828800" cy="274320"/>
          </a:xfrm>
          <a:prstGeom prst="rect">
            <a:avLst/>
          </a:prstGeom>
          <a:noFill/>
        </p:spPr>
        <p:txBody>
          <a:bodyPr wrap="square" lIns="0" tIns="0" rIns="0" bIns="0" anchor="ctr"/>
          <a:lstStyle/>
          <a:p>
            <a:pPr algn="r">
              <a:lnSpc>
                <a:spcPct val="100000"/>
              </a:lnSpc>
              <a:spcBef>
                <a:spcPts val="0"/>
              </a:spcBef>
              <a:spcAft>
                <a:spcPts val="0"/>
              </a:spcAft>
            </a:pPr>
            <a:r>
              <a:rPr lang="fr-FR" sz="1200" b="0" i="0">
                <a:solidFill>
                  <a:srgbClr val="4E6470"/>
                </a:solidFill>
                <a:latin typeface="Calibri"/>
              </a:rPr>
              <a:t>22  /  27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612E3-3F65-9B41-AAC8-203D6809637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1AE6B2-F2C1-BF49-88D5-EF2E1B0E9144}"/>
              </a:ext>
            </a:extLst>
          </p:cNvPr>
          <p:cNvSpPr/>
          <p:nvPr/>
        </p:nvSpPr>
        <p:spPr>
          <a:xfrm>
            <a:off x="0" y="0"/>
            <a:ext cx="12191999" cy="1078992"/>
          </a:xfrm>
          <a:prstGeom prst="rect">
            <a:avLst/>
          </a:prstGeom>
          <a:solidFill>
            <a:srgbClr val="0C384C"/>
          </a:solidFill>
          <a:ln>
            <a:noFill/>
          </a:ln>
        </p:spPr>
        <p:txBody>
          <a:bodyPr rtlCol="0" anchor="ctr"/>
          <a:lstStyle/>
          <a:p>
            <a:pPr algn="ctr"/>
            <a:endParaRPr/>
          </a:p>
        </p:txBody>
      </p:sp>
      <p:sp>
        <p:nvSpPr>
          <p:cNvPr id="3" name="Rectangle 2">
            <a:extLst>
              <a:ext uri="{FF2B5EF4-FFF2-40B4-BE49-F238E27FC236}">
                <a16:creationId xmlns:a16="http://schemas.microsoft.com/office/drawing/2014/main" id="{3985FE7E-743A-AB1E-F343-DF5CF97E04C7}"/>
              </a:ext>
            </a:extLst>
          </p:cNvPr>
          <p:cNvSpPr/>
          <p:nvPr/>
        </p:nvSpPr>
        <p:spPr>
          <a:xfrm>
            <a:off x="0" y="1078992"/>
            <a:ext cx="12191999" cy="41148"/>
          </a:xfrm>
          <a:prstGeom prst="rect">
            <a:avLst/>
          </a:prstGeom>
          <a:solidFill>
            <a:srgbClr val="072836"/>
          </a:solidFill>
          <a:ln>
            <a:noFill/>
          </a:ln>
        </p:spPr>
        <p:txBody>
          <a:bodyPr rtlCol="0" anchor="ctr"/>
          <a:lstStyle/>
          <a:p>
            <a:pPr algn="ctr"/>
            <a:endParaRPr/>
          </a:p>
        </p:txBody>
      </p:sp>
      <p:sp>
        <p:nvSpPr>
          <p:cNvPr id="4" name="TextBox 3">
            <a:extLst>
              <a:ext uri="{FF2B5EF4-FFF2-40B4-BE49-F238E27FC236}">
                <a16:creationId xmlns:a16="http://schemas.microsoft.com/office/drawing/2014/main" id="{BD17C4F2-A061-3CFA-4C02-8AA9C75A4C25}"/>
              </a:ext>
            </a:extLst>
          </p:cNvPr>
          <p:cNvSpPr txBox="1"/>
          <p:nvPr/>
        </p:nvSpPr>
        <p:spPr>
          <a:xfrm>
            <a:off x="502920" y="256032"/>
            <a:ext cx="11155680" cy="658368"/>
          </a:xfrm>
          <a:prstGeom prst="rect">
            <a:avLst/>
          </a:prstGeom>
          <a:noFill/>
        </p:spPr>
        <p:txBody>
          <a:bodyPr wrap="square" lIns="0" tIns="0" rIns="0" bIns="0" anchor="ctr"/>
          <a:lstStyle/>
          <a:p>
            <a:pPr algn="l">
              <a:lnSpc>
                <a:spcPct val="100000"/>
              </a:lnSpc>
              <a:spcBef>
                <a:spcPts val="0"/>
              </a:spcBef>
              <a:spcAft>
                <a:spcPts val="0"/>
              </a:spcAft>
            </a:pPr>
            <a:r>
              <a:rPr lang="fr-FR" sz="3200" b="0" i="0" dirty="0">
                <a:solidFill>
                  <a:srgbClr val="FFFFFF"/>
                </a:solidFill>
                <a:latin typeface="Calibri"/>
              </a:rPr>
              <a:t>Optimisation</a:t>
            </a:r>
          </a:p>
        </p:txBody>
      </p:sp>
      <p:sp>
        <p:nvSpPr>
          <p:cNvPr id="12" name="Rounded Rectangle 11">
            <a:extLst>
              <a:ext uri="{FF2B5EF4-FFF2-40B4-BE49-F238E27FC236}">
                <a16:creationId xmlns:a16="http://schemas.microsoft.com/office/drawing/2014/main" id="{804E44C2-0E34-67A1-1076-142C1B6AEABA}"/>
              </a:ext>
            </a:extLst>
          </p:cNvPr>
          <p:cNvSpPr/>
          <p:nvPr/>
        </p:nvSpPr>
        <p:spPr>
          <a:xfrm>
            <a:off x="502920" y="1293543"/>
            <a:ext cx="11183112" cy="3326597"/>
          </a:xfrm>
          <a:prstGeom prst="roundRect">
            <a:avLst>
              <a:gd name="adj" fmla="val 8000"/>
            </a:avLst>
          </a:prstGeom>
          <a:solidFill>
            <a:srgbClr val="F4F8F9"/>
          </a:solidFill>
          <a:ln w="12700">
            <a:solidFill>
              <a:srgbClr val="D5E2E8"/>
            </a:solidFill>
          </a:ln>
        </p:spPr>
        <p:txBody>
          <a:bodyPr rtlCol="0" anchor="ctr"/>
          <a:lstStyle/>
          <a:p>
            <a:pPr algn="ctr"/>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6DCEDF6E-7654-9824-7E8C-F81716BA929A}"/>
                  </a:ext>
                </a:extLst>
              </p:cNvPr>
              <p:cNvSpPr txBox="1"/>
              <p:nvPr/>
            </p:nvSpPr>
            <p:spPr>
              <a:xfrm>
                <a:off x="731520" y="1284732"/>
                <a:ext cx="10725912" cy="3326597"/>
              </a:xfrm>
              <a:prstGeom prst="rect">
                <a:avLst/>
              </a:prstGeom>
              <a:noFill/>
            </p:spPr>
            <p:txBody>
              <a:bodyPr wrap="square" lIns="0" tIns="0" rIns="0" bIns="0" anchor="ctr"/>
              <a:lstStyle/>
              <a:p>
                <a:pPr algn="ctr">
                  <a:lnSpc>
                    <a:spcPct val="105000"/>
                  </a:lnSpc>
                  <a:spcBef>
                    <a:spcPts val="0"/>
                  </a:spcBef>
                  <a:spcAft>
                    <a:spcPts val="0"/>
                  </a:spcAft>
                </a:pPr>
                <a:r>
                  <a:rPr lang="fr-FR" sz="3200" dirty="0">
                    <a:solidFill>
                      <a:srgbClr val="1C2830"/>
                    </a:solidFill>
                    <a:latin typeface="Cambria Math" panose="02040503050406030204" pitchFamily="18" charset="0"/>
                  </a:rPr>
                  <a:t>On sait que </a:t>
                </a:r>
                <a14:m>
                  <m:oMath xmlns:m="http://schemas.openxmlformats.org/officeDocument/2006/math">
                    <m:sSubSup>
                      <m:sSubSupPr>
                        <m:ctrlPr>
                          <a:rPr lang="fr-FR" sz="3200" b="0" i="1" smtClean="0">
                            <a:solidFill>
                              <a:srgbClr val="1C2830"/>
                            </a:solidFill>
                            <a:latin typeface="Cambria Math" panose="02040503050406030204" pitchFamily="18" charset="0"/>
                          </a:rPr>
                        </m:ctrlPr>
                      </m:sSubSupPr>
                      <m:e>
                        <m:r>
                          <a:rPr lang="fr-FR" sz="3200" b="0" i="1" smtClean="0">
                            <a:solidFill>
                              <a:srgbClr val="1C2830"/>
                            </a:solidFill>
                            <a:latin typeface="Cambria Math" panose="02040503050406030204" pitchFamily="18" charset="0"/>
                          </a:rPr>
                          <m:t>𝐶</m:t>
                        </m:r>
                      </m:e>
                      <m:sub>
                        <m:r>
                          <a:rPr lang="fr-FR" sz="3200" b="0" i="1" smtClean="0">
                            <a:solidFill>
                              <a:srgbClr val="1C2830"/>
                            </a:solidFill>
                            <a:latin typeface="Cambria Math" panose="02040503050406030204" pitchFamily="18" charset="0"/>
                          </a:rPr>
                          <m:t>𝑛</m:t>
                        </m:r>
                      </m:sub>
                      <m:sup>
                        <m:r>
                          <a:rPr lang="fr-FR" sz="3200" b="0" i="1" smtClean="0">
                            <a:solidFill>
                              <a:srgbClr val="1C2830"/>
                            </a:solidFill>
                            <a:latin typeface="Cambria Math" panose="02040503050406030204" pitchFamily="18" charset="0"/>
                          </a:rPr>
                          <m:t>𝑚</m:t>
                        </m:r>
                      </m:sup>
                    </m:sSubSup>
                    <m:r>
                      <a:rPr lang="fr-FR" sz="3200" b="0" i="1" smtClean="0">
                        <a:solidFill>
                          <a:srgbClr val="1C2830"/>
                        </a:solidFill>
                        <a:latin typeface="Cambria Math" panose="02040503050406030204" pitchFamily="18" charset="0"/>
                      </a:rPr>
                      <m:t>=</m:t>
                    </m:r>
                    <m:sSubSup>
                      <m:sSubSupPr>
                        <m:ctrlPr>
                          <a:rPr lang="fr-FR" sz="3200" b="0" i="1" smtClean="0">
                            <a:solidFill>
                              <a:srgbClr val="1C2830"/>
                            </a:solidFill>
                            <a:latin typeface="Cambria Math" panose="02040503050406030204" pitchFamily="18" charset="0"/>
                          </a:rPr>
                        </m:ctrlPr>
                      </m:sSubSupPr>
                      <m:e>
                        <m:r>
                          <a:rPr lang="fr-FR" sz="3200" b="0" i="1" smtClean="0">
                            <a:solidFill>
                              <a:srgbClr val="1C2830"/>
                            </a:solidFill>
                            <a:latin typeface="Cambria Math" panose="02040503050406030204" pitchFamily="18" charset="0"/>
                          </a:rPr>
                          <m:t>𝐶</m:t>
                        </m:r>
                      </m:e>
                      <m:sub>
                        <m:r>
                          <a:rPr lang="fr-FR" sz="3200" b="0" i="1" smtClean="0">
                            <a:solidFill>
                              <a:srgbClr val="1C2830"/>
                            </a:solidFill>
                            <a:latin typeface="Cambria Math" panose="02040503050406030204" pitchFamily="18" charset="0"/>
                          </a:rPr>
                          <m:t>𝑛</m:t>
                        </m:r>
                      </m:sub>
                      <m:sup>
                        <m:r>
                          <a:rPr lang="fr-FR" sz="3200" b="0" i="1" smtClean="0">
                            <a:solidFill>
                              <a:srgbClr val="1C2830"/>
                            </a:solidFill>
                            <a:latin typeface="Cambria Math" panose="02040503050406030204" pitchFamily="18" charset="0"/>
                          </a:rPr>
                          <m:t>𝑛</m:t>
                        </m:r>
                        <m:r>
                          <a:rPr lang="fr-FR" sz="3200" b="0" i="1" smtClean="0">
                            <a:solidFill>
                              <a:srgbClr val="1C2830"/>
                            </a:solidFill>
                            <a:latin typeface="Cambria Math" panose="02040503050406030204" pitchFamily="18" charset="0"/>
                          </a:rPr>
                          <m:t>−</m:t>
                        </m:r>
                        <m:r>
                          <a:rPr lang="fr-FR" sz="3200" b="0" i="1" smtClean="0">
                            <a:solidFill>
                              <a:srgbClr val="1C2830"/>
                            </a:solidFill>
                            <a:latin typeface="Cambria Math" panose="02040503050406030204" pitchFamily="18" charset="0"/>
                          </a:rPr>
                          <m:t>𝑚</m:t>
                        </m:r>
                      </m:sup>
                    </m:sSubSup>
                  </m:oMath>
                </a14:m>
                <a:r>
                  <a:rPr lang="fr-FR" sz="3200" b="0" dirty="0">
                    <a:solidFill>
                      <a:srgbClr val="1C2830"/>
                    </a:solidFill>
                    <a:latin typeface="Cambria Math" panose="02040503050406030204" pitchFamily="18" charset="0"/>
                  </a:rPr>
                  <a:t>, donc</a:t>
                </a:r>
              </a:p>
              <a:p>
                <a:pPr algn="ctr">
                  <a:lnSpc>
                    <a:spcPct val="105000"/>
                  </a:lnSpc>
                  <a:spcBef>
                    <a:spcPts val="0"/>
                  </a:spcBef>
                  <a:spcAft>
                    <a:spcPts val="0"/>
                  </a:spcAft>
                </a:pPr>
                <a:endParaRPr lang="fr-FR" sz="3200" i="1" dirty="0">
                  <a:solidFill>
                    <a:srgbClr val="1C2830"/>
                  </a:solidFill>
                  <a:latin typeface="Cambria Math" panose="02040503050406030204" pitchFamily="18" charset="0"/>
                </a:endParaRPr>
              </a:p>
              <a:p>
                <a:pPr algn="ctr">
                  <a:lnSpc>
                    <a:spcPct val="105000"/>
                  </a:lnSpc>
                  <a:spcBef>
                    <a:spcPts val="0"/>
                  </a:spcBef>
                  <a:spcAft>
                    <a:spcPts val="0"/>
                  </a:spcAft>
                </a:pPr>
                <a14:m>
                  <m:oMath xmlns:m="http://schemas.openxmlformats.org/officeDocument/2006/math">
                    <m:d>
                      <m:dPr>
                        <m:ctrlPr>
                          <a:rPr lang="fr-FR" sz="4000" b="0" i="1" smtClean="0">
                            <a:solidFill>
                              <a:srgbClr val="1C2830"/>
                            </a:solidFill>
                            <a:latin typeface="Cambria Math" panose="02040503050406030204" pitchFamily="18" charset="0"/>
                          </a:rPr>
                        </m:ctrlPr>
                      </m:dPr>
                      <m:e>
                        <m:f>
                          <m:fPr>
                            <m:type m:val="noBar"/>
                            <m:ctrlPr>
                              <a:rPr lang="fr-FR" sz="4000" b="0" i="1" smtClean="0">
                                <a:solidFill>
                                  <a:srgbClr val="1C2830"/>
                                </a:solidFill>
                                <a:latin typeface="Cambria Math" panose="02040503050406030204" pitchFamily="18" charset="0"/>
                              </a:rPr>
                            </m:ctrlPr>
                          </m:fPr>
                          <m:num>
                            <m:r>
                              <a:rPr lang="fr-FR" sz="4000" b="0" i="1" smtClean="0">
                                <a:solidFill>
                                  <a:srgbClr val="1C2830"/>
                                </a:solidFill>
                                <a:latin typeface="Cambria Math" panose="02040503050406030204" pitchFamily="18" charset="0"/>
                              </a:rPr>
                              <m:t>𝑛</m:t>
                            </m:r>
                          </m:num>
                          <m:den>
                            <m:r>
                              <a:rPr lang="fr-FR" sz="4000" b="0" i="1" smtClean="0">
                                <a:solidFill>
                                  <a:srgbClr val="1C2830"/>
                                </a:solidFill>
                                <a:latin typeface="Cambria Math" panose="02040503050406030204" pitchFamily="18" charset="0"/>
                              </a:rPr>
                              <m:t>𝑚</m:t>
                            </m:r>
                          </m:den>
                        </m:f>
                      </m:e>
                    </m:d>
                    <m:r>
                      <a:rPr lang="fr-FR" sz="4000" b="0" i="1" smtClean="0">
                        <a:solidFill>
                          <a:srgbClr val="1C2830"/>
                        </a:solidFill>
                        <a:latin typeface="Cambria Math" panose="02040503050406030204" pitchFamily="18" charset="0"/>
                      </a:rPr>
                      <m:t>=</m:t>
                    </m:r>
                    <m:nary>
                      <m:naryPr>
                        <m:chr m:val="∏"/>
                        <m:limLoc m:val="undOvr"/>
                        <m:ctrlPr>
                          <a:rPr lang="fr-FR" sz="4000" b="0" i="1" smtClean="0">
                            <a:solidFill>
                              <a:srgbClr val="1C2830"/>
                            </a:solidFill>
                            <a:latin typeface="Cambria Math" panose="02040503050406030204" pitchFamily="18" charset="0"/>
                          </a:rPr>
                        </m:ctrlPr>
                      </m:naryPr>
                      <m:sub>
                        <m:r>
                          <a:rPr lang="fr-FR" sz="4000" b="0" i="1" smtClean="0">
                            <a:solidFill>
                              <a:srgbClr val="1C2830"/>
                            </a:solidFill>
                            <a:latin typeface="Cambria Math" panose="02040503050406030204" pitchFamily="18" charset="0"/>
                          </a:rPr>
                          <m:t>𝑖</m:t>
                        </m:r>
                        <m:r>
                          <a:rPr lang="fr-FR" sz="4000" b="0" i="1" smtClean="0">
                            <a:solidFill>
                              <a:srgbClr val="1C2830"/>
                            </a:solidFill>
                            <a:latin typeface="Cambria Math" panose="02040503050406030204" pitchFamily="18" charset="0"/>
                          </a:rPr>
                          <m:t>=1</m:t>
                        </m:r>
                      </m:sub>
                      <m:sup>
                        <m:r>
                          <a:rPr lang="fr-FR" sz="4000" b="0" i="1" smtClean="0">
                            <a:solidFill>
                              <a:srgbClr val="1C2830"/>
                            </a:solidFill>
                            <a:latin typeface="Cambria Math" panose="02040503050406030204" pitchFamily="18" charset="0"/>
                          </a:rPr>
                          <m:t>𝑚</m:t>
                        </m:r>
                      </m:sup>
                      <m:e>
                        <m:f>
                          <m:fPr>
                            <m:ctrlPr>
                              <a:rPr lang="fr-FR" sz="4000" b="0" i="1" smtClean="0">
                                <a:solidFill>
                                  <a:srgbClr val="1C2830"/>
                                </a:solidFill>
                                <a:latin typeface="Cambria Math" panose="02040503050406030204" pitchFamily="18" charset="0"/>
                              </a:rPr>
                            </m:ctrlPr>
                          </m:fPr>
                          <m:num>
                            <m:r>
                              <a:rPr lang="fr-FR" sz="4000" b="0" i="1" smtClean="0">
                                <a:solidFill>
                                  <a:srgbClr val="1C2830"/>
                                </a:solidFill>
                                <a:latin typeface="Cambria Math" panose="02040503050406030204" pitchFamily="18" charset="0"/>
                              </a:rPr>
                              <m:t>𝑛</m:t>
                            </m:r>
                            <m:r>
                              <a:rPr lang="fr-FR" sz="4000" b="0" i="1" smtClean="0">
                                <a:solidFill>
                                  <a:srgbClr val="1C2830"/>
                                </a:solidFill>
                                <a:latin typeface="Cambria Math" panose="02040503050406030204" pitchFamily="18" charset="0"/>
                              </a:rPr>
                              <m:t>−</m:t>
                            </m:r>
                            <m:r>
                              <a:rPr lang="fr-FR" sz="4000" b="0" i="1" smtClean="0">
                                <a:solidFill>
                                  <a:srgbClr val="1C2830"/>
                                </a:solidFill>
                                <a:latin typeface="Cambria Math" panose="02040503050406030204" pitchFamily="18" charset="0"/>
                              </a:rPr>
                              <m:t>𝑚</m:t>
                            </m:r>
                            <m:r>
                              <a:rPr lang="fr-FR" sz="4000" b="0" i="1" smtClean="0">
                                <a:solidFill>
                                  <a:srgbClr val="1C2830"/>
                                </a:solidFill>
                                <a:latin typeface="Cambria Math" panose="02040503050406030204" pitchFamily="18" charset="0"/>
                              </a:rPr>
                              <m:t>+</m:t>
                            </m:r>
                            <m:r>
                              <a:rPr lang="fr-FR" sz="4000" b="0" i="1" smtClean="0">
                                <a:solidFill>
                                  <a:srgbClr val="1C2830"/>
                                </a:solidFill>
                                <a:latin typeface="Cambria Math" panose="02040503050406030204" pitchFamily="18" charset="0"/>
                              </a:rPr>
                              <m:t>𝑖</m:t>
                            </m:r>
                          </m:num>
                          <m:den>
                            <m:r>
                              <a:rPr lang="fr-FR" sz="4000" b="0" i="1" smtClean="0">
                                <a:solidFill>
                                  <a:srgbClr val="1C2830"/>
                                </a:solidFill>
                                <a:latin typeface="Cambria Math" panose="02040503050406030204" pitchFamily="18" charset="0"/>
                              </a:rPr>
                              <m:t>𝑖</m:t>
                            </m:r>
                          </m:den>
                        </m:f>
                      </m:e>
                    </m:nary>
                    <m:r>
                      <a:rPr lang="fr-FR" sz="4000" b="0" i="1" smtClean="0">
                        <a:solidFill>
                          <a:srgbClr val="1C2830"/>
                        </a:solidFill>
                        <a:latin typeface="Cambria Math" panose="02040503050406030204" pitchFamily="18" charset="0"/>
                      </a:rPr>
                      <m:t>=</m:t>
                    </m:r>
                  </m:oMath>
                </a14:m>
                <a:r>
                  <a:rPr lang="fr-FR" sz="3200" dirty="0">
                    <a:solidFill>
                      <a:srgbClr val="1C2830"/>
                    </a:solidFill>
                  </a:rPr>
                  <a:t> </a:t>
                </a:r>
                <a14:m>
                  <m:oMath xmlns:m="http://schemas.openxmlformats.org/officeDocument/2006/math">
                    <m:d>
                      <m:dPr>
                        <m:ctrlPr>
                          <a:rPr lang="fr-FR" sz="3200" i="1">
                            <a:solidFill>
                              <a:srgbClr val="1C2830"/>
                            </a:solidFill>
                            <a:latin typeface="Cambria Math" panose="02040503050406030204" pitchFamily="18" charset="0"/>
                          </a:rPr>
                        </m:ctrlPr>
                      </m:dPr>
                      <m:e>
                        <m:f>
                          <m:fPr>
                            <m:type m:val="noBar"/>
                            <m:ctrlPr>
                              <a:rPr lang="fr-FR" sz="3200" i="1">
                                <a:solidFill>
                                  <a:srgbClr val="1C2830"/>
                                </a:solidFill>
                                <a:latin typeface="Cambria Math" panose="02040503050406030204" pitchFamily="18" charset="0"/>
                              </a:rPr>
                            </m:ctrlPr>
                          </m:fPr>
                          <m:num>
                            <m:r>
                              <a:rPr lang="fr-FR" sz="3200" i="1">
                                <a:solidFill>
                                  <a:srgbClr val="1C2830"/>
                                </a:solidFill>
                                <a:latin typeface="Cambria Math" panose="02040503050406030204" pitchFamily="18" charset="0"/>
                              </a:rPr>
                              <m:t>𝑛</m:t>
                            </m:r>
                          </m:num>
                          <m:den>
                            <m:r>
                              <a:rPr lang="fr-FR" sz="3200" b="0" i="1" smtClean="0">
                                <a:solidFill>
                                  <a:srgbClr val="1C2830"/>
                                </a:solidFill>
                                <a:latin typeface="Cambria Math" panose="02040503050406030204" pitchFamily="18" charset="0"/>
                              </a:rPr>
                              <m:t>𝑛</m:t>
                            </m:r>
                            <m:r>
                              <a:rPr lang="fr-FR" sz="3200" b="0" i="1" smtClean="0">
                                <a:solidFill>
                                  <a:srgbClr val="1C2830"/>
                                </a:solidFill>
                                <a:latin typeface="Cambria Math" panose="02040503050406030204" pitchFamily="18" charset="0"/>
                              </a:rPr>
                              <m:t>−</m:t>
                            </m:r>
                            <m:r>
                              <a:rPr lang="fr-FR" sz="3200" i="1">
                                <a:solidFill>
                                  <a:srgbClr val="1C2830"/>
                                </a:solidFill>
                                <a:latin typeface="Cambria Math" panose="02040503050406030204" pitchFamily="18" charset="0"/>
                              </a:rPr>
                              <m:t>𝑚</m:t>
                            </m:r>
                          </m:den>
                        </m:f>
                      </m:e>
                    </m:d>
                    <m:r>
                      <a:rPr lang="fr-FR" sz="3200" i="1">
                        <a:solidFill>
                          <a:srgbClr val="1C2830"/>
                        </a:solidFill>
                        <a:latin typeface="Cambria Math" panose="02040503050406030204" pitchFamily="18" charset="0"/>
                      </a:rPr>
                      <m:t>=</m:t>
                    </m:r>
                    <m:nary>
                      <m:naryPr>
                        <m:chr m:val="∏"/>
                        <m:limLoc m:val="undOvr"/>
                        <m:ctrlPr>
                          <a:rPr lang="fr-FR" sz="3200" i="1">
                            <a:solidFill>
                              <a:srgbClr val="1C2830"/>
                            </a:solidFill>
                            <a:latin typeface="Cambria Math" panose="02040503050406030204" pitchFamily="18" charset="0"/>
                          </a:rPr>
                        </m:ctrlPr>
                      </m:naryPr>
                      <m:sub>
                        <m:r>
                          <a:rPr lang="fr-FR" sz="3200" i="1">
                            <a:solidFill>
                              <a:srgbClr val="1C2830"/>
                            </a:solidFill>
                            <a:latin typeface="Cambria Math" panose="02040503050406030204" pitchFamily="18" charset="0"/>
                          </a:rPr>
                          <m:t>𝑖</m:t>
                        </m:r>
                        <m:r>
                          <a:rPr lang="fr-FR" sz="3200" i="1">
                            <a:solidFill>
                              <a:srgbClr val="1C2830"/>
                            </a:solidFill>
                            <a:latin typeface="Cambria Math" panose="02040503050406030204" pitchFamily="18" charset="0"/>
                          </a:rPr>
                          <m:t>=1</m:t>
                        </m:r>
                      </m:sub>
                      <m:sup>
                        <m:r>
                          <a:rPr lang="fr-FR" sz="3200" b="0" i="1" smtClean="0">
                            <a:solidFill>
                              <a:srgbClr val="1C2830"/>
                            </a:solidFill>
                            <a:latin typeface="Cambria Math" panose="02040503050406030204" pitchFamily="18" charset="0"/>
                          </a:rPr>
                          <m:t>𝑛</m:t>
                        </m:r>
                        <m:r>
                          <a:rPr lang="fr-FR" sz="3200" b="0" i="1" smtClean="0">
                            <a:solidFill>
                              <a:srgbClr val="1C2830"/>
                            </a:solidFill>
                            <a:latin typeface="Cambria Math" panose="02040503050406030204" pitchFamily="18" charset="0"/>
                          </a:rPr>
                          <m:t>−</m:t>
                        </m:r>
                        <m:r>
                          <a:rPr lang="fr-FR" sz="3200" i="1">
                            <a:solidFill>
                              <a:srgbClr val="1C2830"/>
                            </a:solidFill>
                            <a:latin typeface="Cambria Math" panose="02040503050406030204" pitchFamily="18" charset="0"/>
                          </a:rPr>
                          <m:t>𝑚</m:t>
                        </m:r>
                      </m:sup>
                      <m:e>
                        <m:f>
                          <m:fPr>
                            <m:ctrlPr>
                              <a:rPr lang="fr-FR" sz="3200" i="1">
                                <a:solidFill>
                                  <a:srgbClr val="1C2830"/>
                                </a:solidFill>
                                <a:latin typeface="Cambria Math" panose="02040503050406030204" pitchFamily="18" charset="0"/>
                              </a:rPr>
                            </m:ctrlPr>
                          </m:fPr>
                          <m:num>
                            <m:r>
                              <a:rPr lang="fr-FR" sz="3200" i="1">
                                <a:solidFill>
                                  <a:srgbClr val="1C2830"/>
                                </a:solidFill>
                                <a:latin typeface="Cambria Math" panose="02040503050406030204" pitchFamily="18" charset="0"/>
                              </a:rPr>
                              <m:t>𝑛</m:t>
                            </m:r>
                            <m:r>
                              <a:rPr lang="fr-FR" sz="3200" i="1">
                                <a:solidFill>
                                  <a:srgbClr val="1C2830"/>
                                </a:solidFill>
                                <a:latin typeface="Cambria Math" panose="02040503050406030204" pitchFamily="18" charset="0"/>
                              </a:rPr>
                              <m:t>−</m:t>
                            </m:r>
                            <m:r>
                              <a:rPr lang="fr-FR" sz="3200" i="1">
                                <a:solidFill>
                                  <a:srgbClr val="1C2830"/>
                                </a:solidFill>
                                <a:latin typeface="Cambria Math" panose="02040503050406030204" pitchFamily="18" charset="0"/>
                              </a:rPr>
                              <m:t>𝑚</m:t>
                            </m:r>
                            <m:r>
                              <a:rPr lang="fr-FR" sz="3200" i="1">
                                <a:solidFill>
                                  <a:srgbClr val="1C2830"/>
                                </a:solidFill>
                                <a:latin typeface="Cambria Math" panose="02040503050406030204" pitchFamily="18" charset="0"/>
                              </a:rPr>
                              <m:t>+</m:t>
                            </m:r>
                            <m:r>
                              <a:rPr lang="fr-FR" sz="3200" i="1">
                                <a:solidFill>
                                  <a:srgbClr val="1C2830"/>
                                </a:solidFill>
                                <a:latin typeface="Cambria Math" panose="02040503050406030204" pitchFamily="18" charset="0"/>
                              </a:rPr>
                              <m:t>𝑖</m:t>
                            </m:r>
                          </m:num>
                          <m:den>
                            <m:r>
                              <a:rPr lang="fr-FR" sz="3200" i="1">
                                <a:solidFill>
                                  <a:srgbClr val="1C2830"/>
                                </a:solidFill>
                                <a:latin typeface="Cambria Math" panose="02040503050406030204" pitchFamily="18" charset="0"/>
                              </a:rPr>
                              <m:t>𝑖</m:t>
                            </m:r>
                          </m:den>
                        </m:f>
                      </m:e>
                    </m:nary>
                  </m:oMath>
                </a14:m>
                <a:endParaRPr lang="fr-FR" sz="3200" b="0" i="0" dirty="0">
                  <a:solidFill>
                    <a:srgbClr val="1C2830"/>
                  </a:solidFill>
                  <a:latin typeface="Calibri"/>
                </a:endParaRPr>
              </a:p>
            </p:txBody>
          </p:sp>
        </mc:Choice>
        <mc:Fallback>
          <p:sp>
            <p:nvSpPr>
              <p:cNvPr id="13" name="TextBox 12">
                <a:extLst>
                  <a:ext uri="{FF2B5EF4-FFF2-40B4-BE49-F238E27FC236}">
                    <a16:creationId xmlns:a16="http://schemas.microsoft.com/office/drawing/2014/main" id="{6DCEDF6E-7654-9824-7E8C-F81716BA929A}"/>
                  </a:ext>
                </a:extLst>
              </p:cNvPr>
              <p:cNvSpPr txBox="1">
                <a:spLocks noRot="1" noChangeAspect="1" noMove="1" noResize="1" noEditPoints="1" noAdjustHandles="1" noChangeArrowheads="1" noChangeShapeType="1" noTextEdit="1"/>
              </p:cNvSpPr>
              <p:nvPr/>
            </p:nvSpPr>
            <p:spPr>
              <a:xfrm>
                <a:off x="731520" y="1284732"/>
                <a:ext cx="10725912" cy="3326597"/>
              </a:xfrm>
              <a:prstGeom prst="rect">
                <a:avLst/>
              </a:prstGeom>
              <a:blipFill>
                <a:blip r:embed="rId3"/>
                <a:stretch>
                  <a:fillRect/>
                </a:stretch>
              </a:blipFill>
            </p:spPr>
            <p:txBody>
              <a:bodyPr/>
              <a:lstStyle/>
              <a:p>
                <a:r>
                  <a:rPr lang="fr-BE">
                    <a:noFill/>
                  </a:rPr>
                  <a:t> </a:t>
                </a:r>
              </a:p>
            </p:txBody>
          </p:sp>
        </mc:Fallback>
      </mc:AlternateContent>
      <p:sp>
        <p:nvSpPr>
          <p:cNvPr id="14" name="Rounded Rectangle 13">
            <a:extLst>
              <a:ext uri="{FF2B5EF4-FFF2-40B4-BE49-F238E27FC236}">
                <a16:creationId xmlns:a16="http://schemas.microsoft.com/office/drawing/2014/main" id="{0ABBA426-328B-3892-39F9-4D47AAF7E1D7}"/>
              </a:ext>
            </a:extLst>
          </p:cNvPr>
          <p:cNvSpPr/>
          <p:nvPr/>
        </p:nvSpPr>
        <p:spPr>
          <a:xfrm>
            <a:off x="502920" y="4740140"/>
            <a:ext cx="11183112" cy="1619860"/>
          </a:xfrm>
          <a:prstGeom prst="roundRect">
            <a:avLst>
              <a:gd name="adj" fmla="val 8000"/>
            </a:avLst>
          </a:prstGeom>
          <a:solidFill>
            <a:srgbClr val="E6F0F4"/>
          </a:solidFill>
          <a:ln>
            <a:noFill/>
          </a:ln>
        </p:spPr>
        <p:txBody>
          <a:bodyPr rtlCol="0" anchor="ctr"/>
          <a:lstStyle/>
          <a:p>
            <a:pPr algn="ctr"/>
            <a:endParaRPr/>
          </a:p>
        </p:txBody>
      </p:sp>
      <p:sp>
        <p:nvSpPr>
          <p:cNvPr id="15" name="TextBox 14">
            <a:extLst>
              <a:ext uri="{FF2B5EF4-FFF2-40B4-BE49-F238E27FC236}">
                <a16:creationId xmlns:a16="http://schemas.microsoft.com/office/drawing/2014/main" id="{D9629D9B-EC05-6EE4-5856-0F86EFE9D4C8}"/>
              </a:ext>
            </a:extLst>
          </p:cNvPr>
          <p:cNvSpPr txBox="1"/>
          <p:nvPr/>
        </p:nvSpPr>
        <p:spPr>
          <a:xfrm>
            <a:off x="731520" y="5181600"/>
            <a:ext cx="10725912" cy="1098400"/>
          </a:xfrm>
          <a:prstGeom prst="rect">
            <a:avLst/>
          </a:prstGeom>
          <a:noFill/>
        </p:spPr>
        <p:txBody>
          <a:bodyPr wrap="square" lIns="0" tIns="0" rIns="0" bIns="0" anchor="t"/>
          <a:lstStyle/>
          <a:p>
            <a:pPr algn="ctr">
              <a:lnSpc>
                <a:spcPct val="105000"/>
              </a:lnSpc>
              <a:spcBef>
                <a:spcPts val="0"/>
              </a:spcBef>
              <a:spcAft>
                <a:spcPts val="400"/>
              </a:spcAft>
            </a:pPr>
            <a:r>
              <a:rPr lang="fr-FR" sz="2400" b="0" i="0" dirty="0">
                <a:solidFill>
                  <a:srgbClr val="1C2830"/>
                </a:solidFill>
                <a:latin typeface="Calibri"/>
              </a:rPr>
              <a:t>Pour effectuer le moins d’étape possible, on privilégie la première forme si m&lt;n-m</a:t>
            </a:r>
          </a:p>
          <a:p>
            <a:pPr algn="ctr">
              <a:lnSpc>
                <a:spcPct val="105000"/>
              </a:lnSpc>
              <a:spcBef>
                <a:spcPts val="0"/>
              </a:spcBef>
              <a:spcAft>
                <a:spcPts val="400"/>
              </a:spcAft>
            </a:pPr>
            <a:r>
              <a:rPr lang="fr-FR" sz="2400" dirty="0">
                <a:solidFill>
                  <a:srgbClr val="1C2830"/>
                </a:solidFill>
                <a:latin typeface="Calibri"/>
              </a:rPr>
              <a:t>Dans le cas contraire, on utilise la deuxième forme </a:t>
            </a:r>
            <a:endParaRPr lang="fr-FR" sz="2400" b="0" i="0" dirty="0">
              <a:solidFill>
                <a:srgbClr val="0C384C"/>
              </a:solidFill>
              <a:latin typeface="Consolas"/>
            </a:endParaRPr>
          </a:p>
        </p:txBody>
      </p:sp>
      <p:sp>
        <p:nvSpPr>
          <p:cNvPr id="16" name="TextBox 15">
            <a:extLst>
              <a:ext uri="{FF2B5EF4-FFF2-40B4-BE49-F238E27FC236}">
                <a16:creationId xmlns:a16="http://schemas.microsoft.com/office/drawing/2014/main" id="{E20FAE69-7DBE-0E9E-91AE-2C53D03D04EE}"/>
              </a:ext>
            </a:extLst>
          </p:cNvPr>
          <p:cNvSpPr txBox="1"/>
          <p:nvPr/>
        </p:nvSpPr>
        <p:spPr>
          <a:xfrm>
            <a:off x="10058400" y="6480000"/>
            <a:ext cx="1828800" cy="274320"/>
          </a:xfrm>
          <a:prstGeom prst="rect">
            <a:avLst/>
          </a:prstGeom>
          <a:noFill/>
        </p:spPr>
        <p:txBody>
          <a:bodyPr wrap="square" lIns="0" tIns="0" rIns="0" bIns="0" anchor="ctr"/>
          <a:lstStyle/>
          <a:p>
            <a:pPr algn="r">
              <a:lnSpc>
                <a:spcPct val="100000"/>
              </a:lnSpc>
              <a:spcBef>
                <a:spcPts val="0"/>
              </a:spcBef>
              <a:spcAft>
                <a:spcPts val="0"/>
              </a:spcAft>
            </a:pPr>
            <a:r>
              <a:rPr lang="fr-FR" sz="1200" b="0" i="0">
                <a:solidFill>
                  <a:srgbClr val="4E6470"/>
                </a:solidFill>
                <a:latin typeface="Calibri"/>
              </a:rPr>
              <a:t>23  /  27</a:t>
            </a:r>
          </a:p>
        </p:txBody>
      </p:sp>
    </p:spTree>
    <p:extLst>
      <p:ext uri="{BB962C8B-B14F-4D97-AF65-F5344CB8AC3E}">
        <p14:creationId xmlns:p14="http://schemas.microsoft.com/office/powerpoint/2010/main" val="2526050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lIns="0" tIns="0" rIns="0" bIns="0" anchor="ctr"/>
          <a:lstStyle/>
          <a:p>
            <a:pPr algn="l">
              <a:lnSpc>
                <a:spcPct val="100000"/>
              </a:lnSpc>
              <a:spcBef>
                <a:spcPts val="0"/>
              </a:spcBef>
              <a:spcAft>
                <a:spcPts val="0"/>
              </a:spcAft>
            </a:pPr>
            <a:r>
              <a:rPr lang="fr-FR" sz="3200" b="0" i="0">
                <a:solidFill>
                  <a:srgbClr val="FFFFFF"/>
                </a:solidFill>
                <a:latin typeface="Calibri"/>
              </a:rPr>
              <a:t>Comme dans coeff.c</a:t>
            </a:r>
          </a:p>
        </p:txBody>
      </p:sp>
      <p:sp>
        <p:nvSpPr>
          <p:cNvPr id="5" name="Rounded Rectangle 4"/>
          <p:cNvSpPr/>
          <p:nvPr/>
        </p:nvSpPr>
        <p:spPr>
          <a:xfrm>
            <a:off x="502920" y="1200000"/>
            <a:ext cx="11183112" cy="3692826"/>
          </a:xfrm>
          <a:prstGeom prst="roundRect">
            <a:avLst>
              <a:gd name="adj" fmla="val 8000"/>
            </a:avLst>
          </a:prstGeom>
          <a:solidFill>
            <a:srgbClr val="F4F8F9"/>
          </a:solidFill>
          <a:ln w="12700">
            <a:solidFill>
              <a:srgbClr val="D5E2E8"/>
            </a:solidFill>
          </a:ln>
        </p:spPr>
        <p:txBody>
          <a:bodyPr rtlCol="0" anchor="ctr"/>
          <a:lstStyle/>
          <a:p>
            <a:pPr algn="ctr"/>
            <a:endParaRPr/>
          </a:p>
        </p:txBody>
      </p:sp>
      <p:sp>
        <p:nvSpPr>
          <p:cNvPr id="6" name="TextBox 5"/>
          <p:cNvSpPr txBox="1"/>
          <p:nvPr/>
        </p:nvSpPr>
        <p:spPr>
          <a:xfrm>
            <a:off x="731520" y="1280000"/>
            <a:ext cx="10725912" cy="3020000"/>
          </a:xfrm>
          <a:prstGeom prst="rect">
            <a:avLst/>
          </a:prstGeom>
          <a:noFill/>
        </p:spPr>
        <p:txBody>
          <a:bodyPr wrap="square" lIns="0" tIns="0" rIns="0" bIns="0" anchor="t"/>
          <a:lstStyle/>
          <a:p>
            <a:pPr algn="l">
              <a:lnSpc>
                <a:spcPct val="100000"/>
              </a:lnSpc>
              <a:spcBef>
                <a:spcPts val="0"/>
              </a:spcBef>
              <a:spcAft>
                <a:spcPts val="100"/>
              </a:spcAft>
            </a:pPr>
            <a:r>
              <a:rPr lang="fr-FR" sz="1500" b="0" i="0" dirty="0" err="1">
                <a:solidFill>
                  <a:srgbClr val="0C384C"/>
                </a:solidFill>
                <a:latin typeface="Consolas"/>
              </a:rPr>
              <a:t>unsigned</a:t>
            </a:r>
            <a:r>
              <a:rPr lang="fr-FR" sz="1500" b="0" i="0" dirty="0">
                <a:solidFill>
                  <a:srgbClr val="0C384C"/>
                </a:solidFill>
                <a:latin typeface="Consolas"/>
              </a:rPr>
              <a:t> long </a:t>
            </a:r>
            <a:r>
              <a:rPr lang="fr-FR" sz="1500" b="0" i="0" dirty="0" err="1">
                <a:solidFill>
                  <a:srgbClr val="0C384C"/>
                </a:solidFill>
                <a:latin typeface="Consolas"/>
              </a:rPr>
              <a:t>long</a:t>
            </a:r>
            <a:r>
              <a:rPr lang="fr-FR" sz="1500" b="0" i="0" dirty="0">
                <a:solidFill>
                  <a:srgbClr val="0C384C"/>
                </a:solidFill>
                <a:latin typeface="Consolas"/>
              </a:rPr>
              <a:t> </a:t>
            </a:r>
            <a:r>
              <a:rPr lang="fr-FR" sz="1500" b="0" i="0" dirty="0" err="1">
                <a:solidFill>
                  <a:srgbClr val="0C384C"/>
                </a:solidFill>
                <a:latin typeface="Consolas"/>
              </a:rPr>
              <a:t>coeff</a:t>
            </a:r>
            <a:r>
              <a:rPr lang="fr-FR" sz="1500" b="0" i="0" dirty="0">
                <a:solidFill>
                  <a:srgbClr val="0C384C"/>
                </a:solidFill>
                <a:latin typeface="Consolas"/>
              </a:rPr>
              <a:t> = 1;</a:t>
            </a:r>
          </a:p>
          <a:p>
            <a:pPr algn="l">
              <a:lnSpc>
                <a:spcPct val="100000"/>
              </a:lnSpc>
              <a:spcBef>
                <a:spcPts val="0"/>
              </a:spcBef>
              <a:spcAft>
                <a:spcPts val="100"/>
              </a:spcAft>
            </a:pPr>
            <a:r>
              <a:rPr lang="fr-FR" sz="1500" b="0" i="0" dirty="0" err="1">
                <a:solidFill>
                  <a:srgbClr val="0C384C"/>
                </a:solidFill>
                <a:latin typeface="Consolas"/>
              </a:rPr>
              <a:t>scanf</a:t>
            </a:r>
            <a:r>
              <a:rPr lang="fr-FR" sz="1500" b="0" i="0" dirty="0">
                <a:solidFill>
                  <a:srgbClr val="0C384C"/>
                </a:solidFill>
                <a:latin typeface="Consolas"/>
              </a:rPr>
              <a:t>("%u %u", &amp;n, &amp;m);</a:t>
            </a:r>
          </a:p>
          <a:p>
            <a:pPr algn="l">
              <a:lnSpc>
                <a:spcPct val="100000"/>
              </a:lnSpc>
              <a:spcBef>
                <a:spcPts val="0"/>
              </a:spcBef>
              <a:spcAft>
                <a:spcPts val="100"/>
              </a:spcAft>
            </a:pPr>
            <a:r>
              <a:rPr lang="fr-FR" sz="1500" b="0" i="0" dirty="0">
                <a:solidFill>
                  <a:srgbClr val="0C384C"/>
                </a:solidFill>
                <a:latin typeface="Consolas"/>
              </a:rPr>
              <a:t>if (m &lt; n - m) {</a:t>
            </a:r>
          </a:p>
          <a:p>
            <a:pPr algn="l">
              <a:lnSpc>
                <a:spcPct val="100000"/>
              </a:lnSpc>
              <a:spcBef>
                <a:spcPts val="0"/>
              </a:spcBef>
              <a:spcAft>
                <a:spcPts val="100"/>
              </a:spcAft>
            </a:pPr>
            <a:r>
              <a:rPr lang="fr-FR" sz="1500" b="0" i="0" dirty="0">
                <a:solidFill>
                  <a:srgbClr val="0C384C"/>
                </a:solidFill>
                <a:latin typeface="Consolas"/>
              </a:rPr>
              <a:t>    for (</a:t>
            </a:r>
            <a:r>
              <a:rPr lang="fr-FR" sz="1500" b="0" i="0" dirty="0" err="1">
                <a:solidFill>
                  <a:srgbClr val="0C384C"/>
                </a:solidFill>
                <a:latin typeface="Consolas"/>
              </a:rPr>
              <a:t>unsigned</a:t>
            </a:r>
            <a:r>
              <a:rPr lang="fr-FR" sz="1500" b="0" i="0" dirty="0">
                <a:solidFill>
                  <a:srgbClr val="0C384C"/>
                </a:solidFill>
                <a:latin typeface="Consolas"/>
              </a:rPr>
              <a:t> </a:t>
            </a:r>
            <a:r>
              <a:rPr lang="fr-FR" sz="1500" b="0" i="0" dirty="0" err="1">
                <a:solidFill>
                  <a:srgbClr val="0C384C"/>
                </a:solidFill>
                <a:latin typeface="Consolas"/>
              </a:rPr>
              <a:t>int</a:t>
            </a:r>
            <a:r>
              <a:rPr lang="fr-FR" sz="1500" b="0" i="0" dirty="0">
                <a:solidFill>
                  <a:srgbClr val="0C384C"/>
                </a:solidFill>
                <a:latin typeface="Consolas"/>
              </a:rPr>
              <a:t> i = 1; i &lt;= m; i++) {</a:t>
            </a:r>
          </a:p>
          <a:p>
            <a:pPr algn="l">
              <a:lnSpc>
                <a:spcPct val="100000"/>
              </a:lnSpc>
              <a:spcBef>
                <a:spcPts val="0"/>
              </a:spcBef>
              <a:spcAft>
                <a:spcPts val="100"/>
              </a:spcAft>
            </a:pPr>
            <a:r>
              <a:rPr lang="fr-FR" sz="1500" b="0" i="0" dirty="0">
                <a:solidFill>
                  <a:srgbClr val="0C384C"/>
                </a:solidFill>
                <a:latin typeface="Consolas"/>
              </a:rPr>
              <a:t>        </a:t>
            </a:r>
            <a:r>
              <a:rPr lang="fr-FR" sz="1500" b="0" i="0" dirty="0" err="1">
                <a:solidFill>
                  <a:srgbClr val="0C384C"/>
                </a:solidFill>
                <a:latin typeface="Consolas"/>
              </a:rPr>
              <a:t>coeff</a:t>
            </a:r>
            <a:r>
              <a:rPr lang="fr-FR" sz="1500" b="0" i="0" dirty="0">
                <a:solidFill>
                  <a:srgbClr val="0C384C"/>
                </a:solidFill>
                <a:latin typeface="Consolas"/>
              </a:rPr>
              <a:t> *= (n - m + i);</a:t>
            </a:r>
          </a:p>
          <a:p>
            <a:pPr algn="l">
              <a:lnSpc>
                <a:spcPct val="100000"/>
              </a:lnSpc>
              <a:spcBef>
                <a:spcPts val="0"/>
              </a:spcBef>
              <a:spcAft>
                <a:spcPts val="100"/>
              </a:spcAft>
            </a:pPr>
            <a:r>
              <a:rPr lang="fr-FR" sz="1500" b="0" i="0" dirty="0">
                <a:solidFill>
                  <a:srgbClr val="0C384C"/>
                </a:solidFill>
                <a:latin typeface="Consolas"/>
              </a:rPr>
              <a:t>        </a:t>
            </a:r>
            <a:r>
              <a:rPr lang="fr-FR" sz="1500" b="0" i="0" dirty="0" err="1">
                <a:solidFill>
                  <a:srgbClr val="0C384C"/>
                </a:solidFill>
                <a:latin typeface="Consolas"/>
              </a:rPr>
              <a:t>coeff</a:t>
            </a:r>
            <a:r>
              <a:rPr lang="fr-FR" sz="1500" b="0" i="0" dirty="0">
                <a:solidFill>
                  <a:srgbClr val="0C384C"/>
                </a:solidFill>
                <a:latin typeface="Consolas"/>
              </a:rPr>
              <a:t> /= i;</a:t>
            </a:r>
          </a:p>
          <a:p>
            <a:pPr algn="l">
              <a:lnSpc>
                <a:spcPct val="100000"/>
              </a:lnSpc>
              <a:spcBef>
                <a:spcPts val="0"/>
              </a:spcBef>
              <a:spcAft>
                <a:spcPts val="100"/>
              </a:spcAft>
            </a:pPr>
            <a:r>
              <a:rPr lang="fr-FR" sz="1500" b="0" i="0" dirty="0">
                <a:solidFill>
                  <a:srgbClr val="0C384C"/>
                </a:solidFill>
                <a:latin typeface="Consolas"/>
              </a:rPr>
              <a:t>    }</a:t>
            </a:r>
          </a:p>
          <a:p>
            <a:pPr algn="l">
              <a:lnSpc>
                <a:spcPct val="100000"/>
              </a:lnSpc>
              <a:spcBef>
                <a:spcPts val="0"/>
              </a:spcBef>
              <a:spcAft>
                <a:spcPts val="100"/>
              </a:spcAft>
            </a:pPr>
            <a:r>
              <a:rPr lang="fr-FR" sz="1500" b="0" i="0" dirty="0">
                <a:solidFill>
                  <a:srgbClr val="0C384C"/>
                </a:solidFill>
                <a:latin typeface="Consolas"/>
              </a:rPr>
              <a:t>} </a:t>
            </a:r>
            <a:r>
              <a:rPr lang="fr-FR" sz="1500" b="0" i="0" dirty="0" err="1">
                <a:solidFill>
                  <a:srgbClr val="0C384C"/>
                </a:solidFill>
                <a:latin typeface="Consolas"/>
              </a:rPr>
              <a:t>else</a:t>
            </a:r>
            <a:r>
              <a:rPr lang="fr-FR" sz="1500" b="0" i="0" dirty="0">
                <a:solidFill>
                  <a:srgbClr val="0C384C"/>
                </a:solidFill>
                <a:latin typeface="Consolas"/>
              </a:rPr>
              <a:t> {</a:t>
            </a:r>
          </a:p>
          <a:p>
            <a:pPr algn="l">
              <a:lnSpc>
                <a:spcPct val="100000"/>
              </a:lnSpc>
              <a:spcBef>
                <a:spcPts val="0"/>
              </a:spcBef>
              <a:spcAft>
                <a:spcPts val="100"/>
              </a:spcAft>
            </a:pPr>
            <a:r>
              <a:rPr lang="fr-FR" sz="1500" b="0" i="0" dirty="0">
                <a:solidFill>
                  <a:srgbClr val="0C384C"/>
                </a:solidFill>
                <a:latin typeface="Consolas"/>
              </a:rPr>
              <a:t>    m = n - m;</a:t>
            </a:r>
          </a:p>
          <a:p>
            <a:pPr algn="l">
              <a:lnSpc>
                <a:spcPct val="100000"/>
              </a:lnSpc>
              <a:spcBef>
                <a:spcPts val="0"/>
              </a:spcBef>
              <a:spcAft>
                <a:spcPts val="100"/>
              </a:spcAft>
            </a:pPr>
            <a:r>
              <a:rPr lang="fr-FR" sz="1500" b="0" i="0" dirty="0">
                <a:solidFill>
                  <a:srgbClr val="0C384C"/>
                </a:solidFill>
                <a:latin typeface="Consolas"/>
              </a:rPr>
              <a:t>    for (</a:t>
            </a:r>
            <a:r>
              <a:rPr lang="fr-FR" sz="1500" b="0" i="0" dirty="0" err="1">
                <a:solidFill>
                  <a:srgbClr val="0C384C"/>
                </a:solidFill>
                <a:latin typeface="Consolas"/>
              </a:rPr>
              <a:t>unsigned</a:t>
            </a:r>
            <a:r>
              <a:rPr lang="fr-FR" sz="1500" b="0" i="0" dirty="0">
                <a:solidFill>
                  <a:srgbClr val="0C384C"/>
                </a:solidFill>
                <a:latin typeface="Consolas"/>
              </a:rPr>
              <a:t> </a:t>
            </a:r>
            <a:r>
              <a:rPr lang="fr-FR" sz="1500" b="0" i="0" dirty="0" err="1">
                <a:solidFill>
                  <a:srgbClr val="0C384C"/>
                </a:solidFill>
                <a:latin typeface="Consolas"/>
              </a:rPr>
              <a:t>int</a:t>
            </a:r>
            <a:r>
              <a:rPr lang="fr-FR" sz="1500" b="0" i="0" dirty="0">
                <a:solidFill>
                  <a:srgbClr val="0C384C"/>
                </a:solidFill>
                <a:latin typeface="Consolas"/>
              </a:rPr>
              <a:t> i = 1; i &lt;= m; i++) {</a:t>
            </a:r>
          </a:p>
          <a:p>
            <a:pPr algn="l">
              <a:lnSpc>
                <a:spcPct val="100000"/>
              </a:lnSpc>
              <a:spcBef>
                <a:spcPts val="0"/>
              </a:spcBef>
              <a:spcAft>
                <a:spcPts val="100"/>
              </a:spcAft>
            </a:pPr>
            <a:r>
              <a:rPr lang="fr-FR" sz="1500" b="0" i="0" dirty="0">
                <a:solidFill>
                  <a:srgbClr val="0C384C"/>
                </a:solidFill>
                <a:latin typeface="Consolas"/>
              </a:rPr>
              <a:t>        </a:t>
            </a:r>
            <a:r>
              <a:rPr lang="fr-FR" sz="1500" b="0" i="0" dirty="0" err="1">
                <a:solidFill>
                  <a:srgbClr val="0C384C"/>
                </a:solidFill>
                <a:latin typeface="Consolas"/>
              </a:rPr>
              <a:t>coeff</a:t>
            </a:r>
            <a:r>
              <a:rPr lang="fr-FR" sz="1500" b="0" i="0" dirty="0">
                <a:solidFill>
                  <a:srgbClr val="0C384C"/>
                </a:solidFill>
                <a:latin typeface="Consolas"/>
              </a:rPr>
              <a:t> *= (n - m + i);</a:t>
            </a:r>
          </a:p>
          <a:p>
            <a:pPr algn="l">
              <a:lnSpc>
                <a:spcPct val="100000"/>
              </a:lnSpc>
              <a:spcBef>
                <a:spcPts val="0"/>
              </a:spcBef>
              <a:spcAft>
                <a:spcPts val="100"/>
              </a:spcAft>
            </a:pPr>
            <a:r>
              <a:rPr lang="fr-FR" sz="1500" b="0" i="0" dirty="0">
                <a:solidFill>
                  <a:srgbClr val="0C384C"/>
                </a:solidFill>
                <a:latin typeface="Consolas"/>
              </a:rPr>
              <a:t>        </a:t>
            </a:r>
            <a:r>
              <a:rPr lang="fr-FR" sz="1500" b="0" i="0" dirty="0" err="1">
                <a:solidFill>
                  <a:srgbClr val="0C384C"/>
                </a:solidFill>
                <a:latin typeface="Consolas"/>
              </a:rPr>
              <a:t>coeff</a:t>
            </a:r>
            <a:r>
              <a:rPr lang="fr-FR" sz="1500" b="0" i="0" dirty="0">
                <a:solidFill>
                  <a:srgbClr val="0C384C"/>
                </a:solidFill>
                <a:latin typeface="Consolas"/>
              </a:rPr>
              <a:t> /= i;</a:t>
            </a:r>
          </a:p>
          <a:p>
            <a:pPr algn="l">
              <a:lnSpc>
                <a:spcPct val="100000"/>
              </a:lnSpc>
              <a:spcBef>
                <a:spcPts val="0"/>
              </a:spcBef>
              <a:spcAft>
                <a:spcPts val="100"/>
              </a:spcAft>
            </a:pPr>
            <a:r>
              <a:rPr lang="fr-FR" sz="1500" b="0" i="0" dirty="0">
                <a:solidFill>
                  <a:srgbClr val="0C384C"/>
                </a:solidFill>
                <a:latin typeface="Consolas"/>
              </a:rPr>
              <a:t>    }</a:t>
            </a:r>
          </a:p>
          <a:p>
            <a:pPr algn="l">
              <a:lnSpc>
                <a:spcPct val="100000"/>
              </a:lnSpc>
              <a:spcBef>
                <a:spcPts val="0"/>
              </a:spcBef>
              <a:spcAft>
                <a:spcPts val="100"/>
              </a:spcAft>
            </a:pPr>
            <a:r>
              <a:rPr lang="fr-FR" sz="1500" b="0" i="0" dirty="0">
                <a:solidFill>
                  <a:srgbClr val="0C384C"/>
                </a:solidFill>
                <a:latin typeface="Consolas"/>
              </a:rPr>
              <a:t>}</a:t>
            </a:r>
          </a:p>
          <a:p>
            <a:pPr algn="l">
              <a:lnSpc>
                <a:spcPct val="100000"/>
              </a:lnSpc>
              <a:spcBef>
                <a:spcPts val="0"/>
              </a:spcBef>
              <a:spcAft>
                <a:spcPts val="100"/>
              </a:spcAft>
            </a:pPr>
            <a:r>
              <a:rPr lang="fr-FR" sz="1500" b="0" i="0" dirty="0">
                <a:solidFill>
                  <a:srgbClr val="0C384C"/>
                </a:solidFill>
                <a:latin typeface="Consolas"/>
              </a:rPr>
              <a:t>printf("C(%u, %u) = %</a:t>
            </a:r>
            <a:r>
              <a:rPr lang="fr-FR" sz="1500" b="0" i="0" dirty="0" err="1">
                <a:solidFill>
                  <a:srgbClr val="0C384C"/>
                </a:solidFill>
                <a:latin typeface="Consolas"/>
              </a:rPr>
              <a:t>llu</a:t>
            </a:r>
            <a:r>
              <a:rPr lang="fr-FR" sz="1500" b="0" i="0" dirty="0">
                <a:solidFill>
                  <a:srgbClr val="0C384C"/>
                </a:solidFill>
                <a:latin typeface="Consolas"/>
              </a:rPr>
              <a:t>\n", n, m, </a:t>
            </a:r>
            <a:r>
              <a:rPr lang="fr-FR" sz="1500" b="0" i="0" dirty="0" err="1">
                <a:solidFill>
                  <a:srgbClr val="0C384C"/>
                </a:solidFill>
                <a:latin typeface="Consolas"/>
              </a:rPr>
              <a:t>coeff</a:t>
            </a:r>
            <a:r>
              <a:rPr lang="fr-FR" sz="1500" b="0" i="0" dirty="0">
                <a:solidFill>
                  <a:srgbClr val="0C384C"/>
                </a:solidFill>
                <a:latin typeface="Consolas"/>
              </a:rPr>
              <a:t>);</a:t>
            </a:r>
          </a:p>
        </p:txBody>
      </p:sp>
      <p:sp>
        <p:nvSpPr>
          <p:cNvPr id="7" name="Rounded Rectangle 6"/>
          <p:cNvSpPr/>
          <p:nvPr/>
        </p:nvSpPr>
        <p:spPr>
          <a:xfrm>
            <a:off x="502920" y="5053780"/>
            <a:ext cx="5511556" cy="1196219"/>
          </a:xfrm>
          <a:prstGeom prst="roundRect">
            <a:avLst>
              <a:gd name="adj" fmla="val 8000"/>
            </a:avLst>
          </a:prstGeom>
          <a:solidFill>
            <a:srgbClr val="E6F0F4"/>
          </a:solidFill>
          <a:ln>
            <a:noFill/>
          </a:ln>
        </p:spPr>
        <p:txBody>
          <a:bodyPr rtlCol="0" anchor="ctr"/>
          <a:lstStyle/>
          <a:p>
            <a:pPr algn="ctr"/>
            <a:endParaRPr/>
          </a:p>
        </p:txBody>
      </p:sp>
      <p:sp>
        <p:nvSpPr>
          <p:cNvPr id="8" name="TextBox 7"/>
          <p:cNvSpPr txBox="1"/>
          <p:nvPr/>
        </p:nvSpPr>
        <p:spPr>
          <a:xfrm>
            <a:off x="662920" y="5122826"/>
            <a:ext cx="5191556" cy="1027174"/>
          </a:xfrm>
          <a:prstGeom prst="rect">
            <a:avLst/>
          </a:prstGeom>
          <a:noFill/>
        </p:spPr>
        <p:txBody>
          <a:bodyPr wrap="square" lIns="0" tIns="0" rIns="0" bIns="0" anchor="ctr"/>
          <a:lstStyle/>
          <a:p>
            <a:pPr algn="l">
              <a:lnSpc>
                <a:spcPct val="105000"/>
              </a:lnSpc>
              <a:spcBef>
                <a:spcPts val="0"/>
              </a:spcBef>
              <a:spcAft>
                <a:spcPts val="0"/>
              </a:spcAft>
            </a:pPr>
            <a:r>
              <a:rPr lang="fr-FR" sz="2400" b="0" i="0" dirty="0">
                <a:solidFill>
                  <a:srgbClr val="1C2830"/>
                </a:solidFill>
                <a:latin typeface="Calibri"/>
              </a:rPr>
              <a:t>Le if choisit la forme la plus optimale puis on calcule</a:t>
            </a:r>
          </a:p>
        </p:txBody>
      </p:sp>
      <p:sp>
        <p:nvSpPr>
          <p:cNvPr id="9" name="Rounded Rectangle 8"/>
          <p:cNvSpPr/>
          <p:nvPr/>
        </p:nvSpPr>
        <p:spPr>
          <a:xfrm>
            <a:off x="6174476" y="5053780"/>
            <a:ext cx="5511556" cy="1196220"/>
          </a:xfrm>
          <a:prstGeom prst="roundRect">
            <a:avLst>
              <a:gd name="adj" fmla="val 8000"/>
            </a:avLst>
          </a:prstGeom>
          <a:solidFill>
            <a:srgbClr val="FDF4EC"/>
          </a:solidFill>
          <a:ln>
            <a:noFill/>
          </a:ln>
        </p:spPr>
        <p:txBody>
          <a:bodyPr rtlCol="0" anchor="ctr"/>
          <a:lstStyle/>
          <a:p>
            <a:pPr algn="ctr"/>
            <a:endParaRPr/>
          </a:p>
        </p:txBody>
      </p:sp>
      <p:sp>
        <p:nvSpPr>
          <p:cNvPr id="10" name="TextBox 9"/>
          <p:cNvSpPr txBox="1"/>
          <p:nvPr/>
        </p:nvSpPr>
        <p:spPr>
          <a:xfrm>
            <a:off x="6334476" y="5122826"/>
            <a:ext cx="5191556" cy="1027174"/>
          </a:xfrm>
          <a:prstGeom prst="rect">
            <a:avLst/>
          </a:prstGeom>
          <a:noFill/>
        </p:spPr>
        <p:txBody>
          <a:bodyPr wrap="square" lIns="0" tIns="0" rIns="0" bIns="0" anchor="ctr"/>
          <a:lstStyle/>
          <a:p>
            <a:pPr algn="l">
              <a:lnSpc>
                <a:spcPct val="105000"/>
              </a:lnSpc>
              <a:spcBef>
                <a:spcPts val="0"/>
              </a:spcBef>
              <a:spcAft>
                <a:spcPts val="0"/>
              </a:spcAft>
            </a:pPr>
            <a:r>
              <a:rPr lang="fr-FR" sz="2400" dirty="0">
                <a:solidFill>
                  <a:srgbClr val="1C2830"/>
                </a:solidFill>
                <a:latin typeface="Calibri"/>
              </a:rPr>
              <a:t>p</a:t>
            </a:r>
            <a:r>
              <a:rPr lang="fr-FR" sz="2400" b="0" i="0" dirty="0">
                <a:solidFill>
                  <a:srgbClr val="1C2830"/>
                </a:solidFill>
                <a:latin typeface="Calibri"/>
              </a:rPr>
              <a:t>rintf affiche le résultat</a:t>
            </a:r>
          </a:p>
        </p:txBody>
      </p:sp>
      <p:sp>
        <p:nvSpPr>
          <p:cNvPr id="11" name="TextBox 10"/>
          <p:cNvSpPr txBox="1"/>
          <p:nvPr/>
        </p:nvSpPr>
        <p:spPr>
          <a:xfrm>
            <a:off x="10058400" y="6480000"/>
            <a:ext cx="1828800" cy="274320"/>
          </a:xfrm>
          <a:prstGeom prst="rect">
            <a:avLst/>
          </a:prstGeom>
          <a:noFill/>
        </p:spPr>
        <p:txBody>
          <a:bodyPr wrap="square" lIns="0" tIns="0" rIns="0" bIns="0" anchor="ctr"/>
          <a:lstStyle/>
          <a:p>
            <a:pPr algn="r">
              <a:lnSpc>
                <a:spcPct val="100000"/>
              </a:lnSpc>
              <a:spcBef>
                <a:spcPts val="0"/>
              </a:spcBef>
              <a:spcAft>
                <a:spcPts val="0"/>
              </a:spcAft>
            </a:pPr>
            <a:r>
              <a:rPr lang="fr-FR" sz="1200" b="0" i="0">
                <a:solidFill>
                  <a:srgbClr val="4E6470"/>
                </a:solidFill>
                <a:latin typeface="Calibri"/>
              </a:rPr>
              <a:t>24  /  27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lIns="0" tIns="0" rIns="0" bIns="0" anchor="ctr"/>
          <a:lstStyle/>
          <a:p>
            <a:pPr algn="l">
              <a:lnSpc>
                <a:spcPct val="100000"/>
              </a:lnSpc>
              <a:spcBef>
                <a:spcPts val="0"/>
              </a:spcBef>
              <a:spcAft>
                <a:spcPts val="0"/>
              </a:spcAft>
            </a:pPr>
            <a:r>
              <a:rPr lang="fr-FR" sz="3200" b="0" i="0">
                <a:solidFill>
                  <a:srgbClr val="FFFFFF"/>
                </a:solidFill>
                <a:latin typeface="Calibri"/>
              </a:rPr>
              <a:t>Multiplier, puis diviser</a:t>
            </a:r>
          </a:p>
        </p:txBody>
      </p:sp>
      <p:sp>
        <p:nvSpPr>
          <p:cNvPr id="5" name="TextBox 4"/>
          <p:cNvSpPr txBox="1"/>
          <p:nvPr/>
        </p:nvSpPr>
        <p:spPr>
          <a:xfrm>
            <a:off x="502920" y="1200000"/>
            <a:ext cx="11155680" cy="420000"/>
          </a:xfrm>
          <a:prstGeom prst="rect">
            <a:avLst/>
          </a:prstGeom>
          <a:noFill/>
        </p:spPr>
        <p:txBody>
          <a:bodyPr wrap="square" lIns="0" tIns="0" rIns="0" bIns="0" anchor="t"/>
          <a:lstStyle/>
          <a:p>
            <a:pPr algn="l">
              <a:lnSpc>
                <a:spcPct val="105000"/>
              </a:lnSpc>
              <a:spcBef>
                <a:spcPts val="0"/>
              </a:spcBef>
              <a:spcAft>
                <a:spcPts val="0"/>
              </a:spcAft>
            </a:pPr>
            <a:r>
              <a:rPr lang="fr-FR" sz="1800" b="0" i="0">
                <a:solidFill>
                  <a:srgbClr val="1C2830"/>
                </a:solidFill>
                <a:latin typeface="Calibri"/>
              </a:rPr>
              <a:t>C(5, 2), avec m = 2. Chaque quotient tombe juste si l'on multiplie par (n − m + i) avant de diviser par i.</a:t>
            </a:r>
          </a:p>
        </p:txBody>
      </p:sp>
      <p:sp>
        <p:nvSpPr>
          <p:cNvPr id="6" name="Rounded Rectangle 5"/>
          <p:cNvSpPr/>
          <p:nvPr/>
        </p:nvSpPr>
        <p:spPr>
          <a:xfrm>
            <a:off x="502920" y="1700000"/>
            <a:ext cx="5486400" cy="2280000"/>
          </a:xfrm>
          <a:prstGeom prst="roundRect">
            <a:avLst>
              <a:gd name="adj" fmla="val 8000"/>
            </a:avLst>
          </a:prstGeom>
          <a:solidFill>
            <a:srgbClr val="E7F4EC"/>
          </a:solidFill>
          <a:ln>
            <a:noFill/>
          </a:ln>
        </p:spPr>
        <p:txBody>
          <a:bodyPr rtlCol="0" anchor="ctr"/>
          <a:lstStyle/>
          <a:p>
            <a:pPr algn="ctr"/>
            <a:endParaRPr/>
          </a:p>
        </p:txBody>
      </p:sp>
      <p:sp>
        <p:nvSpPr>
          <p:cNvPr id="7" name="TextBox 6"/>
          <p:cNvSpPr txBox="1"/>
          <p:nvPr/>
        </p:nvSpPr>
        <p:spPr>
          <a:xfrm>
            <a:off x="682920" y="1800000"/>
            <a:ext cx="5126400" cy="2080000"/>
          </a:xfrm>
          <a:prstGeom prst="rect">
            <a:avLst/>
          </a:prstGeom>
          <a:noFill/>
        </p:spPr>
        <p:txBody>
          <a:bodyPr wrap="square" lIns="0" tIns="0" rIns="0" bIns="0" anchor="t"/>
          <a:lstStyle/>
          <a:p>
            <a:pPr algn="l">
              <a:lnSpc>
                <a:spcPct val="105000"/>
              </a:lnSpc>
              <a:spcBef>
                <a:spcPts val="0"/>
              </a:spcBef>
              <a:spcAft>
                <a:spcPts val="1000"/>
              </a:spcAft>
            </a:pPr>
            <a:r>
              <a:rPr lang="fr-FR" sz="1600" b="1" i="0">
                <a:solidFill>
                  <a:srgbClr val="1B5E34"/>
                </a:solidFill>
                <a:latin typeface="Calibri"/>
              </a:rPr>
              <a:t>Dans cet ordre</a:t>
            </a:r>
          </a:p>
          <a:p>
            <a:pPr algn="l">
              <a:lnSpc>
                <a:spcPct val="105000"/>
              </a:lnSpc>
              <a:spcBef>
                <a:spcPts val="0"/>
              </a:spcBef>
              <a:spcAft>
                <a:spcPts val="600"/>
              </a:spcAft>
            </a:pPr>
            <a:r>
              <a:rPr lang="fr-FR" sz="1600" b="0" i="0">
                <a:solidFill>
                  <a:srgbClr val="1C2830"/>
                </a:solidFill>
                <a:latin typeface="Consolas"/>
              </a:rPr>
              <a:t>i = 1 :  1 × (5−2+1) / 1 = 4</a:t>
            </a:r>
          </a:p>
          <a:p>
            <a:pPr algn="l">
              <a:lnSpc>
                <a:spcPct val="105000"/>
              </a:lnSpc>
              <a:spcBef>
                <a:spcPts val="0"/>
              </a:spcBef>
              <a:spcAft>
                <a:spcPts val="1000"/>
              </a:spcAft>
            </a:pPr>
            <a:r>
              <a:rPr lang="fr-FR" sz="1600" b="0" i="0">
                <a:solidFill>
                  <a:srgbClr val="1C2830"/>
                </a:solidFill>
                <a:latin typeface="Consolas"/>
              </a:rPr>
              <a:t>i = 2 :  4 × (5−2+2) / 2 = 10</a:t>
            </a:r>
          </a:p>
          <a:p>
            <a:pPr algn="l">
              <a:lnSpc>
                <a:spcPct val="105000"/>
              </a:lnSpc>
              <a:spcBef>
                <a:spcPts val="0"/>
              </a:spcBef>
              <a:spcAft>
                <a:spcPts val="0"/>
              </a:spcAft>
            </a:pPr>
            <a:r>
              <a:rPr lang="fr-FR" sz="2000" b="1" i="0">
                <a:solidFill>
                  <a:srgbClr val="1B5E34"/>
                </a:solidFill>
                <a:latin typeface="Calibri"/>
              </a:rPr>
              <a:t>C(5, 2) = 10</a:t>
            </a:r>
          </a:p>
        </p:txBody>
      </p:sp>
      <p:sp>
        <p:nvSpPr>
          <p:cNvPr id="8" name="Rounded Rectangle 7"/>
          <p:cNvSpPr/>
          <p:nvPr/>
        </p:nvSpPr>
        <p:spPr>
          <a:xfrm>
            <a:off x="6199632" y="1700000"/>
            <a:ext cx="5486400" cy="2280000"/>
          </a:xfrm>
          <a:prstGeom prst="roundRect">
            <a:avLst>
              <a:gd name="adj" fmla="val 8000"/>
            </a:avLst>
          </a:prstGeom>
          <a:solidFill>
            <a:srgbClr val="FDF4EC"/>
          </a:solidFill>
          <a:ln>
            <a:noFill/>
          </a:ln>
        </p:spPr>
        <p:txBody>
          <a:bodyPr rtlCol="0" anchor="ctr"/>
          <a:lstStyle/>
          <a:p>
            <a:pPr algn="ctr"/>
            <a:endParaRPr/>
          </a:p>
        </p:txBody>
      </p:sp>
      <p:sp>
        <p:nvSpPr>
          <p:cNvPr id="9" name="TextBox 8"/>
          <p:cNvSpPr txBox="1"/>
          <p:nvPr/>
        </p:nvSpPr>
        <p:spPr>
          <a:xfrm>
            <a:off x="6379632" y="1800000"/>
            <a:ext cx="5126400" cy="2080000"/>
          </a:xfrm>
          <a:prstGeom prst="rect">
            <a:avLst/>
          </a:prstGeom>
          <a:noFill/>
        </p:spPr>
        <p:txBody>
          <a:bodyPr wrap="square" lIns="0" tIns="0" rIns="0" bIns="0" anchor="t"/>
          <a:lstStyle/>
          <a:p>
            <a:pPr algn="l">
              <a:lnSpc>
                <a:spcPct val="105000"/>
              </a:lnSpc>
              <a:spcBef>
                <a:spcPts val="0"/>
              </a:spcBef>
              <a:spcAft>
                <a:spcPts val="1000"/>
              </a:spcAft>
            </a:pPr>
            <a:r>
              <a:rPr lang="fr-FR" sz="1600" b="1" i="0">
                <a:solidFill>
                  <a:srgbClr val="8C3E12"/>
                </a:solidFill>
                <a:latin typeface="Calibri"/>
              </a:rPr>
              <a:t>Division trop tôt</a:t>
            </a:r>
          </a:p>
          <a:p>
            <a:pPr algn="l">
              <a:lnSpc>
                <a:spcPct val="105000"/>
              </a:lnSpc>
              <a:spcBef>
                <a:spcPts val="0"/>
              </a:spcBef>
              <a:spcAft>
                <a:spcPts val="600"/>
              </a:spcAft>
            </a:pPr>
            <a:r>
              <a:rPr lang="fr-FR" sz="1600" b="0" i="0">
                <a:solidFill>
                  <a:srgbClr val="1C2830"/>
                </a:solidFill>
                <a:latin typeface="Consolas"/>
              </a:rPr>
              <a:t>i = 2 :  4 × (5 / 2)</a:t>
            </a:r>
          </a:p>
          <a:p>
            <a:pPr algn="l">
              <a:lnSpc>
                <a:spcPct val="105000"/>
              </a:lnSpc>
              <a:spcBef>
                <a:spcPts val="0"/>
              </a:spcBef>
              <a:spcAft>
                <a:spcPts val="800"/>
              </a:spcAft>
            </a:pPr>
            <a:r>
              <a:rPr lang="fr-FR" sz="1600" b="0" i="0">
                <a:solidFill>
                  <a:srgbClr val="1C2830"/>
                </a:solidFill>
                <a:latin typeface="Consolas"/>
              </a:rPr>
              <a:t>5 / 2 vaut 2 en entier</a:t>
            </a:r>
          </a:p>
          <a:p>
            <a:pPr algn="l">
              <a:lnSpc>
                <a:spcPct val="105000"/>
              </a:lnSpc>
              <a:spcBef>
                <a:spcPts val="0"/>
              </a:spcBef>
              <a:spcAft>
                <a:spcPts val="0"/>
              </a:spcAft>
            </a:pPr>
            <a:r>
              <a:rPr lang="fr-FR" sz="2000" b="1" i="0">
                <a:solidFill>
                  <a:srgbClr val="8C3E12"/>
                </a:solidFill>
                <a:latin typeface="Calibri"/>
              </a:rPr>
              <a:t>4 × 2 = 8. Faux.</a:t>
            </a:r>
          </a:p>
        </p:txBody>
      </p:sp>
      <p:sp>
        <p:nvSpPr>
          <p:cNvPr id="10" name="Rounded Rectangle 9"/>
          <p:cNvSpPr/>
          <p:nvPr/>
        </p:nvSpPr>
        <p:spPr>
          <a:xfrm>
            <a:off x="502920" y="4140000"/>
            <a:ext cx="5486400" cy="2100000"/>
          </a:xfrm>
          <a:prstGeom prst="roundRect">
            <a:avLst>
              <a:gd name="adj" fmla="val 8000"/>
            </a:avLst>
          </a:prstGeom>
          <a:solidFill>
            <a:srgbClr val="E7F4EC"/>
          </a:solidFill>
          <a:ln>
            <a:noFill/>
          </a:ln>
        </p:spPr>
        <p:txBody>
          <a:bodyPr rtlCol="0" anchor="ctr"/>
          <a:lstStyle/>
          <a:p>
            <a:pPr algn="ctr"/>
            <a:endParaRPr/>
          </a:p>
        </p:txBody>
      </p:sp>
      <p:sp>
        <p:nvSpPr>
          <p:cNvPr id="11" name="TextBox 10"/>
          <p:cNvSpPr txBox="1"/>
          <p:nvPr/>
        </p:nvSpPr>
        <p:spPr>
          <a:xfrm>
            <a:off x="682920" y="4260000"/>
            <a:ext cx="5126400" cy="1860000"/>
          </a:xfrm>
          <a:prstGeom prst="rect">
            <a:avLst/>
          </a:prstGeom>
          <a:noFill/>
        </p:spPr>
        <p:txBody>
          <a:bodyPr wrap="square" lIns="0" tIns="0" rIns="0" bIns="0" anchor="t"/>
          <a:lstStyle/>
          <a:p>
            <a:pPr algn="l">
              <a:lnSpc>
                <a:spcPct val="105000"/>
              </a:lnSpc>
              <a:spcBef>
                <a:spcPts val="0"/>
              </a:spcBef>
              <a:spcAft>
                <a:spcPts val="1000"/>
              </a:spcAft>
            </a:pPr>
            <a:r>
              <a:rPr lang="fr-FR" sz="1500" b="1" i="0">
                <a:solidFill>
                  <a:srgbClr val="1B5E34"/>
                </a:solidFill>
                <a:latin typeface="Calibri"/>
              </a:rPr>
              <a:t>Comme dans coeff.c</a:t>
            </a:r>
          </a:p>
          <a:p>
            <a:pPr algn="l">
              <a:lnSpc>
                <a:spcPct val="105000"/>
              </a:lnSpc>
              <a:spcBef>
                <a:spcPts val="0"/>
              </a:spcBef>
              <a:spcAft>
                <a:spcPts val="200"/>
              </a:spcAft>
            </a:pPr>
            <a:r>
              <a:rPr lang="fr-FR" sz="1800" b="0" i="0">
                <a:solidFill>
                  <a:srgbClr val="0C384C"/>
                </a:solidFill>
                <a:latin typeface="Consolas"/>
              </a:rPr>
              <a:t>coeff *= (n - m + i);</a:t>
            </a:r>
          </a:p>
          <a:p>
            <a:pPr algn="l">
              <a:lnSpc>
                <a:spcPct val="105000"/>
              </a:lnSpc>
              <a:spcBef>
                <a:spcPts val="0"/>
              </a:spcBef>
              <a:spcAft>
                <a:spcPts val="800"/>
              </a:spcAft>
            </a:pPr>
            <a:r>
              <a:rPr lang="fr-FR" sz="1800" b="0" i="0">
                <a:solidFill>
                  <a:srgbClr val="0C384C"/>
                </a:solidFill>
                <a:latin typeface="Consolas"/>
              </a:rPr>
              <a:t>coeff /= i;</a:t>
            </a:r>
          </a:p>
          <a:p>
            <a:pPr algn="l">
              <a:lnSpc>
                <a:spcPct val="105000"/>
              </a:lnSpc>
              <a:spcBef>
                <a:spcPts val="0"/>
              </a:spcBef>
              <a:spcAft>
                <a:spcPts val="0"/>
              </a:spcAft>
            </a:pPr>
            <a:r>
              <a:rPr lang="fr-FR" sz="1400" b="0" i="0">
                <a:solidFill>
                  <a:srgbClr val="1C2830"/>
                </a:solidFill>
                <a:latin typeface="Calibri"/>
              </a:rPr>
              <a:t>Si m vaut 0, la boucle ne tourne pas et coeff reste 1.</a:t>
            </a:r>
          </a:p>
        </p:txBody>
      </p:sp>
      <p:sp>
        <p:nvSpPr>
          <p:cNvPr id="12" name="Rounded Rectangle 11"/>
          <p:cNvSpPr/>
          <p:nvPr/>
        </p:nvSpPr>
        <p:spPr>
          <a:xfrm>
            <a:off x="6199632" y="4140000"/>
            <a:ext cx="5486400" cy="2100000"/>
          </a:xfrm>
          <a:prstGeom prst="roundRect">
            <a:avLst>
              <a:gd name="adj" fmla="val 8000"/>
            </a:avLst>
          </a:prstGeom>
          <a:solidFill>
            <a:srgbClr val="FDF4EC"/>
          </a:solidFill>
          <a:ln>
            <a:noFill/>
          </a:ln>
        </p:spPr>
        <p:txBody>
          <a:bodyPr rtlCol="0" anchor="ctr"/>
          <a:lstStyle/>
          <a:p>
            <a:pPr algn="ctr"/>
            <a:endParaRPr/>
          </a:p>
        </p:txBody>
      </p:sp>
      <p:sp>
        <p:nvSpPr>
          <p:cNvPr id="13" name="TextBox 12"/>
          <p:cNvSpPr txBox="1"/>
          <p:nvPr/>
        </p:nvSpPr>
        <p:spPr>
          <a:xfrm>
            <a:off x="6379632" y="4260000"/>
            <a:ext cx="5126400" cy="1860000"/>
          </a:xfrm>
          <a:prstGeom prst="rect">
            <a:avLst/>
          </a:prstGeom>
          <a:noFill/>
        </p:spPr>
        <p:txBody>
          <a:bodyPr wrap="square" lIns="0" tIns="0" rIns="0" bIns="0" anchor="t"/>
          <a:lstStyle/>
          <a:p>
            <a:pPr algn="l">
              <a:lnSpc>
                <a:spcPct val="105000"/>
              </a:lnSpc>
              <a:spcBef>
                <a:spcPts val="0"/>
              </a:spcBef>
              <a:spcAft>
                <a:spcPts val="1000"/>
              </a:spcAft>
            </a:pPr>
            <a:r>
              <a:rPr lang="fr-FR" sz="1500" b="1" i="0">
                <a:solidFill>
                  <a:srgbClr val="8C3E12"/>
                </a:solidFill>
                <a:latin typeface="Calibri"/>
              </a:rPr>
              <a:t>À ne pas écrire</a:t>
            </a:r>
          </a:p>
          <a:p>
            <a:pPr algn="l">
              <a:lnSpc>
                <a:spcPct val="105000"/>
              </a:lnSpc>
              <a:spcBef>
                <a:spcPts val="0"/>
              </a:spcBef>
              <a:spcAft>
                <a:spcPts val="800"/>
              </a:spcAft>
            </a:pPr>
            <a:r>
              <a:rPr lang="fr-FR" sz="1600" b="0" i="0">
                <a:solidFill>
                  <a:srgbClr val="8C3E12"/>
                </a:solidFill>
                <a:latin typeface="Consolas"/>
              </a:rPr>
              <a:t>coeff *= (n - m + i) / i;</a:t>
            </a:r>
          </a:p>
          <a:p>
            <a:pPr algn="l">
              <a:lnSpc>
                <a:spcPct val="105000"/>
              </a:lnSpc>
              <a:spcBef>
                <a:spcPts val="0"/>
              </a:spcBef>
              <a:spcAft>
                <a:spcPts val="0"/>
              </a:spcAft>
            </a:pPr>
            <a:r>
              <a:rPr lang="fr-FR" sz="1500" b="0" i="0">
                <a:solidFill>
                  <a:srgbClr val="1C2830"/>
                </a:solidFill>
                <a:latin typeface="Calibri"/>
              </a:rPr>
              <a:t>La division entière a lieu avant la multiplication.</a:t>
            </a:r>
          </a:p>
        </p:txBody>
      </p:sp>
      <p:sp>
        <p:nvSpPr>
          <p:cNvPr id="14" name="TextBox 13"/>
          <p:cNvSpPr txBox="1"/>
          <p:nvPr/>
        </p:nvSpPr>
        <p:spPr>
          <a:xfrm>
            <a:off x="10058400" y="6480000"/>
            <a:ext cx="1828800" cy="274320"/>
          </a:xfrm>
          <a:prstGeom prst="rect">
            <a:avLst/>
          </a:prstGeom>
          <a:noFill/>
        </p:spPr>
        <p:txBody>
          <a:bodyPr wrap="square" lIns="0" tIns="0" rIns="0" bIns="0" anchor="ctr"/>
          <a:lstStyle/>
          <a:p>
            <a:pPr algn="r">
              <a:lnSpc>
                <a:spcPct val="100000"/>
              </a:lnSpc>
              <a:spcBef>
                <a:spcPts val="0"/>
              </a:spcBef>
              <a:spcAft>
                <a:spcPts val="0"/>
              </a:spcAft>
            </a:pPr>
            <a:r>
              <a:rPr lang="fr-FR" sz="1200" b="0" i="0">
                <a:solidFill>
                  <a:srgbClr val="4E6470"/>
                </a:solidFill>
                <a:latin typeface="Calibri"/>
              </a:rPr>
              <a:t>25  /  27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lIns="0" tIns="0" rIns="0" bIns="0" anchor="ctr"/>
          <a:lstStyle/>
          <a:p>
            <a:pPr algn="l">
              <a:lnSpc>
                <a:spcPct val="100000"/>
              </a:lnSpc>
              <a:spcBef>
                <a:spcPts val="0"/>
              </a:spcBef>
              <a:spcAft>
                <a:spcPts val="0"/>
              </a:spcAft>
            </a:pPr>
            <a:r>
              <a:rPr lang="fr-FR" sz="3200" b="0" i="0">
                <a:solidFill>
                  <a:srgbClr val="FFFFFF"/>
                </a:solidFill>
                <a:latin typeface="Calibri"/>
              </a:rPr>
              <a:t>Réponse  —  coeff.c</a:t>
            </a:r>
          </a:p>
        </p:txBody>
      </p:sp>
      <p:sp>
        <p:nvSpPr>
          <p:cNvPr id="5" name="Rounded Rectangle 4"/>
          <p:cNvSpPr/>
          <p:nvPr/>
        </p:nvSpPr>
        <p:spPr>
          <a:xfrm>
            <a:off x="502920" y="1200000"/>
            <a:ext cx="11183112" cy="5200000"/>
          </a:xfrm>
          <a:prstGeom prst="roundRect">
            <a:avLst>
              <a:gd name="adj" fmla="val 8000"/>
            </a:avLst>
          </a:prstGeom>
          <a:solidFill>
            <a:srgbClr val="F4F8F9"/>
          </a:solidFill>
          <a:ln w="12700">
            <a:solidFill>
              <a:srgbClr val="D5E2E8"/>
            </a:solidFill>
          </a:ln>
        </p:spPr>
        <p:txBody>
          <a:bodyPr rtlCol="0" anchor="ctr"/>
          <a:lstStyle/>
          <a:p>
            <a:pPr algn="ctr"/>
            <a:endParaRPr/>
          </a:p>
        </p:txBody>
      </p:sp>
      <p:sp>
        <p:nvSpPr>
          <p:cNvPr id="6" name="TextBox 5"/>
          <p:cNvSpPr txBox="1"/>
          <p:nvPr/>
        </p:nvSpPr>
        <p:spPr>
          <a:xfrm>
            <a:off x="662920" y="1320000"/>
            <a:ext cx="10561320" cy="5000000"/>
          </a:xfrm>
          <a:prstGeom prst="rect">
            <a:avLst/>
          </a:prstGeom>
          <a:noFill/>
        </p:spPr>
        <p:txBody>
          <a:bodyPr wrap="square" lIns="0" tIns="0" rIns="0" bIns="0" anchor="t"/>
          <a:lstStyle/>
          <a:p>
            <a:pPr algn="l">
              <a:lnSpc>
                <a:spcPts val="1350"/>
              </a:lnSpc>
              <a:spcBef>
                <a:spcPts val="0"/>
              </a:spcBef>
              <a:spcAft>
                <a:spcPts val="0"/>
              </a:spcAft>
            </a:pPr>
            <a:r>
              <a:rPr lang="fr-FR" sz="1200" b="0" i="0">
                <a:solidFill>
                  <a:srgbClr val="0C384C"/>
                </a:solidFill>
                <a:latin typeface="Consolas"/>
              </a:rPr>
              <a:t>#include &lt;stdio.h&gt;</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//Içi écrite par récurrence</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int main(){</a:t>
            </a:r>
          </a:p>
          <a:p>
            <a:pPr algn="l">
              <a:lnSpc>
                <a:spcPts val="1350"/>
              </a:lnSpc>
              <a:spcBef>
                <a:spcPts val="0"/>
              </a:spcBef>
              <a:spcAft>
                <a:spcPts val="0"/>
              </a:spcAft>
            </a:pPr>
            <a:r>
              <a:rPr lang="fr-FR" sz="1200" b="0" i="0">
                <a:solidFill>
                  <a:srgbClr val="0C384C"/>
                </a:solidFill>
                <a:latin typeface="Consolas"/>
              </a:rPr>
              <a:t>    unsigned int n, m;</a:t>
            </a:r>
          </a:p>
          <a:p>
            <a:pPr algn="l">
              <a:lnSpc>
                <a:spcPts val="1350"/>
              </a:lnSpc>
              <a:spcBef>
                <a:spcPts val="0"/>
              </a:spcBef>
              <a:spcAft>
                <a:spcPts val="0"/>
              </a:spcAft>
            </a:pPr>
            <a:r>
              <a:rPr lang="fr-FR" sz="1200" b="0" i="0">
                <a:solidFill>
                  <a:srgbClr val="0C384C"/>
                </a:solidFill>
                <a:latin typeface="Consolas"/>
              </a:rPr>
              <a:t>    unsigned long long coeff = 1;</a:t>
            </a:r>
          </a:p>
          <a:p>
            <a:pPr algn="l">
              <a:lnSpc>
                <a:spcPts val="1350"/>
              </a:lnSpc>
              <a:spcBef>
                <a:spcPts val="0"/>
              </a:spcBef>
              <a:spcAft>
                <a:spcPts val="0"/>
              </a:spcAft>
            </a:pPr>
            <a:r>
              <a:rPr lang="fr-FR" sz="1200" b="0" i="0">
                <a:solidFill>
                  <a:srgbClr val="0C384C"/>
                </a:solidFill>
                <a:latin typeface="Consolas"/>
              </a:rPr>
              <a:t>    printf("Entrez des valeurs de n et m pour calculer leur coefficient binomial\n");</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    scanf("%u %u", &amp;n, &amp;m);</a:t>
            </a:r>
          </a:p>
          <a:p>
            <a:pPr algn="l">
              <a:lnSpc>
                <a:spcPts val="1350"/>
              </a:lnSpc>
              <a:spcBef>
                <a:spcPts val="0"/>
              </a:spcBef>
              <a:spcAft>
                <a:spcPts val="0"/>
              </a:spcAft>
            </a:pPr>
            <a:r>
              <a:rPr lang="fr-FR" sz="1200" b="0" i="0">
                <a:solidFill>
                  <a:srgbClr val="0C384C"/>
                </a:solidFill>
                <a:latin typeface="Consolas"/>
              </a:rPr>
              <a:t>    if(m&lt;n-m){</a:t>
            </a:r>
          </a:p>
          <a:p>
            <a:pPr algn="l">
              <a:lnSpc>
                <a:spcPts val="1350"/>
              </a:lnSpc>
              <a:spcBef>
                <a:spcPts val="0"/>
              </a:spcBef>
              <a:spcAft>
                <a:spcPts val="0"/>
              </a:spcAft>
            </a:pPr>
            <a:r>
              <a:rPr lang="fr-FR" sz="1200" b="0" i="0">
                <a:solidFill>
                  <a:srgbClr val="0C384C"/>
                </a:solidFill>
                <a:latin typeface="Consolas"/>
              </a:rPr>
              <a:t>        for (unsigned int i=1;i&lt;=m;i++){</a:t>
            </a:r>
          </a:p>
          <a:p>
            <a:pPr algn="l">
              <a:lnSpc>
                <a:spcPts val="1350"/>
              </a:lnSpc>
              <a:spcBef>
                <a:spcPts val="0"/>
              </a:spcBef>
              <a:spcAft>
                <a:spcPts val="0"/>
              </a:spcAft>
            </a:pPr>
            <a:r>
              <a:rPr lang="fr-FR" sz="1200" b="0" i="0">
                <a:solidFill>
                  <a:srgbClr val="0C384C"/>
                </a:solidFill>
                <a:latin typeface="Consolas"/>
              </a:rPr>
              <a:t>            coeff*=(n-m+i);</a:t>
            </a:r>
          </a:p>
          <a:p>
            <a:pPr algn="l">
              <a:lnSpc>
                <a:spcPts val="1350"/>
              </a:lnSpc>
              <a:spcBef>
                <a:spcPts val="0"/>
              </a:spcBef>
              <a:spcAft>
                <a:spcPts val="0"/>
              </a:spcAft>
            </a:pPr>
            <a:r>
              <a:rPr lang="fr-FR" sz="1200" b="0" i="0">
                <a:solidFill>
                  <a:srgbClr val="0C384C"/>
                </a:solidFill>
                <a:latin typeface="Consolas"/>
              </a:rPr>
              <a:t>            coeff/=i;</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    }else{</a:t>
            </a:r>
          </a:p>
          <a:p>
            <a:pPr algn="l">
              <a:lnSpc>
                <a:spcPts val="1350"/>
              </a:lnSpc>
              <a:spcBef>
                <a:spcPts val="0"/>
              </a:spcBef>
              <a:spcAft>
                <a:spcPts val="0"/>
              </a:spcAft>
            </a:pPr>
            <a:r>
              <a:rPr lang="fr-FR" sz="1200" b="0" i="0">
                <a:solidFill>
                  <a:srgbClr val="0C384C"/>
                </a:solidFill>
                <a:latin typeface="Consolas"/>
              </a:rPr>
              <a:t>        m=n-m;</a:t>
            </a:r>
          </a:p>
          <a:p>
            <a:pPr algn="l">
              <a:lnSpc>
                <a:spcPts val="1350"/>
              </a:lnSpc>
              <a:spcBef>
                <a:spcPts val="0"/>
              </a:spcBef>
              <a:spcAft>
                <a:spcPts val="0"/>
              </a:spcAft>
            </a:pPr>
            <a:r>
              <a:rPr lang="fr-FR" sz="1200" b="0" i="0">
                <a:solidFill>
                  <a:srgbClr val="0C384C"/>
                </a:solidFill>
                <a:latin typeface="Consolas"/>
              </a:rPr>
              <a:t>        for (unsigned int i=1;i&lt;=m;i++){</a:t>
            </a:r>
          </a:p>
          <a:p>
            <a:pPr algn="l">
              <a:lnSpc>
                <a:spcPts val="1350"/>
              </a:lnSpc>
              <a:spcBef>
                <a:spcPts val="0"/>
              </a:spcBef>
              <a:spcAft>
                <a:spcPts val="0"/>
              </a:spcAft>
            </a:pPr>
            <a:r>
              <a:rPr lang="fr-FR" sz="1200" b="0" i="0">
                <a:solidFill>
                  <a:srgbClr val="0C384C"/>
                </a:solidFill>
                <a:latin typeface="Consolas"/>
              </a:rPr>
              <a:t>            coeff*=(n-m+i);</a:t>
            </a:r>
          </a:p>
          <a:p>
            <a:pPr algn="l">
              <a:lnSpc>
                <a:spcPts val="1350"/>
              </a:lnSpc>
              <a:spcBef>
                <a:spcPts val="0"/>
              </a:spcBef>
              <a:spcAft>
                <a:spcPts val="0"/>
              </a:spcAft>
            </a:pPr>
            <a:r>
              <a:rPr lang="fr-FR" sz="1200" b="0" i="0">
                <a:solidFill>
                  <a:srgbClr val="0C384C"/>
                </a:solidFill>
                <a:latin typeface="Consolas"/>
              </a:rPr>
              <a:t>            coeff/=i;</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 </a:t>
            </a:r>
          </a:p>
          <a:p>
            <a:pPr algn="l">
              <a:lnSpc>
                <a:spcPts val="1350"/>
              </a:lnSpc>
              <a:spcBef>
                <a:spcPts val="0"/>
              </a:spcBef>
              <a:spcAft>
                <a:spcPts val="0"/>
              </a:spcAft>
            </a:pPr>
            <a:r>
              <a:rPr lang="fr-FR" sz="1200" b="0" i="0">
                <a:solidFill>
                  <a:srgbClr val="0C384C"/>
                </a:solidFill>
                <a:latin typeface="Consolas"/>
              </a:rPr>
              <a:t>    printf("C(%u, %u) = %llu\n", n, m, coeff);</a:t>
            </a:r>
          </a:p>
          <a:p>
            <a:pPr algn="l">
              <a:lnSpc>
                <a:spcPts val="1350"/>
              </a:lnSpc>
              <a:spcBef>
                <a:spcPts val="0"/>
              </a:spcBef>
              <a:spcAft>
                <a:spcPts val="0"/>
              </a:spcAft>
            </a:pPr>
            <a:r>
              <a:rPr lang="fr-FR" sz="1200" b="0" i="0">
                <a:solidFill>
                  <a:srgbClr val="0C384C"/>
                </a:solidFill>
                <a:latin typeface="Consolas"/>
              </a:rPr>
              <a:t>    return 0;</a:t>
            </a:r>
          </a:p>
          <a:p>
            <a:pPr algn="l">
              <a:lnSpc>
                <a:spcPts val="1350"/>
              </a:lnSpc>
              <a:spcBef>
                <a:spcPts val="0"/>
              </a:spcBef>
              <a:spcAft>
                <a:spcPts val="0"/>
              </a:spcAft>
            </a:pPr>
            <a:r>
              <a:rPr lang="fr-FR" sz="1200" b="0" i="0">
                <a:solidFill>
                  <a:srgbClr val="0C384C"/>
                </a:solidFill>
                <a:latin typeface="Consolas"/>
              </a:rPr>
              <a:t>}</a:t>
            </a:r>
          </a:p>
        </p:txBody>
      </p:sp>
      <p:sp>
        <p:nvSpPr>
          <p:cNvPr id="7" name="TextBox 6"/>
          <p:cNvSpPr txBox="1"/>
          <p:nvPr/>
        </p:nvSpPr>
        <p:spPr>
          <a:xfrm>
            <a:off x="10058400" y="6480000"/>
            <a:ext cx="1828800" cy="274320"/>
          </a:xfrm>
          <a:prstGeom prst="rect">
            <a:avLst/>
          </a:prstGeom>
          <a:noFill/>
        </p:spPr>
        <p:txBody>
          <a:bodyPr wrap="square" lIns="0" tIns="0" rIns="0" bIns="0" anchor="ctr"/>
          <a:lstStyle/>
          <a:p>
            <a:pPr algn="r">
              <a:lnSpc>
                <a:spcPct val="100000"/>
              </a:lnSpc>
              <a:spcBef>
                <a:spcPts val="0"/>
              </a:spcBef>
              <a:spcAft>
                <a:spcPts val="0"/>
              </a:spcAft>
            </a:pPr>
            <a:r>
              <a:rPr lang="fr-FR" sz="1200" b="0" i="0">
                <a:solidFill>
                  <a:srgbClr val="4E6470"/>
                </a:solidFill>
                <a:latin typeface="Calibri"/>
              </a:rPr>
              <a:t>26  /  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1078992"/>
          </a:xfrm>
          <a:prstGeom prst="rect">
            <a:avLst/>
          </a:prstGeom>
          <a:solidFill>
            <a:srgbClr val="0C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78992"/>
            <a:ext cx="12191999" cy="41148"/>
          </a:xfrm>
          <a:prstGeom prst="rect">
            <a:avLst/>
          </a:prstGeom>
          <a:solidFill>
            <a:srgbClr val="07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56032"/>
            <a:ext cx="11155680" cy="658368"/>
          </a:xfrm>
          <a:prstGeom prst="rect">
            <a:avLst/>
          </a:prstGeom>
          <a:noFill/>
        </p:spPr>
        <p:txBody>
          <a:bodyPr wrap="square"/>
          <a:lstStyle/>
          <a:p>
            <a:pPr algn="l">
              <a:lnSpc>
                <a:spcPct val="105000"/>
              </a:lnSpc>
              <a:spcBef>
                <a:spcPts val="0"/>
              </a:spcBef>
              <a:spcAft>
                <a:spcPts val="600"/>
              </a:spcAft>
            </a:pPr>
            <a:r>
              <a:rPr lang="fr-FR" sz="3200" b="0" i="0">
                <a:solidFill>
                  <a:srgbClr val="FFFFFF"/>
                </a:solidFill>
                <a:latin typeface="Calibri"/>
              </a:rPr>
              <a:t>Aide-mémoire</a:t>
            </a:r>
          </a:p>
        </p:txBody>
      </p:sp>
      <p:sp>
        <p:nvSpPr>
          <p:cNvPr id="5" name="Rounded Rectangle 4"/>
          <p:cNvSpPr/>
          <p:nvPr/>
        </p:nvSpPr>
        <p:spPr>
          <a:xfrm>
            <a:off x="502920" y="1417320"/>
            <a:ext cx="11183112" cy="1691640"/>
          </a:xfrm>
          <a:prstGeom prst="roundRect">
            <a:avLst>
              <a:gd name="adj" fmla="val 8000"/>
            </a:avLst>
          </a:prstGeom>
          <a:solidFill>
            <a:srgbClr val="E6F0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04088" y="1490472"/>
            <a:ext cx="10817352" cy="1581912"/>
          </a:xfrm>
          <a:prstGeom prst="rect">
            <a:avLst/>
          </a:prstGeom>
          <a:noFill/>
        </p:spPr>
        <p:txBody>
          <a:bodyPr wrap="square"/>
          <a:lstStyle/>
          <a:p>
            <a:pPr algn="l">
              <a:lnSpc>
                <a:spcPct val="105000"/>
              </a:lnSpc>
              <a:spcBef>
                <a:spcPts val="0"/>
              </a:spcBef>
              <a:spcAft>
                <a:spcPts val="200"/>
              </a:spcAft>
            </a:pPr>
            <a:r>
              <a:rPr lang="fr-FR" sz="2400" b="0" i="0" dirty="0">
                <a:solidFill>
                  <a:srgbClr val="0C384C"/>
                </a:solidFill>
                <a:latin typeface="Consolas"/>
              </a:rPr>
              <a:t>cd /c/</a:t>
            </a:r>
            <a:r>
              <a:rPr lang="fr-FR" sz="2400" b="0" i="0" dirty="0" err="1">
                <a:solidFill>
                  <a:srgbClr val="0C384C"/>
                </a:solidFill>
                <a:latin typeface="Consolas"/>
              </a:rPr>
              <a:t>Users</a:t>
            </a:r>
            <a:r>
              <a:rPr lang="fr-FR" sz="2400" b="0" i="0" dirty="0">
                <a:solidFill>
                  <a:srgbClr val="0C384C"/>
                </a:solidFill>
                <a:latin typeface="Consolas"/>
              </a:rPr>
              <a:t>/Arthur/Desktop/TP3</a:t>
            </a:r>
          </a:p>
          <a:p>
            <a:pPr algn="l">
              <a:lnSpc>
                <a:spcPct val="105000"/>
              </a:lnSpc>
              <a:spcBef>
                <a:spcPts val="0"/>
              </a:spcBef>
              <a:spcAft>
                <a:spcPts val="200"/>
              </a:spcAft>
            </a:pPr>
            <a:r>
              <a:rPr lang="fr-FR" sz="2400" b="0" i="0" dirty="0" err="1">
                <a:solidFill>
                  <a:srgbClr val="0C384C"/>
                </a:solidFill>
                <a:latin typeface="Consolas"/>
              </a:rPr>
              <a:t>gcc</a:t>
            </a:r>
            <a:r>
              <a:rPr lang="fr-FR" sz="2400" b="0" i="0" dirty="0">
                <a:solidFill>
                  <a:srgbClr val="0C384C"/>
                </a:solidFill>
                <a:latin typeface="Consolas"/>
              </a:rPr>
              <a:t> -Wall -</a:t>
            </a:r>
            <a:r>
              <a:rPr lang="fr-FR" sz="2400" b="0" i="0" dirty="0" err="1">
                <a:solidFill>
                  <a:srgbClr val="0C384C"/>
                </a:solidFill>
                <a:latin typeface="Consolas"/>
              </a:rPr>
              <a:t>Wextra</a:t>
            </a:r>
            <a:r>
              <a:rPr lang="fr-FR" sz="2400" b="0" i="0" dirty="0">
                <a:solidFill>
                  <a:srgbClr val="0C384C"/>
                </a:solidFill>
                <a:latin typeface="Consolas"/>
              </a:rPr>
              <a:t> </a:t>
            </a:r>
            <a:r>
              <a:rPr lang="fr-FR" sz="2400" b="0" i="0" dirty="0" err="1">
                <a:solidFill>
                  <a:srgbClr val="0C384C"/>
                </a:solidFill>
                <a:latin typeface="Consolas"/>
              </a:rPr>
              <a:t>fichier.c</a:t>
            </a:r>
            <a:r>
              <a:rPr lang="fr-FR" sz="2400" b="0" i="0" dirty="0">
                <a:solidFill>
                  <a:srgbClr val="0C384C"/>
                </a:solidFill>
                <a:latin typeface="Consolas"/>
              </a:rPr>
              <a:t> -o fichier</a:t>
            </a:r>
          </a:p>
          <a:p>
            <a:pPr algn="l">
              <a:lnSpc>
                <a:spcPct val="105000"/>
              </a:lnSpc>
              <a:spcBef>
                <a:spcPts val="0"/>
              </a:spcBef>
              <a:spcAft>
                <a:spcPts val="200"/>
              </a:spcAft>
            </a:pPr>
            <a:r>
              <a:rPr lang="fr-FR" sz="2400" b="0" i="0" dirty="0">
                <a:solidFill>
                  <a:srgbClr val="0C384C"/>
                </a:solidFill>
                <a:latin typeface="Consolas"/>
              </a:rPr>
              <a:t>./fichier</a:t>
            </a:r>
          </a:p>
        </p:txBody>
      </p:sp>
      <p:sp>
        <p:nvSpPr>
          <p:cNvPr id="7" name="Rounded Rectangle 6"/>
          <p:cNvSpPr/>
          <p:nvPr/>
        </p:nvSpPr>
        <p:spPr>
          <a:xfrm>
            <a:off x="502920" y="3383280"/>
            <a:ext cx="2743200" cy="132588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3520440"/>
            <a:ext cx="2523744" cy="1078992"/>
          </a:xfrm>
          <a:prstGeom prst="rect">
            <a:avLst/>
          </a:prstGeom>
          <a:noFill/>
        </p:spPr>
        <p:txBody>
          <a:bodyPr wrap="square"/>
          <a:lstStyle/>
          <a:p>
            <a:pPr algn="ctr">
              <a:lnSpc>
                <a:spcPct val="105000"/>
              </a:lnSpc>
              <a:spcBef>
                <a:spcPts val="0"/>
              </a:spcBef>
              <a:spcAft>
                <a:spcPts val="400"/>
              </a:spcAft>
            </a:pPr>
            <a:r>
              <a:rPr lang="fr-FR" sz="1600" b="1" i="0">
                <a:solidFill>
                  <a:srgbClr val="0C384C"/>
                </a:solidFill>
                <a:latin typeface="Calibri"/>
              </a:rPr>
              <a:t>Terminal</a:t>
            </a:r>
          </a:p>
          <a:p>
            <a:pPr algn="ctr">
              <a:lnSpc>
                <a:spcPct val="105000"/>
              </a:lnSpc>
              <a:spcBef>
                <a:spcPts val="200"/>
              </a:spcBef>
              <a:spcAft>
                <a:spcPts val="0"/>
              </a:spcAft>
            </a:pPr>
            <a:r>
              <a:rPr lang="fr-FR" sz="1500" b="0" i="0">
                <a:solidFill>
                  <a:srgbClr val="1C2830"/>
                </a:solidFill>
                <a:latin typeface="Calibri"/>
              </a:rPr>
              <a:t>MSYS2 UCRT64, pas cmd</a:t>
            </a:r>
          </a:p>
        </p:txBody>
      </p:sp>
      <p:sp>
        <p:nvSpPr>
          <p:cNvPr id="9" name="Rounded Rectangle 8"/>
          <p:cNvSpPr/>
          <p:nvPr/>
        </p:nvSpPr>
        <p:spPr>
          <a:xfrm>
            <a:off x="3383280" y="3383280"/>
            <a:ext cx="2743200" cy="132588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93008" y="3520440"/>
            <a:ext cx="2523744" cy="1078992"/>
          </a:xfrm>
          <a:prstGeom prst="rect">
            <a:avLst/>
          </a:prstGeom>
          <a:noFill/>
        </p:spPr>
        <p:txBody>
          <a:bodyPr wrap="square"/>
          <a:lstStyle/>
          <a:p>
            <a:pPr algn="ctr">
              <a:lnSpc>
                <a:spcPct val="105000"/>
              </a:lnSpc>
              <a:spcBef>
                <a:spcPts val="0"/>
              </a:spcBef>
              <a:spcAft>
                <a:spcPts val="400"/>
              </a:spcAft>
            </a:pPr>
            <a:r>
              <a:rPr lang="fr-FR" sz="1600" b="1" i="0">
                <a:solidFill>
                  <a:srgbClr val="0C384C"/>
                </a:solidFill>
                <a:latin typeface="Calibri"/>
              </a:rPr>
              <a:t>Chemin</a:t>
            </a:r>
          </a:p>
          <a:p>
            <a:pPr algn="ctr">
              <a:lnSpc>
                <a:spcPct val="105000"/>
              </a:lnSpc>
              <a:spcBef>
                <a:spcPts val="200"/>
              </a:spcBef>
              <a:spcAft>
                <a:spcPts val="0"/>
              </a:spcAft>
            </a:pPr>
            <a:r>
              <a:rPr lang="fr-FR" sz="1500" b="0" i="0">
                <a:solidFill>
                  <a:srgbClr val="1C2830"/>
                </a:solidFill>
                <a:latin typeface="Calibri"/>
              </a:rPr>
              <a:t>\  devient  /</a:t>
            </a:r>
          </a:p>
          <a:p>
            <a:pPr algn="ctr">
              <a:lnSpc>
                <a:spcPct val="105000"/>
              </a:lnSpc>
              <a:spcBef>
                <a:spcPts val="200"/>
              </a:spcBef>
              <a:spcAft>
                <a:spcPts val="0"/>
              </a:spcAft>
            </a:pPr>
            <a:r>
              <a:rPr lang="fr-FR" sz="1500" b="0" i="0">
                <a:solidFill>
                  <a:srgbClr val="1C2830"/>
                </a:solidFill>
                <a:latin typeface="Calibri"/>
              </a:rPr>
              <a:t>C:  devient  /c</a:t>
            </a:r>
          </a:p>
        </p:txBody>
      </p:sp>
      <p:sp>
        <p:nvSpPr>
          <p:cNvPr id="11" name="Rounded Rectangle 10"/>
          <p:cNvSpPr/>
          <p:nvPr/>
        </p:nvSpPr>
        <p:spPr>
          <a:xfrm>
            <a:off x="6263640" y="3383280"/>
            <a:ext cx="2743200" cy="132588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73368" y="3520440"/>
            <a:ext cx="2523744" cy="1078992"/>
          </a:xfrm>
          <a:prstGeom prst="rect">
            <a:avLst/>
          </a:prstGeom>
          <a:noFill/>
        </p:spPr>
        <p:txBody>
          <a:bodyPr wrap="square"/>
          <a:lstStyle/>
          <a:p>
            <a:pPr algn="ctr">
              <a:lnSpc>
                <a:spcPct val="105000"/>
              </a:lnSpc>
              <a:spcBef>
                <a:spcPts val="0"/>
              </a:spcBef>
              <a:spcAft>
                <a:spcPts val="400"/>
              </a:spcAft>
            </a:pPr>
            <a:r>
              <a:rPr lang="fr-FR" sz="1600" b="1" i="0">
                <a:solidFill>
                  <a:srgbClr val="0C384C"/>
                </a:solidFill>
                <a:latin typeface="Calibri"/>
              </a:rPr>
              <a:t>Options</a:t>
            </a:r>
          </a:p>
          <a:p>
            <a:pPr algn="ctr">
              <a:lnSpc>
                <a:spcPct val="105000"/>
              </a:lnSpc>
              <a:spcBef>
                <a:spcPts val="200"/>
              </a:spcBef>
              <a:spcAft>
                <a:spcPts val="0"/>
              </a:spcAft>
            </a:pPr>
            <a:r>
              <a:rPr lang="fr-FR" sz="1500" b="0" i="0">
                <a:solidFill>
                  <a:srgbClr val="1C2830"/>
                </a:solidFill>
                <a:latin typeface="Calibri"/>
              </a:rPr>
              <a:t>-Wall -Wextra à chaque fois</a:t>
            </a:r>
          </a:p>
        </p:txBody>
      </p:sp>
      <p:sp>
        <p:nvSpPr>
          <p:cNvPr id="13" name="Rounded Rectangle 12"/>
          <p:cNvSpPr/>
          <p:nvPr/>
        </p:nvSpPr>
        <p:spPr>
          <a:xfrm>
            <a:off x="9144000" y="3383280"/>
            <a:ext cx="2743200" cy="1325880"/>
          </a:xfrm>
          <a:prstGeom prst="roundRect">
            <a:avLst>
              <a:gd name="adj" fmla="val 8000"/>
            </a:avLst>
          </a:prstGeom>
          <a:solidFill>
            <a:srgbClr val="F4F8F9"/>
          </a:solidFill>
          <a:ln w="12700">
            <a:solidFill>
              <a:srgbClr val="D5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53728" y="3520440"/>
            <a:ext cx="2523744" cy="1078992"/>
          </a:xfrm>
          <a:prstGeom prst="rect">
            <a:avLst/>
          </a:prstGeom>
          <a:noFill/>
        </p:spPr>
        <p:txBody>
          <a:bodyPr wrap="square"/>
          <a:lstStyle/>
          <a:p>
            <a:pPr algn="ctr">
              <a:lnSpc>
                <a:spcPct val="105000"/>
              </a:lnSpc>
              <a:spcBef>
                <a:spcPts val="0"/>
              </a:spcBef>
              <a:spcAft>
                <a:spcPts val="400"/>
              </a:spcAft>
            </a:pPr>
            <a:r>
              <a:rPr lang="fr-FR" sz="1600" b="1" i="0">
                <a:solidFill>
                  <a:srgbClr val="0C384C"/>
                </a:solidFill>
                <a:latin typeface="Calibri"/>
              </a:rPr>
              <a:t>Relancer</a:t>
            </a:r>
          </a:p>
          <a:p>
            <a:pPr algn="ctr">
              <a:lnSpc>
                <a:spcPct val="105000"/>
              </a:lnSpc>
              <a:spcBef>
                <a:spcPts val="200"/>
              </a:spcBef>
              <a:spcAft>
                <a:spcPts val="0"/>
              </a:spcAft>
            </a:pPr>
            <a:r>
              <a:rPr lang="fr-FR" sz="1500" b="0" i="0">
                <a:solidFill>
                  <a:srgbClr val="1C2830"/>
                </a:solidFill>
                <a:latin typeface="Calibri"/>
              </a:rPr>
              <a:t>sauver, recompiler, puis ./</a:t>
            </a:r>
          </a:p>
        </p:txBody>
      </p:sp>
      <p:sp>
        <p:nvSpPr>
          <p:cNvPr id="15" name="TextBox 14"/>
          <p:cNvSpPr txBox="1"/>
          <p:nvPr/>
        </p:nvSpPr>
        <p:spPr>
          <a:xfrm>
            <a:off x="502920" y="4983480"/>
            <a:ext cx="11155680" cy="1188720"/>
          </a:xfrm>
          <a:prstGeom prst="rect">
            <a:avLst/>
          </a:prstGeom>
          <a:noFill/>
        </p:spPr>
        <p:txBody>
          <a:bodyPr wrap="square"/>
          <a:lstStyle/>
          <a:p>
            <a:pPr algn="l">
              <a:lnSpc>
                <a:spcPct val="105000"/>
              </a:lnSpc>
              <a:spcBef>
                <a:spcPts val="0"/>
              </a:spcBef>
              <a:spcAft>
                <a:spcPts val="400"/>
              </a:spcAft>
            </a:pPr>
            <a:r>
              <a:rPr lang="fr-FR" sz="2000" b="0" i="0">
                <a:solidFill>
                  <a:srgbClr val="0C384C"/>
                </a:solidFill>
                <a:latin typeface="Consolas"/>
              </a:rPr>
              <a:t>gcc -Wall -Wextra fibo.c -o fibo</a:t>
            </a:r>
          </a:p>
          <a:p>
            <a:pPr algn="l">
              <a:lnSpc>
                <a:spcPct val="105000"/>
              </a:lnSpc>
              <a:spcBef>
                <a:spcPts val="0"/>
              </a:spcBef>
              <a:spcAft>
                <a:spcPts val="400"/>
              </a:spcAft>
            </a:pPr>
            <a:r>
              <a:rPr lang="fr-FR" sz="2000" b="0" i="0">
                <a:solidFill>
                  <a:srgbClr val="0C384C"/>
                </a:solidFill>
                <a:latin typeface="Consolas"/>
              </a:rPr>
              <a:t>gcc -Wall -Wextra facto.c -o facto</a:t>
            </a:r>
          </a:p>
          <a:p>
            <a:pPr algn="l">
              <a:lnSpc>
                <a:spcPct val="105000"/>
              </a:lnSpc>
              <a:spcBef>
                <a:spcPts val="0"/>
              </a:spcBef>
              <a:spcAft>
                <a:spcPts val="0"/>
              </a:spcAft>
            </a:pPr>
            <a:r>
              <a:rPr lang="fr-FR" sz="2000" b="0" i="0">
                <a:solidFill>
                  <a:srgbClr val="0C384C"/>
                </a:solidFill>
                <a:latin typeface="Consolas"/>
              </a:rPr>
              <a:t>gcc -Wall -Wextra coeff.c -o coeff</a:t>
            </a:r>
          </a:p>
        </p:txBody>
      </p:sp>
      <p:sp>
        <p:nvSpPr>
          <p:cNvPr id="16" name="TextBox 15"/>
          <p:cNvSpPr txBox="1"/>
          <p:nvPr/>
        </p:nvSpPr>
        <p:spPr>
          <a:xfrm>
            <a:off x="10698480" y="6510528"/>
            <a:ext cx="1188720" cy="274320"/>
          </a:xfrm>
          <a:prstGeom prst="rect">
            <a:avLst/>
          </a:prstGeom>
          <a:noFill/>
        </p:spPr>
        <p:txBody>
          <a:bodyPr wrap="square"/>
          <a:lstStyle/>
          <a:p>
            <a:pPr algn="r">
              <a:lnSpc>
                <a:spcPct val="105000"/>
              </a:lnSpc>
              <a:spcBef>
                <a:spcPts val="0"/>
              </a:spcBef>
              <a:spcAft>
                <a:spcPts val="0"/>
              </a:spcAft>
            </a:pPr>
            <a:r>
              <a:rPr lang="fr-FR" sz="1200" b="0" i="0">
                <a:solidFill>
                  <a:srgbClr val="4E6470"/>
                </a:solidFill>
                <a:latin typeface="Calibri"/>
              </a:rPr>
              <a:t>27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3502</Words>
  <Application>Microsoft Office PowerPoint</Application>
  <PresentationFormat>Grand écran</PresentationFormat>
  <Paragraphs>394</Paragraphs>
  <Slides>27</Slides>
  <Notes>23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27</vt:i4>
      </vt:variant>
    </vt:vector>
  </HeadingPairs>
  <TitlesOfParts>
    <vt:vector size="32" baseType="lpstr">
      <vt:lpstr>Arial</vt:lpstr>
      <vt:lpstr>Calibri</vt:lpstr>
      <vt:lpstr>Cambria Math</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INFO2009 — TP3</dc:title>
  <dc:subject>Compiler avec MSYS2 UCRT64, Fibonacci, factorisation, coefficient binomial</dc:subject>
  <dc:creator>Legrand Arthur</dc:creator>
  <cp:keywords/>
  <dc:description>generated using python-pptx</dc:description>
  <cp:lastModifiedBy>Legrand Arthur</cp:lastModifiedBy>
  <cp:revision>5</cp:revision>
  <dcterms:created xsi:type="dcterms:W3CDTF">2013-01-27T09:14:16Z</dcterms:created>
  <dcterms:modified xsi:type="dcterms:W3CDTF">2026-10-13T15:20:26Z</dcterms:modified>
  <cp:category/>
</cp:coreProperties>
</file>